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64" r:id="rId5"/>
    <p:sldId id="303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17" r:id="rId15"/>
    <p:sldId id="326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6"/>
    <p:restoredTop sz="94709"/>
  </p:normalViewPr>
  <p:slideViewPr>
    <p:cSldViewPr>
      <p:cViewPr varScale="1">
        <p:scale>
          <a:sx n="36" d="100"/>
          <a:sy n="36" d="100"/>
        </p:scale>
        <p:origin x="120" y="109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2736850" y="1997075"/>
            <a:ext cx="147066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3: </a:t>
            </a:r>
            <a:r>
              <a:rPr lang="es-ES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Álgebra </a:t>
            </a:r>
            <a:endParaRPr lang="es-MX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5480050" y="930275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EXPRESIONES ALGEBRÁICAS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4F4EFB4-5A26-4D9B-AAFC-EA453C025AEA}"/>
              </a:ext>
            </a:extLst>
          </p:cNvPr>
          <p:cNvSpPr/>
          <p:nvPr/>
        </p:nvSpPr>
        <p:spPr>
          <a:xfrm>
            <a:off x="638908" y="2225675"/>
            <a:ext cx="839350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507846" rtl="0"/>
            <a:r>
              <a:rPr lang="es-MX" sz="2400" b="1" kern="1200" dirty="0" smtClean="0">
                <a:solidFill>
                  <a:prstClr val="black"/>
                </a:solidFill>
                <a:latin typeface="Georgia" panose="02040502050405020303" pitchFamily="18" charset="0"/>
                <a:ea typeface="+mn-ea"/>
                <a:cs typeface="+mn-cs"/>
              </a:rPr>
              <a:t>Expresiones algebraicas: </a:t>
            </a:r>
            <a:r>
              <a:rPr lang="es-MX" sz="2400" kern="1200" dirty="0" smtClean="0">
                <a:solidFill>
                  <a:prstClr val="black"/>
                </a:solidFill>
                <a:latin typeface="Georgia" panose="02040502050405020303" pitchFamily="18" charset="0"/>
                <a:ea typeface="+mn-ea"/>
                <a:cs typeface="+mn-cs"/>
              </a:rPr>
              <a:t>Un </a:t>
            </a:r>
            <a:r>
              <a:rPr lang="es-MX" sz="2400" kern="1200" dirty="0">
                <a:solidFill>
                  <a:prstClr val="black"/>
                </a:solidFill>
                <a:latin typeface="Georgia" panose="02040502050405020303" pitchFamily="18" charset="0"/>
                <a:ea typeface="+mn-ea"/>
                <a:cs typeface="+mn-cs"/>
              </a:rPr>
              <a:t>literal es una letra que puede representar cualquier número tomado de un conjunto de números dado. Si empezamos con literales, por ejemplo x, y </a:t>
            </a:r>
            <a:r>
              <a:rPr lang="es-MX" sz="2400" kern="1200" dirty="0" err="1">
                <a:solidFill>
                  <a:prstClr val="black"/>
                </a:solidFill>
                <a:latin typeface="Georgia" panose="02040502050405020303" pitchFamily="18" charset="0"/>
                <a:ea typeface="+mn-ea"/>
                <a:cs typeface="+mn-cs"/>
              </a:rPr>
              <a:t>y</a:t>
            </a:r>
            <a:r>
              <a:rPr lang="es-MX" sz="2400" kern="1200" dirty="0">
                <a:solidFill>
                  <a:prstClr val="black"/>
                </a:solidFill>
                <a:latin typeface="Georgia" panose="02040502050405020303" pitchFamily="18" charset="0"/>
                <a:ea typeface="+mn-ea"/>
                <a:cs typeface="+mn-cs"/>
              </a:rPr>
              <a:t> z, algunos números reales, y las combinamos usando suma, resta, multiplicación, división, potencias y raíces, obtenemos una expresión algebraica.</a:t>
            </a:r>
          </a:p>
          <a:p>
            <a:pPr algn="just" defTabSz="1507846" rtl="0"/>
            <a:r>
              <a:rPr lang="es-MX" sz="2400" kern="1200" dirty="0">
                <a:solidFill>
                  <a:prstClr val="black"/>
                </a:solidFill>
                <a:latin typeface="Georgia" panose="02040502050405020303" pitchFamily="18" charset="0"/>
                <a:ea typeface="+mn-ea"/>
                <a:cs typeface="+mn-cs"/>
              </a:rPr>
              <a:t>Son expresiones algebraicas:</a:t>
            </a:r>
            <a:endParaRPr lang="es-CO" sz="24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2203450" y="4971091"/>
                <a:ext cx="981614" cy="7629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7846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𝒛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450" y="4971091"/>
                <a:ext cx="981614" cy="7629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6623050" y="5239457"/>
                <a:ext cx="185736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7846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sSup>
                        <m:sSupPr>
                          <m:ctrlP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  <m:sup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  <m:r>
                        <a:rPr lang="es-MX" sz="24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MX" sz="24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lang="es-MX" sz="24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lang="es-MX" sz="24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s-MX" sz="24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𝟕</m:t>
                      </m:r>
                    </m:oMath>
                  </m:oMathPara>
                </a14:m>
                <a:endParaRPr lang="en-US" sz="2400" b="1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050" y="5239457"/>
                <a:ext cx="1857368" cy="377667"/>
              </a:xfrm>
              <a:prstGeom prst="rect">
                <a:avLst/>
              </a:prstGeom>
              <a:blipFill>
                <a:blip r:embed="rId3"/>
                <a:stretch>
                  <a:fillRect l="-3607" r="-3607" b="-967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3651250" y="5004906"/>
                <a:ext cx="2708049" cy="846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7846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s-MX" sz="2400" b="1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MX" sz="2400" b="1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MX" sz="2400" b="1" i="1" kern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num>
                            <m:den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𝟑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𝟖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US" sz="2400" b="1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50" y="5004906"/>
                <a:ext cx="2708049" cy="846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/>
              <p:cNvSpPr txBox="1"/>
              <p:nvPr/>
            </p:nvSpPr>
            <p:spPr>
              <a:xfrm>
                <a:off x="790711" y="4968783"/>
                <a:ext cx="1192506" cy="765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7846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MX" sz="24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ctrlPr>
                                <a:rPr lang="en-US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deg>
                            <m:e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𝟓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s-MX" sz="2400" b="1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b="1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Cuadro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11" y="4968783"/>
                <a:ext cx="1192506" cy="7652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645050" y="6569075"/>
                <a:ext cx="8578390" cy="3053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b="1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Un polinomio </a:t>
                </a: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en la variable </a:t>
                </a:r>
                <a:r>
                  <a:rPr lang="es-CO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x </a:t>
                </a: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es una expresión algebraica de la forma: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</m:sSup>
                      <m:r>
                        <a:rPr lang="es-CO" sz="2400" i="1" kern="12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lang="es-CO" sz="2400" i="1" kern="12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+⋯+</m:t>
                      </m:r>
                      <m:sSub>
                        <m:sSubPr>
                          <m:ctrlP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s-CO" sz="2400" i="1" kern="12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CO" sz="2400" i="1" kern="12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s-ES" sz="2400" b="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lang="es-CO" sz="2400" i="1" kern="1200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sz="2400" i="1" kern="1200" dirty="0" smtClean="0">
                  <a:solidFill>
                    <a:prstClr val="black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s-CO" sz="2400" i="1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​ </m:t>
                    </m:r>
                  </m:oMath>
                </a14:m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b="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es-CO" sz="2400" i="1" kern="12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es-ES" sz="2400" b="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s-CO" sz="2400" i="1" kern="12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lang="es-ES" sz="2400" b="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CO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​ </a:t>
                </a: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son números reales, y </a:t>
                </a:r>
                <a:r>
                  <a:rPr lang="es-CO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n </a:t>
                </a: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es un número entero no negativo.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b="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s-CO" sz="240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lang="es-CO" sz="2400" i="1" kern="12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≠0</m:t>
                    </m:r>
                  </m:oMath>
                </a14:m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, el grado del polinomio es </a:t>
                </a:r>
                <a:r>
                  <a:rPr lang="es-CO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n.</a:t>
                </a:r>
                <a:endParaRPr lang="es-CO" sz="2400" kern="1200" dirty="0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  <a:cs typeface="+mn-cs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Cada expresión del </a:t>
                </a:r>
                <a:r>
                  <a:rPr lang="es-CO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tipo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400" b="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s-ES" sz="240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b="0" i="1" kern="12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CO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 se </a:t>
                </a:r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  <a:ea typeface="+mn-ea"/>
                    <a:cs typeface="+mn-cs"/>
                  </a:rPr>
                  <a:t>llama un término del polinomio.</a:t>
                </a: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" y="6569075"/>
                <a:ext cx="8578390" cy="3053528"/>
              </a:xfrm>
              <a:prstGeom prst="rect">
                <a:avLst/>
              </a:prstGeom>
              <a:blipFill>
                <a:blip r:embed="rId6"/>
                <a:stretch>
                  <a:fillRect l="-1137" t="-1597" r="-1066" b="-359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6166" y="3825875"/>
            <a:ext cx="10027055" cy="47279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767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756" t="17694" r="3190" b="6867"/>
          <a:stretch/>
        </p:blipFill>
        <p:spPr>
          <a:xfrm>
            <a:off x="1082245" y="1997075"/>
            <a:ext cx="17692576" cy="39624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79" y="6676010"/>
            <a:ext cx="17958327" cy="27886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4413250" y="634209"/>
            <a:ext cx="1082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REDUCCIÓN DE TÉRMINOS SEMEJANTES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65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491" t="14062" r="3380" b="4688"/>
          <a:stretch/>
        </p:blipFill>
        <p:spPr>
          <a:xfrm>
            <a:off x="2051050" y="1997075"/>
            <a:ext cx="16177846" cy="52578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0" y="7514210"/>
            <a:ext cx="17205228" cy="294106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4413250" y="634209"/>
            <a:ext cx="1082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REDUCCIÓN DE TÉRMINOS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49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555" r="2913" b="6666"/>
          <a:stretch/>
        </p:blipFill>
        <p:spPr>
          <a:xfrm>
            <a:off x="1822450" y="2149475"/>
            <a:ext cx="16647886" cy="47244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50" y="7331075"/>
            <a:ext cx="14782800" cy="242259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4413250" y="634209"/>
            <a:ext cx="1082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MULTIPLICACIÓN DE MONOMIOS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43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968" t="10065" r="4841" b="4177"/>
          <a:stretch/>
        </p:blipFill>
        <p:spPr>
          <a:xfrm>
            <a:off x="3516167" y="1675186"/>
            <a:ext cx="13104557" cy="55442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7513170"/>
            <a:ext cx="16501752" cy="222287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516167" y="701675"/>
            <a:ext cx="1226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MULTIPLICACIÓN DE MONOMIO POR POLINOMIO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9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483" t="6992" r="2116" b="6307"/>
          <a:stretch/>
        </p:blipFill>
        <p:spPr>
          <a:xfrm>
            <a:off x="3725717" y="1920875"/>
            <a:ext cx="12058650" cy="575104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0" y="8244792"/>
            <a:ext cx="15011400" cy="172884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516167" y="701675"/>
            <a:ext cx="1226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MULTIPLICACIÓN DE POLINOMIOS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2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27450" y="1348006"/>
            <a:ext cx="12056917" cy="59112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516167" y="701675"/>
            <a:ext cx="1226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PRODUCTOS NOTABLES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0" y="7876641"/>
            <a:ext cx="15780836" cy="235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3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74850" y="2225675"/>
            <a:ext cx="16638165" cy="3048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50" y="6035675"/>
            <a:ext cx="14358844" cy="211632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516167" y="701675"/>
            <a:ext cx="1226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PRODUCTOS NOTABLES: CUADRADO DE UN BINOMIO 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05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27250" y="2530475"/>
            <a:ext cx="16361544" cy="28956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865" y="6645275"/>
            <a:ext cx="16352709" cy="2514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8C7C993-E3B8-4312-970A-52162783CD2B}"/>
              </a:ext>
            </a:extLst>
          </p:cNvPr>
          <p:cNvSpPr/>
          <p:nvPr/>
        </p:nvSpPr>
        <p:spPr>
          <a:xfrm>
            <a:off x="3516167" y="701675"/>
            <a:ext cx="1226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PRODUCTOS NOTABLES: CUBO DE UN BINOMIO </a:t>
            </a:r>
            <a:endParaRPr lang="es-CO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11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495468" y="717827"/>
            <a:ext cx="67633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sz="40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ACTIVIDAD DE PRACTICA 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43" y="2467465"/>
            <a:ext cx="6624972" cy="43102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658243" y="1920875"/>
            <a:ext cx="62199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800" b="1" kern="1200" dirty="0" smtClean="0">
                <a:solidFill>
                  <a:prstClr val="black"/>
                </a:solidFill>
                <a:latin typeface="Georgia" panose="02040502050405020303" pitchFamily="18" charset="0"/>
              </a:rPr>
              <a:t>Ejemplo: </a:t>
            </a:r>
            <a:r>
              <a:rPr lang="es-CO" sz="1800" dirty="0"/>
              <a:t>Encuentre la suma, diferencia o producto.</a:t>
            </a:r>
            <a:endParaRPr lang="es-419" sz="28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450" y="2438734"/>
            <a:ext cx="7010400" cy="402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52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90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Props1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27D51-DC68-401A-A781-7AE13751AD8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a808648-60b0-4918-966f-b210d93cfb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</TotalTime>
  <Words>297</Words>
  <Application>Microsoft Office PowerPoint</Application>
  <PresentationFormat>Personalizado</PresentationFormat>
  <Paragraphs>26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Georgia</vt:lpstr>
      <vt:lpstr>Roboto</vt:lpstr>
      <vt:lpstr>Rockwell Extra Bold</vt:lpstr>
      <vt:lpstr>Sitka Text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78</cp:revision>
  <dcterms:created xsi:type="dcterms:W3CDTF">2024-11-07T16:52:39Z</dcterms:created>
  <dcterms:modified xsi:type="dcterms:W3CDTF">2025-07-09T20:36:14Z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
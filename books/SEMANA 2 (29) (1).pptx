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294" r:id="rId4"/>
    <p:sldId id="303" r:id="rId5"/>
    <p:sldId id="305" r:id="rId6"/>
    <p:sldId id="304" r:id="rId7"/>
    <p:sldId id="306" r:id="rId8"/>
    <p:sldId id="307" r:id="rId9"/>
    <p:sldId id="299" r:id="rId10"/>
    <p:sldId id="308" r:id="rId11"/>
    <p:sldId id="310" r:id="rId12"/>
    <p:sldId id="311" r:id="rId13"/>
    <p:sldId id="312" r:id="rId14"/>
    <p:sldId id="309" r:id="rId15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6"/>
    <p:restoredTop sz="94709"/>
  </p:normalViewPr>
  <p:slideViewPr>
    <p:cSldViewPr>
      <p:cViewPr varScale="1">
        <p:scale>
          <a:sx n="36" d="100"/>
          <a:sy n="36" d="100"/>
        </p:scale>
        <p:origin x="120" y="109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ustomXml" Target="../customXml/item3.xml"/><Relationship Id="rId20" Type="http://schemas.openxmlformats.org/officeDocument/2006/relationships/customXml" Target="../customXml/item2.xml"/><Relationship Id="rId2" Type="http://schemas.openxmlformats.org/officeDocument/2006/relationships/theme" Target="theme/theme1.xml"/><Relationship Id="rId19" Type="http://schemas.openxmlformats.org/officeDocument/2006/relationships/customXml" Target="../customXml/item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86650" cy="11354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/>
          <p:nvPr/>
        </p:nvSpPr>
        <p:spPr>
          <a:xfrm>
            <a:off x="7080850" y="5"/>
            <a:ext cx="13023850" cy="2725420"/>
          </a:xfrm>
          <a:custGeom>
            <a:avLst/>
            <a:gdLst/>
            <a:ahLst/>
            <a:cxnLst/>
            <a:rect l="l" t="t" r="r" b="b"/>
            <a:pathLst>
              <a:path w="13023850" h="2725420">
                <a:moveTo>
                  <a:pt x="13023247" y="0"/>
                </a:moveTo>
                <a:lnTo>
                  <a:pt x="0" y="0"/>
                </a:lnTo>
                <a:lnTo>
                  <a:pt x="0" y="2725047"/>
                </a:lnTo>
                <a:lnTo>
                  <a:pt x="11804666" y="2725047"/>
                </a:lnTo>
                <a:lnTo>
                  <a:pt x="11852516" y="2724125"/>
                </a:lnTo>
                <a:lnTo>
                  <a:pt x="11899898" y="2721381"/>
                </a:lnTo>
                <a:lnTo>
                  <a:pt x="11946779" y="2716849"/>
                </a:lnTo>
                <a:lnTo>
                  <a:pt x="11993125" y="2710563"/>
                </a:lnTo>
                <a:lnTo>
                  <a:pt x="12038902" y="2702557"/>
                </a:lnTo>
                <a:lnTo>
                  <a:pt x="12084076" y="2692864"/>
                </a:lnTo>
                <a:lnTo>
                  <a:pt x="12128614" y="2681519"/>
                </a:lnTo>
                <a:lnTo>
                  <a:pt x="12172481" y="2668555"/>
                </a:lnTo>
                <a:lnTo>
                  <a:pt x="12215644" y="2654006"/>
                </a:lnTo>
                <a:lnTo>
                  <a:pt x="12258069" y="2637906"/>
                </a:lnTo>
                <a:lnTo>
                  <a:pt x="12299721" y="2620290"/>
                </a:lnTo>
                <a:lnTo>
                  <a:pt x="12340568" y="2601190"/>
                </a:lnTo>
                <a:lnTo>
                  <a:pt x="12380575" y="2580641"/>
                </a:lnTo>
                <a:lnTo>
                  <a:pt x="12419708" y="2558676"/>
                </a:lnTo>
                <a:lnTo>
                  <a:pt x="12457934" y="2535330"/>
                </a:lnTo>
                <a:lnTo>
                  <a:pt x="12495218" y="2510636"/>
                </a:lnTo>
                <a:lnTo>
                  <a:pt x="12531527" y="2484628"/>
                </a:lnTo>
                <a:lnTo>
                  <a:pt x="12566827" y="2457340"/>
                </a:lnTo>
                <a:lnTo>
                  <a:pt x="12601084" y="2428805"/>
                </a:lnTo>
                <a:lnTo>
                  <a:pt x="12634264" y="2399059"/>
                </a:lnTo>
                <a:lnTo>
                  <a:pt x="12666334" y="2368134"/>
                </a:lnTo>
                <a:lnTo>
                  <a:pt x="12697259" y="2336065"/>
                </a:lnTo>
                <a:lnTo>
                  <a:pt x="12727005" y="2302885"/>
                </a:lnTo>
                <a:lnTo>
                  <a:pt x="12755539" y="2268628"/>
                </a:lnTo>
                <a:lnTo>
                  <a:pt x="12782827" y="2233328"/>
                </a:lnTo>
                <a:lnTo>
                  <a:pt x="12808835" y="2197019"/>
                </a:lnTo>
                <a:lnTo>
                  <a:pt x="12833529" y="2159734"/>
                </a:lnTo>
                <a:lnTo>
                  <a:pt x="12856875" y="2121509"/>
                </a:lnTo>
                <a:lnTo>
                  <a:pt x="12878840" y="2082375"/>
                </a:lnTo>
                <a:lnTo>
                  <a:pt x="12899389" y="2042369"/>
                </a:lnTo>
                <a:lnTo>
                  <a:pt x="12918489" y="2001522"/>
                </a:lnTo>
                <a:lnTo>
                  <a:pt x="12936106" y="1959869"/>
                </a:lnTo>
                <a:lnTo>
                  <a:pt x="12952206" y="1917445"/>
                </a:lnTo>
                <a:lnTo>
                  <a:pt x="12966754" y="1874282"/>
                </a:lnTo>
                <a:lnTo>
                  <a:pt x="12979718" y="1830414"/>
                </a:lnTo>
                <a:lnTo>
                  <a:pt x="12991063" y="1785877"/>
                </a:lnTo>
                <a:lnTo>
                  <a:pt x="13000756" y="1740702"/>
                </a:lnTo>
                <a:lnTo>
                  <a:pt x="13008763" y="1694925"/>
                </a:lnTo>
                <a:lnTo>
                  <a:pt x="13015049" y="1648579"/>
                </a:lnTo>
                <a:lnTo>
                  <a:pt x="13019581" y="1601698"/>
                </a:lnTo>
                <a:lnTo>
                  <a:pt x="13022325" y="1554316"/>
                </a:lnTo>
                <a:lnTo>
                  <a:pt x="13023247" y="1506467"/>
                </a:lnTo>
                <a:lnTo>
                  <a:pt x="13023247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612" y="1158875"/>
            <a:ext cx="10218978" cy="962400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4951" y="0"/>
            <a:ext cx="14209394" cy="11308715"/>
          </a:xfrm>
          <a:custGeom>
            <a:avLst/>
            <a:gdLst/>
            <a:ahLst/>
            <a:cxnLst/>
            <a:rect l="l" t="t" r="r" b="b"/>
            <a:pathLst>
              <a:path w="14209394" h="11308715">
                <a:moveTo>
                  <a:pt x="14209148" y="0"/>
                </a:moveTo>
                <a:lnTo>
                  <a:pt x="0" y="0"/>
                </a:lnTo>
                <a:lnTo>
                  <a:pt x="0" y="11308556"/>
                </a:lnTo>
                <a:lnTo>
                  <a:pt x="14209148" y="11308556"/>
                </a:lnTo>
                <a:lnTo>
                  <a:pt x="14209148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308715" cy="11308715"/>
          </a:xfrm>
          <a:custGeom>
            <a:avLst/>
            <a:gdLst/>
            <a:ahLst/>
            <a:cxnLst/>
            <a:rect l="l" t="t" r="r" b="b"/>
            <a:pathLst>
              <a:path w="11308715" h="11308715">
                <a:moveTo>
                  <a:pt x="11308556" y="0"/>
                </a:moveTo>
                <a:lnTo>
                  <a:pt x="0" y="0"/>
                </a:lnTo>
                <a:lnTo>
                  <a:pt x="0" y="11308556"/>
                </a:lnTo>
                <a:lnTo>
                  <a:pt x="11308556" y="11308556"/>
                </a:lnTo>
                <a:lnTo>
                  <a:pt x="1130855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AD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3"/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D3C5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1EB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3"/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2" y="0"/>
            <a:ext cx="20104100" cy="1831975"/>
          </a:xfrm>
          <a:custGeom>
            <a:avLst/>
            <a:gdLst/>
            <a:ahLst/>
            <a:cxnLst/>
            <a:rect l="l" t="t" r="r" b="b"/>
            <a:pathLst>
              <a:path w="20104100" h="1831975">
                <a:moveTo>
                  <a:pt x="20104099" y="0"/>
                </a:moveTo>
                <a:lnTo>
                  <a:pt x="0" y="0"/>
                </a:lnTo>
                <a:lnTo>
                  <a:pt x="0" y="1831755"/>
                </a:lnTo>
                <a:lnTo>
                  <a:pt x="18885519" y="1831755"/>
                </a:lnTo>
                <a:lnTo>
                  <a:pt x="18933368" y="1830833"/>
                </a:lnTo>
                <a:lnTo>
                  <a:pt x="18980750" y="1828089"/>
                </a:lnTo>
                <a:lnTo>
                  <a:pt x="19027631" y="1823557"/>
                </a:lnTo>
                <a:lnTo>
                  <a:pt x="19073977" y="1817271"/>
                </a:lnTo>
                <a:lnTo>
                  <a:pt x="19119754" y="1809265"/>
                </a:lnTo>
                <a:lnTo>
                  <a:pt x="19164929" y="1799572"/>
                </a:lnTo>
                <a:lnTo>
                  <a:pt x="19209466" y="1788227"/>
                </a:lnTo>
                <a:lnTo>
                  <a:pt x="19253334" y="1775263"/>
                </a:lnTo>
                <a:lnTo>
                  <a:pt x="19296497" y="1760714"/>
                </a:lnTo>
                <a:lnTo>
                  <a:pt x="19338921" y="1744614"/>
                </a:lnTo>
                <a:lnTo>
                  <a:pt x="19380574" y="1726998"/>
                </a:lnTo>
                <a:lnTo>
                  <a:pt x="19421421" y="1707898"/>
                </a:lnTo>
                <a:lnTo>
                  <a:pt x="19461427" y="1687348"/>
                </a:lnTo>
                <a:lnTo>
                  <a:pt x="19500561" y="1665384"/>
                </a:lnTo>
                <a:lnTo>
                  <a:pt x="19538786" y="1642037"/>
                </a:lnTo>
                <a:lnTo>
                  <a:pt x="19576071" y="1617343"/>
                </a:lnTo>
                <a:lnTo>
                  <a:pt x="19612380" y="1591335"/>
                </a:lnTo>
                <a:lnTo>
                  <a:pt x="19647680" y="1564047"/>
                </a:lnTo>
                <a:lnTo>
                  <a:pt x="19681937" y="1535513"/>
                </a:lnTo>
                <a:lnTo>
                  <a:pt x="19715117" y="1505767"/>
                </a:lnTo>
                <a:lnTo>
                  <a:pt x="19747186" y="1474842"/>
                </a:lnTo>
                <a:lnTo>
                  <a:pt x="19778111" y="1442773"/>
                </a:lnTo>
                <a:lnTo>
                  <a:pt x="19807857" y="1409592"/>
                </a:lnTo>
                <a:lnTo>
                  <a:pt x="19836392" y="1375336"/>
                </a:lnTo>
                <a:lnTo>
                  <a:pt x="19863680" y="1340036"/>
                </a:lnTo>
                <a:lnTo>
                  <a:pt x="19889688" y="1303727"/>
                </a:lnTo>
                <a:lnTo>
                  <a:pt x="19914382" y="1266442"/>
                </a:lnTo>
                <a:lnTo>
                  <a:pt x="19937728" y="1228217"/>
                </a:lnTo>
                <a:lnTo>
                  <a:pt x="19959693" y="1189083"/>
                </a:lnTo>
                <a:lnTo>
                  <a:pt x="19980242" y="1149076"/>
                </a:lnTo>
                <a:lnTo>
                  <a:pt x="19999342" y="1108230"/>
                </a:lnTo>
                <a:lnTo>
                  <a:pt x="20016958" y="1066577"/>
                </a:lnTo>
                <a:lnTo>
                  <a:pt x="20033058" y="1024152"/>
                </a:lnTo>
                <a:lnTo>
                  <a:pt x="20047607" y="980990"/>
                </a:lnTo>
                <a:lnTo>
                  <a:pt x="20060571" y="937122"/>
                </a:lnTo>
                <a:lnTo>
                  <a:pt x="20071916" y="892585"/>
                </a:lnTo>
                <a:lnTo>
                  <a:pt x="20081609" y="847410"/>
                </a:lnTo>
                <a:lnTo>
                  <a:pt x="20089615" y="801633"/>
                </a:lnTo>
                <a:lnTo>
                  <a:pt x="20095901" y="755287"/>
                </a:lnTo>
                <a:lnTo>
                  <a:pt x="20100433" y="708406"/>
                </a:lnTo>
                <a:lnTo>
                  <a:pt x="20103177" y="661024"/>
                </a:lnTo>
                <a:lnTo>
                  <a:pt x="20104099" y="613175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"/>
            <a:ext cx="20347521" cy="1144547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8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194050" y="2835275"/>
            <a:ext cx="14706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Matemáticas Fundamentales</a:t>
            </a:r>
            <a:endParaRPr lang="es-CO" sz="6000" b="1" dirty="0" smtClean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endParaRPr lang="es-CO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endParaRPr lang="es-CO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r>
              <a:rPr lang="es-CO" sz="6000" b="1" dirty="0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Semana 2: Ecuaciones, desigualdades y valor absoluto</a:t>
            </a:r>
            <a:endParaRPr lang="es-MX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endParaRPr lang="es-MX" sz="3600" b="1" dirty="0">
              <a:solidFill>
                <a:srgbClr val="FF0000"/>
              </a:solidFill>
              <a:latin typeface="Sitka Text" panose="02000505000000020004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365250" y="1158875"/>
            <a:ext cx="67480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ECUACIONES</a:t>
            </a:r>
            <a:endParaRPr lang="es-CO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747797" y="1866761"/>
            <a:ext cx="79829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3600" dirty="0">
                <a:latin typeface="Georgia" panose="02040502050405020303" pitchFamily="18" charset="0"/>
              </a:rPr>
              <a:t>Una </a:t>
            </a:r>
            <a:r>
              <a:rPr lang="es-MX" sz="3600" b="1" dirty="0">
                <a:latin typeface="Georgia" panose="02040502050405020303" pitchFamily="18" charset="0"/>
              </a:rPr>
              <a:t>ecuación</a:t>
            </a:r>
            <a:r>
              <a:rPr lang="es-MX" sz="3600" dirty="0">
                <a:latin typeface="Georgia" panose="02040502050405020303" pitchFamily="18" charset="0"/>
              </a:rPr>
              <a:t> es una afirmación de que dos expresiones algebraicas son iguales. </a:t>
            </a:r>
            <a:endParaRPr lang="es-MX" sz="3600" dirty="0">
              <a:latin typeface="Georgia" panose="02040502050405020303" pitchFamily="18" charset="0"/>
            </a:endParaRPr>
          </a:p>
          <a:p>
            <a:pPr algn="just"/>
            <a:r>
              <a:rPr lang="es-MX" sz="3600" dirty="0" smtClean="0">
                <a:latin typeface="Georgia" panose="02040502050405020303" pitchFamily="18" charset="0"/>
              </a:rPr>
              <a:t>Cuando </a:t>
            </a:r>
            <a:r>
              <a:rPr lang="es-MX" sz="3600" dirty="0">
                <a:latin typeface="Georgia" panose="02040502050405020303" pitchFamily="18" charset="0"/>
              </a:rPr>
              <a:t>se igualan entre sí dos expresiones algebraicas, y al menos una de ellas contiene una variable, entonces la proposición matemática es una </a:t>
            </a:r>
            <a:r>
              <a:rPr lang="es-MX" sz="3600" b="1" dirty="0">
                <a:latin typeface="Georgia" panose="02040502050405020303" pitchFamily="18" charset="0"/>
              </a:rPr>
              <a:t>ecuación en una </a:t>
            </a:r>
            <a:r>
              <a:rPr lang="es-MX" sz="3600" b="1" dirty="0" smtClean="0">
                <a:latin typeface="Georgia" panose="02040502050405020303" pitchFamily="18" charset="0"/>
              </a:rPr>
              <a:t>variable</a:t>
            </a:r>
            <a:endParaRPr lang="es-MX" sz="3600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ángulo 7"/>
              <p:cNvSpPr/>
              <p:nvPr/>
            </p:nvSpPr>
            <p:spPr>
              <a:xfrm>
                <a:off x="-311150" y="6417727"/>
                <a:ext cx="6096000" cy="10257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3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MX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3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sz="32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MX" sz="3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sz="3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MX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32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3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MX" sz="3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3200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sz="3200" i="1" dirty="0">
                          <a:latin typeface="Cambria Math" panose="02040503050406030204" pitchFamily="18" charset="0"/>
                        </a:rPr>
                        <m:t>  ,   </m:t>
                      </m:r>
                    </m:oMath>
                  </m:oMathPara>
                </a14:m>
                <a:endParaRPr lang="es-ES" sz="32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1150" y="6417727"/>
                <a:ext cx="6096000" cy="1025730"/>
              </a:xfrm>
              <a:prstGeom prst="rect">
                <a:avLst/>
              </a:prstGeom>
              <a:blipFill rotWithShape="1">
                <a:blip r:embed="rId1"/>
                <a:stretch>
                  <a:fillRect t="-41" b="6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ángulo 8"/>
              <p:cNvSpPr/>
              <p:nvPr/>
            </p:nvSpPr>
            <p:spPr>
              <a:xfrm>
                <a:off x="3876988" y="6581623"/>
                <a:ext cx="6096000" cy="64286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3200" i="1" dirty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s-MX" sz="3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MX" sz="3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32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32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s-MX" sz="3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32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MX" sz="3200" i="1" dirty="0">
                          <a:latin typeface="Cambria Math" panose="02040503050406030204" pitchFamily="18" charset="0"/>
                        </a:rPr>
                        <m:t> ,          </m:t>
                      </m:r>
                    </m:oMath>
                  </m:oMathPara>
                </a14:m>
                <a:endParaRPr lang="es-ES" sz="32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988" y="6581623"/>
                <a:ext cx="6096000" cy="642868"/>
              </a:xfrm>
              <a:prstGeom prst="rect">
                <a:avLst/>
              </a:prstGeom>
              <a:blipFill rotWithShape="1">
                <a:blip r:embed="rId2"/>
                <a:stretch>
                  <a:fillRect l="-5" t="-75" r="5" b="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 11"/>
          <p:cNvSpPr/>
          <p:nvPr/>
        </p:nvSpPr>
        <p:spPr>
          <a:xfrm>
            <a:off x="9366250" y="1887112"/>
            <a:ext cx="1005205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defTabSz="1508125" rtl="0"/>
            <a:r>
              <a:rPr lang="es-CO" sz="3600" dirty="0">
                <a:latin typeface="Georgia" panose="02040502050405020303" pitchFamily="18" charset="0"/>
              </a:rPr>
              <a:t>Resolver una </a:t>
            </a:r>
            <a:r>
              <a:rPr lang="es-CO" sz="3600" b="1" dirty="0">
                <a:latin typeface="Georgia" panose="02040502050405020303" pitchFamily="18" charset="0"/>
              </a:rPr>
              <a:t>desigualdad</a:t>
            </a:r>
            <a:r>
              <a:rPr lang="es-CO" sz="3600" dirty="0">
                <a:latin typeface="Georgia" panose="02040502050405020303" pitchFamily="18" charset="0"/>
              </a:rPr>
              <a:t> que contenga una variable significa hallar todos los valores de la variable que hagan verdadera la desigualdad. A diferencia de una ecuación, una desigualdad por lo general tiene un infinito de soluciones, que forma un intervalo o una unión de intervalos en la recta real. La siguiente ilustración muestra el modo en que una desigualdad difiere de su ecuación correspondiente:</a:t>
            </a:r>
            <a:endParaRPr lang="es-MX" sz="3600" dirty="0">
              <a:latin typeface="Georgia" panose="02040502050405020303" pitchFamily="18" charset="0"/>
            </a:endParaRPr>
          </a:p>
        </p:txBody>
      </p:sp>
      <p:sp>
        <p:nvSpPr>
          <p:cNvPr id="13" name="Título 3"/>
          <p:cNvSpPr txBox="1"/>
          <p:nvPr/>
        </p:nvSpPr>
        <p:spPr>
          <a:xfrm>
            <a:off x="8126938" y="1051736"/>
            <a:ext cx="1167447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DESIGUALDADES</a:t>
            </a:r>
            <a:endParaRPr lang="es-CO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/>
              <p:cNvSpPr txBox="1"/>
              <p:nvPr/>
            </p:nvSpPr>
            <p:spPr>
              <a:xfrm>
                <a:off x="9747250" y="7011031"/>
                <a:ext cx="1880002" cy="864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s-ES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s-ES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≤</m:t>
                      </m:r>
                      <m:f>
                        <m:fPr>
                          <m:ctrlPr>
                            <a:rPr lang="es-ES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lang="es-ES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num>
                        <m:den>
                          <m:r>
                            <a:rPr lang="es-ES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CO" sz="297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4" name="Cuadro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250" y="7011031"/>
                <a:ext cx="1880002" cy="864852"/>
              </a:xfrm>
              <a:prstGeom prst="rect">
                <a:avLst/>
              </a:prstGeom>
              <a:blipFill rotWithShape="1">
                <a:blip r:embed="rId3"/>
                <a:stretch>
                  <a:fillRect t="-73" r="-1667" b="7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/>
              <p:cNvSpPr txBox="1"/>
              <p:nvPr/>
            </p:nvSpPr>
            <p:spPr>
              <a:xfrm>
                <a:off x="15589652" y="7090052"/>
                <a:ext cx="2941959" cy="456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97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</m:t>
                      </m:r>
                      <m:sSup>
                        <m:sSupPr>
                          <m:ctrlPr>
                            <a:rPr lang="es-ES" sz="297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s-ES" sz="297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7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8</m:t>
                      </m:r>
                    </m:oMath>
                  </m:oMathPara>
                </a14:m>
                <a:endParaRPr lang="en-US" sz="297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5" name="CuadroTex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9652" y="7090052"/>
                <a:ext cx="2941959" cy="456728"/>
              </a:xfrm>
              <a:prstGeom prst="rect">
                <a:avLst/>
              </a:prstGeom>
              <a:blipFill rotWithShape="1">
                <a:blip r:embed="rId4"/>
                <a:stretch>
                  <a:fillRect l="-14" t="-61" r="-569" b="-337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879" y="8245475"/>
            <a:ext cx="9660741" cy="1979274"/>
          </a:xfrm>
          <a:prstGeom prst="rect">
            <a:avLst/>
          </a:prstGeom>
          <a:ln w="635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165850" y="92075"/>
            <a:ext cx="67480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40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EJEMPLO </a:t>
            </a:r>
            <a:endParaRPr lang="es-CO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ángulo 3"/>
              <p:cNvSpPr/>
              <p:nvPr/>
            </p:nvSpPr>
            <p:spPr>
              <a:xfrm>
                <a:off x="679450" y="1902623"/>
                <a:ext cx="80772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CO" sz="2400" dirty="0" smtClean="0">
                    <a:latin typeface="Georgia" panose="02040502050405020303" pitchFamily="18" charset="0"/>
                  </a:rPr>
                  <a:t>El número </a:t>
                </a:r>
                <a14:m>
                  <m:oMath xmlns:m="http://schemas.openxmlformats.org/officeDocument/2006/math">
                    <m:r>
                      <a:rPr lang="es-CO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CO" sz="2400" dirty="0">
                    <a:latin typeface="Georgia" panose="02040502050405020303" pitchFamily="18" charset="0"/>
                  </a:rPr>
                  <a:t>  es una solución de  </a:t>
                </a:r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s-CO" sz="2400" dirty="0">
                    <a:latin typeface="Georgia" panose="02040502050405020303" pitchFamily="18" charset="0"/>
                  </a:rPr>
                  <a:t> porque cuando se sustituye en la ecuación obtenemos la proposición verdadera:</a:t>
                </a:r>
                <a:endParaRPr lang="es-CO" sz="2400" dirty="0">
                  <a:latin typeface="Georgia" panose="02040502050405020303" pitchFamily="18" charset="0"/>
                </a:endParaRPr>
              </a:p>
              <a:p>
                <a:pPr algn="ctr"/>
                <a:endParaRPr lang="es-MX" sz="2400" b="0" i="1" dirty="0">
                  <a:latin typeface="Georgia" panose="02040502050405020303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s-MX" sz="2400" b="0" dirty="0">
                  <a:latin typeface="Georgia" panose="02040502050405020303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s-MX" sz="2400" b="0" dirty="0">
                  <a:latin typeface="Georgia" panose="02040502050405020303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s-CO" sz="2400" dirty="0">
                    <a:latin typeface="Georgia" panose="02040502050405020303" pitchFamily="18" charset="0"/>
                  </a:rPr>
                  <a:t> </a:t>
                </a:r>
                <a:endParaRPr lang="es-CO" sz="2400" dirty="0"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50" y="1902623"/>
                <a:ext cx="8077200" cy="2677656"/>
              </a:xfrm>
              <a:prstGeom prst="rect">
                <a:avLst/>
              </a:prstGeom>
              <a:blipFill rotWithShape="1">
                <a:blip r:embed="rId1"/>
                <a:stretch>
                  <a:fillRect t="-6" b="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/>
          <p:cNvSpPr/>
          <p:nvPr/>
        </p:nvSpPr>
        <p:spPr>
          <a:xfrm>
            <a:off x="454493" y="4653961"/>
            <a:ext cx="8305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2400" dirty="0" smtClean="0">
                <a:latin typeface="Georgia" panose="02040502050405020303" pitchFamily="18" charset="0"/>
              </a:rPr>
              <a:t>Dos ecuaciones son </a:t>
            </a:r>
            <a:r>
              <a:rPr lang="es-CO" sz="2400" b="1" dirty="0" smtClean="0">
                <a:latin typeface="Georgia" panose="02040502050405020303" pitchFamily="18" charset="0"/>
              </a:rPr>
              <a:t>equivalentes </a:t>
            </a:r>
            <a:r>
              <a:rPr lang="es-CO" sz="2400" dirty="0" smtClean="0">
                <a:latin typeface="Georgia" panose="02040502050405020303" pitchFamily="18" charset="0"/>
              </a:rPr>
              <a:t>si tienen las mismas soluciones. Para resolver una ecuación, hallamos una ecuación equivalente más sencilla que tenga soluciones que se determinan fácilmente. </a:t>
            </a:r>
            <a:endParaRPr lang="es-CO" sz="2400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/>
              <p:cNvGraphicFramePr>
                <a:graphicFrameLocks noGrp="1"/>
              </p:cNvGraphicFramePr>
              <p:nvPr/>
            </p:nvGraphicFramePr>
            <p:xfrm>
              <a:off x="918662" y="6721475"/>
              <a:ext cx="7598776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99388"/>
                    <a:gridCol w="3799388"/>
                  </a:tblGrid>
                  <a:tr h="448024"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s-MX" sz="2000" dirty="0">
                              <a:latin typeface="Georgia" panose="02040502050405020303" pitchFamily="18" charset="0"/>
                            </a:rPr>
                            <a:t>PROPIEDADES DE LAS IGUALDADES </a:t>
                          </a:r>
                          <a:endParaRPr lang="es-CO" sz="2000" dirty="0">
                            <a:latin typeface="Georgia" panose="02040502050405020303" pitchFamily="18" charset="0"/>
                          </a:endParaRPr>
                        </a:p>
                      </a:txBody>
                      <a:tcPr anchor="b"/>
                    </a:tc>
                    <a:tc hMerge="1">
                      <a:tcPr/>
                    </a:tc>
                  </a:tr>
                  <a:tr h="466376">
                    <a:tc>
                      <a:txBody>
                        <a:bodyPr/>
                        <a:lstStyle/>
                        <a:p>
                          <a:r>
                            <a:rPr lang="es-MX" sz="2000" b="1" dirty="0">
                              <a:latin typeface="Georgia" panose="02040502050405020303" pitchFamily="18" charset="0"/>
                            </a:rPr>
                            <a:t>Propiedad</a:t>
                          </a:r>
                          <a:endParaRPr lang="es-CO" sz="2000" b="1" dirty="0">
                            <a:latin typeface="Georgia" panose="020405020504050203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b="1" dirty="0">
                              <a:latin typeface="Georgia" panose="02040502050405020303" pitchFamily="18" charset="0"/>
                            </a:rPr>
                            <a:t>Descripción</a:t>
                          </a:r>
                          <a:endParaRPr lang="es-CO" sz="2000" b="1" dirty="0">
                            <a:latin typeface="Georgia" panose="02040502050405020303" pitchFamily="18" charset="0"/>
                          </a:endParaRPr>
                        </a:p>
                      </a:txBody>
                      <a:tcPr/>
                    </a:tc>
                  </a:tr>
                  <a:tr h="152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MX" sz="2000" dirty="0">
                              <a:latin typeface="Georgia" panose="02040502050405020303" pitchFamily="18" charset="0"/>
                            </a:rPr>
                            <a:t>1. 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⇔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endParaRPr lang="es-CO" sz="20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Georgia" panose="02040502050405020303" pitchFamily="18" charset="0"/>
                            </a:rPr>
                            <a:t>Sumar la misma cantidad a ambos lados de una ecuación de una ecuación equivalente.</a:t>
                          </a:r>
                          <a:endParaRPr lang="es-CO" sz="20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</a:tr>
                  <a:tr h="1905000"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Georgia" panose="02040502050405020303" pitchFamily="18" charset="0"/>
                            </a:rPr>
                            <a:t>2. 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⇔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𝐶𝐴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𝐶𝐵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    (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MX" sz="200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CO" sz="20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Georgia" panose="02040502050405020303" pitchFamily="18" charset="0"/>
                            </a:rPr>
                            <a:t>Multiplicar ambos lados de una ecuación por la misma cantidad diferente de cero da una ecuación equivalente.</a:t>
                          </a:r>
                          <a:endParaRPr lang="es-CO" sz="20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/>
              <p:cNvGraphicFramePr>
                <a:graphicFrameLocks noGrp="1"/>
              </p:cNvGraphicFramePr>
              <p:nvPr/>
            </p:nvGraphicFramePr>
            <p:xfrm>
              <a:off x="918662" y="6721475"/>
              <a:ext cx="7598776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799388"/>
                    <a:gridCol w="3799388"/>
                  </a:tblGrid>
                  <a:tr h="448024"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s-MX" sz="2000" dirty="0">
                              <a:latin typeface="Georgia" panose="02040502050405020303" pitchFamily="18" charset="0"/>
                            </a:rPr>
                            <a:t>PROPIEDADES DE LAS IGUALDADES </a:t>
                          </a:r>
                          <a:endParaRPr lang="es-CO" sz="2000" dirty="0">
                            <a:latin typeface="Georgia" panose="02040502050405020303" pitchFamily="18" charset="0"/>
                          </a:endParaRPr>
                        </a:p>
                      </a:txBody>
                      <a:tcPr anchor="b"/>
                    </a:tc>
                    <a:tc hMerge="1">
                      <a:tcPr/>
                    </a:tc>
                  </a:tr>
                  <a:tr h="466376">
                    <a:tc>
                      <a:txBody>
                        <a:bodyPr/>
                        <a:lstStyle/>
                        <a:p>
                          <a:r>
                            <a:rPr lang="es-MX" sz="2000" b="1" dirty="0">
                              <a:latin typeface="Georgia" panose="02040502050405020303" pitchFamily="18" charset="0"/>
                            </a:rPr>
                            <a:t>Propiedad</a:t>
                          </a:r>
                          <a:endParaRPr lang="es-CO" sz="2000" b="1" dirty="0">
                            <a:latin typeface="Georgia" panose="020405020504050203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b="1" dirty="0">
                              <a:latin typeface="Georgia" panose="02040502050405020303" pitchFamily="18" charset="0"/>
                            </a:rPr>
                            <a:t>Descripción</a:t>
                          </a:r>
                          <a:endParaRPr lang="es-CO" sz="2000" b="1" dirty="0">
                            <a:latin typeface="Georgia" panose="02040502050405020303" pitchFamily="18" charset="0"/>
                          </a:endParaRPr>
                        </a:p>
                      </a:txBody>
                      <a:tcPr/>
                    </a:tc>
                  </a:tr>
                  <a:tr h="152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Georgia" panose="02040502050405020303" pitchFamily="18" charset="0"/>
                            </a:rPr>
                            <a:t>Sumar la misma cantidad a ambos lados de una ecuación de una ecuación equivalente.</a:t>
                          </a:r>
                          <a:endParaRPr lang="es-CO" sz="20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</a:tr>
                  <a:tr h="1905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Georgia" panose="02040502050405020303" pitchFamily="18" charset="0"/>
                            </a:rPr>
                            <a:t>Multiplicar ambos lados de una ecuación por la misma cantidad diferente de cero da una ecuación equivalente.</a:t>
                          </a:r>
                          <a:endParaRPr lang="es-CO" sz="20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t="424" r="53940" b="-1"/>
          <a:stretch>
            <a:fillRect/>
          </a:stretch>
        </p:blipFill>
        <p:spPr>
          <a:xfrm>
            <a:off x="12414250" y="6351068"/>
            <a:ext cx="5867400" cy="4848227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ángulo 6"/>
              <p:cNvSpPr/>
              <p:nvPr/>
            </p:nvSpPr>
            <p:spPr>
              <a:xfrm>
                <a:off x="9290050" y="1954119"/>
                <a:ext cx="11271250" cy="4246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defTabSz="1508125" rtl="0"/>
                <a:r>
                  <a:rPr lang="es-ES" sz="2400" kern="1200" dirty="0" smtClean="0">
                    <a:solidFill>
                      <a:prstClr val="black"/>
                    </a:solidFill>
                    <a:latin typeface="Georgia" panose="02040502050405020303" pitchFamily="18" charset="0"/>
                  </a:rPr>
                  <a:t>Resuelva </a:t>
                </a:r>
                <a14:m>
                  <m:oMath xmlns:m="http://schemas.openxmlformats.org/officeDocument/2006/math"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s-CO" sz="2400" kern="1200" dirty="0">
                  <a:solidFill>
                    <a:prstClr val="black"/>
                  </a:solidFill>
                  <a:latin typeface="Georgia" panose="02040502050405020303" pitchFamily="18" charset="0"/>
                </a:endParaRPr>
              </a:p>
              <a:p>
                <a:pPr algn="just" defTabSz="1508125" rtl="0"/>
                <a:r>
                  <a:rPr lang="es-CO" sz="2400" kern="1200" dirty="0">
                    <a:solidFill>
                      <a:prstClr val="black"/>
                    </a:solidFill>
                    <a:latin typeface="Georgia" panose="02040502050405020303" pitchFamily="18" charset="0"/>
                  </a:rPr>
                  <a:t>Obtenemos desigualdades equivalentes </a:t>
                </a:r>
                <a:endParaRPr lang="es-CO" sz="2400" kern="1200" dirty="0">
                  <a:solidFill>
                    <a:prstClr val="black"/>
                  </a:solidFill>
                  <a:latin typeface="Georgia" panose="02040502050405020303" pitchFamily="18" charset="0"/>
                </a:endParaRPr>
              </a:p>
              <a:p>
                <a:pPr algn="just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sz="2400" kern="1200" dirty="0">
                  <a:solidFill>
                    <a:prstClr val="black"/>
                  </a:solidFill>
                  <a:latin typeface="Georgia" panose="02040502050405020303" pitchFamily="18" charset="0"/>
                </a:endParaRPr>
              </a:p>
              <a:p>
                <a:pPr algn="ctr" defTabSz="1508125" rtl="0"/>
                <a14:m>
                  <m:oMath xmlns:m="http://schemas.openxmlformats.org/officeDocument/2006/math"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s-ES" sz="24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CO" sz="2400" kern="1200" dirty="0">
                    <a:solidFill>
                      <a:prstClr val="black"/>
                    </a:solidFill>
                    <a:latin typeface="Georgia" panose="020405020504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400" i="1" kern="1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400" i="1" kern="1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s-ES" sz="2400" kern="1200" dirty="0">
                  <a:solidFill>
                    <a:srgbClr val="FF0000"/>
                  </a:solidFill>
                  <a:latin typeface="Georgia" panose="02040502050405020303" pitchFamily="18" charset="0"/>
                </a:endParaRPr>
              </a:p>
              <a:p>
                <a:pPr algn="ctr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sz="2400" kern="1200" dirty="0">
                  <a:solidFill>
                    <a:prstClr val="black"/>
                  </a:solidFill>
                  <a:latin typeface="Georgia" panose="02040502050405020303" pitchFamily="18" charset="0"/>
                </a:endParaRPr>
              </a:p>
              <a:p>
                <a:pPr algn="ctr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400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ES" sz="2400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400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ES" sz="2400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sz="2400" kern="1200" dirty="0">
                  <a:solidFill>
                    <a:prstClr val="black"/>
                  </a:solidFill>
                  <a:latin typeface="Georgia" panose="02040502050405020303" pitchFamily="18" charset="0"/>
                </a:endParaRPr>
              </a:p>
              <a:p>
                <a:pPr algn="ctr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s-ES" sz="2400" kern="1200" dirty="0">
                  <a:solidFill>
                    <a:prstClr val="black"/>
                  </a:solidFill>
                  <a:latin typeface="Georgia" panose="02040502050405020303" pitchFamily="18" charset="0"/>
                </a:endParaRPr>
              </a:p>
              <a:p>
                <a:pPr algn="ctr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400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2400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S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d>
                        <m:dPr>
                          <m:ctrlP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400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2400" i="1" kern="1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ES" sz="2400" kern="1200" dirty="0">
                  <a:solidFill>
                    <a:prstClr val="black"/>
                  </a:solidFill>
                  <a:latin typeface="Georgia" panose="02040502050405020303" pitchFamily="18" charset="0"/>
                </a:endParaRPr>
              </a:p>
              <a:p>
                <a:pPr algn="just" defTabSz="1508125" rtl="0"/>
                <a:r>
                  <a:rPr lang="es-MX" sz="2400" kern="1200" dirty="0">
                    <a:solidFill>
                      <a:prstClr val="black"/>
                    </a:solidFill>
                    <a:latin typeface="Georgia" panose="02040502050405020303" pitchFamily="18" charset="0"/>
                  </a:rPr>
                  <a:t>En notación de conjunto, el conjunto solución de la desigualdad dada es</a:t>
                </a:r>
                <a:endParaRPr lang="es-MX" sz="2400" kern="1200" dirty="0">
                  <a:solidFill>
                    <a:prstClr val="black"/>
                  </a:solidFill>
                  <a:latin typeface="Georgia" panose="02040502050405020303" pitchFamily="18" charset="0"/>
                </a:endParaRPr>
              </a:p>
              <a:p>
                <a:pPr algn="just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CO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𝑟𝑒𝑎𝑙</m:t>
                          </m:r>
                          <m: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4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d>
                            <m:dPr>
                              <m:begChr m:val=""/>
                              <m:endChr m:val="}"/>
                              <m:ctrlPr>
                                <a:rPr lang="es-ES" sz="24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4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0050" y="1954119"/>
                <a:ext cx="11271250" cy="4246162"/>
              </a:xfrm>
              <a:prstGeom prst="rect">
                <a:avLst/>
              </a:prstGeom>
              <a:blipFill rotWithShape="1">
                <a:blip r:embed="rId4"/>
                <a:stretch>
                  <a:fillRect t="-5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/>
          <p:cNvSpPr/>
          <p:nvPr/>
        </p:nvSpPr>
        <p:spPr>
          <a:xfrm>
            <a:off x="1365250" y="1158875"/>
            <a:ext cx="67480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ECUACIONES</a:t>
            </a:r>
            <a:endParaRPr lang="es-CO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9" name="Título 3"/>
          <p:cNvSpPr txBox="1"/>
          <p:nvPr/>
        </p:nvSpPr>
        <p:spPr>
          <a:xfrm>
            <a:off x="8429625" y="1023097"/>
            <a:ext cx="11674475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40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DESIGUALDADES</a:t>
            </a:r>
            <a:endParaRPr lang="es-CO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44982" y="4922805"/>
            <a:ext cx="4740895" cy="15133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pPr defTabSz="1508125" rtl="0"/>
            <a:r>
              <a:rPr lang="es-CO" sz="4615" kern="1200" dirty="0" smtClean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latin typeface="Calibri" panose="020F0502020204030204"/>
                <a:ea typeface="+mn-ea"/>
                <a:cs typeface="+mn-cs"/>
              </a:rPr>
              <a:t>DESIGUALDADES E INTERVALOS</a:t>
            </a:r>
            <a:endParaRPr lang="es-CO" sz="4615" kern="1200" dirty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0895" y="1996336"/>
            <a:ext cx="15136067" cy="88877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732977" y="1889940"/>
            <a:ext cx="7359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 smtClean="0"/>
              <a:t>1. Resuelva las siguientes ecuaciones: </a:t>
            </a:r>
            <a:endParaRPr lang="es-CO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527050" y="607315"/>
            <a:ext cx="423224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</a:rPr>
              <a:t>Ejemplos:</a:t>
            </a:r>
            <a:endParaRPr lang="en-US" sz="6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/>
              <p:cNvSpPr txBox="1"/>
              <p:nvPr/>
            </p:nvSpPr>
            <p:spPr>
              <a:xfrm>
                <a:off x="732977" y="6111875"/>
                <a:ext cx="310867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3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s-CO" sz="3200" dirty="0"/>
              </a:p>
            </p:txBody>
          </p:sp>
        </mc:Choice>
        <mc:Fallback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77" y="6111875"/>
                <a:ext cx="3108672" cy="492443"/>
              </a:xfrm>
              <a:prstGeom prst="rect">
                <a:avLst/>
              </a:prstGeom>
              <a:blipFill rotWithShape="1">
                <a:blip r:embed="rId1"/>
                <a:stretch>
                  <a:fillRect l="-6" r="-310" b="6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908050" y="2726086"/>
                <a:ext cx="299646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s-CO" sz="3200" dirty="0"/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50" y="2726086"/>
                <a:ext cx="2996461" cy="492443"/>
              </a:xfrm>
              <a:prstGeom prst="rect">
                <a:avLst/>
              </a:prstGeom>
              <a:blipFill rotWithShape="1">
                <a:blip r:embed="rId2"/>
                <a:stretch>
                  <a:fillRect t="-6" r="-321" b="7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/>
              <p:cNvSpPr txBox="1"/>
              <p:nvPr/>
            </p:nvSpPr>
            <p:spPr>
              <a:xfrm>
                <a:off x="722774" y="4144835"/>
                <a:ext cx="3367012" cy="1040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s-MX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MX" sz="3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74" y="4144835"/>
                <a:ext cx="3367012" cy="1040734"/>
              </a:xfrm>
              <a:prstGeom prst="rect">
                <a:avLst/>
              </a:prstGeom>
              <a:blipFill rotWithShape="1">
                <a:blip r:embed="rId3"/>
                <a:stretch>
                  <a:fillRect l="-4" t="-18" r="-385" b="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/>
          <p:cNvSpPr txBox="1"/>
          <p:nvPr/>
        </p:nvSpPr>
        <p:spPr>
          <a:xfrm>
            <a:off x="9756369" y="1889940"/>
            <a:ext cx="71041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508125" rtl="0"/>
            <a:r>
              <a:rPr lang="es-MX" sz="32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Resuelva las siguiente desigualdad lineal: </a:t>
            </a:r>
            <a:endParaRPr lang="es-CO" sz="3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/>
              <p:cNvSpPr txBox="1"/>
              <p:nvPr/>
            </p:nvSpPr>
            <p:spPr>
              <a:xfrm>
                <a:off x="10082610" y="4597801"/>
                <a:ext cx="1880002" cy="864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s-ES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s-ES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≤</m:t>
                      </m:r>
                      <m:f>
                        <m:fPr>
                          <m:ctrlPr>
                            <a:rPr lang="es-ES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lang="es-ES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num>
                        <m:den>
                          <m:r>
                            <a:rPr lang="es-ES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CO" sz="297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610" y="4597801"/>
                <a:ext cx="1880002" cy="864852"/>
              </a:xfrm>
              <a:prstGeom prst="rect">
                <a:avLst/>
              </a:prstGeom>
              <a:blipFill rotWithShape="1">
                <a:blip r:embed="rId4"/>
                <a:stretch>
                  <a:fillRect l="-4" t="-46" r="-1663" b="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/>
              <p:cNvSpPr txBox="1"/>
              <p:nvPr/>
            </p:nvSpPr>
            <p:spPr>
              <a:xfrm>
                <a:off x="9975850" y="2934857"/>
                <a:ext cx="2093522" cy="456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9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4</m:t>
                      </m:r>
                    </m:oMath>
                  </m:oMathPara>
                </a14:m>
                <a:endParaRPr lang="es-CO" sz="297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850" y="2934857"/>
                <a:ext cx="2093522" cy="456728"/>
              </a:xfrm>
              <a:prstGeom prst="rect">
                <a:avLst/>
              </a:prstGeom>
              <a:blipFill rotWithShape="1">
                <a:blip r:embed="rId5"/>
                <a:stretch>
                  <a:fillRect t="-114" r="-1217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/>
              <p:cNvSpPr txBox="1"/>
              <p:nvPr/>
            </p:nvSpPr>
            <p:spPr>
              <a:xfrm>
                <a:off x="10232781" y="9000095"/>
                <a:ext cx="2756524" cy="456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7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8</m:t>
                      </m:r>
                    </m:oMath>
                  </m:oMathPara>
                </a14:m>
                <a:endParaRPr lang="en-US" sz="297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" name="Cuadro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781" y="9000095"/>
                <a:ext cx="2756524" cy="456728"/>
              </a:xfrm>
              <a:prstGeom prst="rect">
                <a:avLst/>
              </a:prstGeom>
              <a:blipFill rotWithShape="1">
                <a:blip r:embed="rId6"/>
                <a:stretch>
                  <a:fillRect l="-14" t="-53" r="-839" b="8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/>
              <p:cNvSpPr txBox="1"/>
              <p:nvPr/>
            </p:nvSpPr>
            <p:spPr>
              <a:xfrm>
                <a:off x="10232781" y="6938455"/>
                <a:ext cx="2820003" cy="8585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den>
                      </m:f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4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f>
                        <m:fPr>
                          <m:ctrlP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num>
                        <m:den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den>
                      </m:f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lang="en-US" sz="297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4" name="Cuadro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781" y="6938455"/>
                <a:ext cx="2820003" cy="858505"/>
              </a:xfrm>
              <a:prstGeom prst="rect">
                <a:avLst/>
              </a:prstGeom>
              <a:blipFill rotWithShape="1">
                <a:blip r:embed="rId7"/>
                <a:stretch>
                  <a:fillRect l="-14" t="-52" r="-820" b="5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718050" y="622667"/>
            <a:ext cx="8937476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pPr defTabSz="1508125" rtl="0"/>
            <a:r>
              <a:rPr lang="es-MX" sz="4000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Desigualdades NO lineales</a:t>
            </a:r>
            <a:endParaRPr lang="en-US" sz="4000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444" y="3173887"/>
            <a:ext cx="8859606" cy="5686484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/>
              <p:cNvSpPr txBox="1"/>
              <p:nvPr/>
            </p:nvSpPr>
            <p:spPr>
              <a:xfrm>
                <a:off x="10632342" y="3173887"/>
                <a:ext cx="2152319" cy="456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p>
                        <m:sSupPr>
                          <m:ctrlP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s-ES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</m:t>
                      </m:r>
                    </m:oMath>
                  </m:oMathPara>
                </a14:m>
                <a:endParaRPr lang="en-US" sz="297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2342" y="3173887"/>
                <a:ext cx="2152319" cy="456728"/>
              </a:xfrm>
              <a:prstGeom prst="rect">
                <a:avLst/>
              </a:prstGeom>
              <a:blipFill rotWithShape="1">
                <a:blip r:embed="rId2"/>
                <a:stretch>
                  <a:fillRect l="-25" t="-34" r="-876" b="-340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ángulo 5"/>
              <p:cNvSpPr/>
              <p:nvPr/>
            </p:nvSpPr>
            <p:spPr>
              <a:xfrm>
                <a:off x="10632343" y="8408971"/>
                <a:ext cx="1938030" cy="9492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defTabSz="1508125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f>
                        <m:fPr>
                          <m:ctrlP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num>
                        <m:den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es-MX" sz="297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den>
                      </m:f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</m:t>
                      </m:r>
                      <m:r>
                        <a:rPr lang="es-MX" sz="297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0</m:t>
                      </m:r>
                    </m:oMath>
                  </m:oMathPara>
                </a14:m>
                <a:endParaRPr lang="en-US" sz="297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2343" y="8408971"/>
                <a:ext cx="1938030" cy="949234"/>
              </a:xfrm>
              <a:prstGeom prst="rect">
                <a:avLst/>
              </a:prstGeom>
              <a:blipFill rotWithShape="1">
                <a:blip r:embed="rId3"/>
                <a:stretch>
                  <a:fillRect l="-28" t="-32" r="28" b="2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735401" y="2788418"/>
            <a:ext cx="5021283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508125" rtl="0"/>
            <a:r>
              <a:rPr lang="es-ES" sz="2970" kern="1200" dirty="0">
                <a:solidFill>
                  <a:srgbClr val="FF0000"/>
                </a:solidFill>
                <a:latin typeface="Amasis MT Pro Black" panose="020B0604020202020204" pitchFamily="18" charset="0"/>
                <a:ea typeface="+mn-ea"/>
                <a:cs typeface="+mn-cs"/>
              </a:rPr>
              <a:t>Ejemplo:</a:t>
            </a:r>
            <a:endParaRPr lang="es-ES" sz="2970" kern="1200" dirty="0">
              <a:solidFill>
                <a:srgbClr val="FF0000"/>
              </a:solidFill>
              <a:latin typeface="Amasis MT Pro Black" panose="020B0604020202020204" pitchFamily="18" charset="0"/>
              <a:ea typeface="+mn-ea"/>
              <a:cs typeface="+mn-c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5446" y="3267354"/>
            <a:ext cx="11548293" cy="28776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768" y="4945789"/>
            <a:ext cx="3845242" cy="49761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081457" y="914887"/>
            <a:ext cx="8991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6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VALOR ABSOLUTO</a:t>
            </a:r>
            <a:endParaRPr lang="en-US" sz="36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ángulo 2"/>
              <p:cNvSpPr/>
              <p:nvPr/>
            </p:nvSpPr>
            <p:spPr>
              <a:xfrm>
                <a:off x="498215" y="1959239"/>
                <a:ext cx="9400215" cy="20621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MX" sz="3200" dirty="0">
                    <a:latin typeface="Georgia" panose="02040502050405020303" pitchFamily="18" charset="0"/>
                  </a:rPr>
                  <a:t>El valor absoluto de un número </a:t>
                </a:r>
                <a14:m>
                  <m:oMath xmlns:m="http://schemas.openxmlformats.org/officeDocument/2006/math">
                    <m:r>
                      <a:rPr lang="es-MX" sz="3200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MX" sz="3200" dirty="0">
                    <a:latin typeface="Georgia" panose="02040502050405020303" pitchFamily="18" charset="0"/>
                  </a:rPr>
                  <a:t>, denotado por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MX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32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s-MX" sz="3200" dirty="0">
                    <a:latin typeface="Georgia" panose="02040502050405020303" pitchFamily="18" charset="0"/>
                  </a:rPr>
                  <a:t> es la distancia de </a:t>
                </a:r>
                <a14:m>
                  <m:oMath xmlns:m="http://schemas.openxmlformats.org/officeDocument/2006/math">
                    <m:r>
                      <a:rPr lang="es-MX" sz="3200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MX" sz="3200" dirty="0">
                    <a:latin typeface="Georgia" panose="02040502050405020303" pitchFamily="18" charset="0"/>
                  </a:rPr>
                  <a:t> al origen en la recta real. La distancia siempre es positiva o cero, así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MX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32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s-MX" sz="32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s-MX" sz="32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MX" sz="3200" dirty="0">
                    <a:latin typeface="Georgia" panose="02040502050405020303" pitchFamily="18" charset="0"/>
                  </a:rPr>
                  <a:t> para todo número real </a:t>
                </a:r>
                <a14:m>
                  <m:oMath xmlns:m="http://schemas.openxmlformats.org/officeDocument/2006/math">
                    <m:r>
                      <a:rPr lang="es-MX" sz="3200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MX" sz="3200" dirty="0">
                    <a:latin typeface="Georgia" panose="02040502050405020303" pitchFamily="18" charset="0"/>
                  </a:rPr>
                  <a:t>. </a:t>
                </a:r>
                <a:endParaRPr lang="es-MX" sz="3200" dirty="0"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15" y="1959239"/>
                <a:ext cx="9400215" cy="2062103"/>
              </a:xfrm>
              <a:prstGeom prst="rect">
                <a:avLst/>
              </a:prstGeom>
              <a:blipFill rotWithShape="1">
                <a:blip r:embed="rId1"/>
                <a:stretch>
                  <a:fillRect l="-4" t="-13" r="1" b="2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/>
          <p:cNvSpPr txBox="1"/>
          <p:nvPr/>
        </p:nvSpPr>
        <p:spPr>
          <a:xfrm>
            <a:off x="298450" y="8356917"/>
            <a:ext cx="26629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4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Ejemplos:</a:t>
            </a:r>
            <a:endParaRPr lang="en-US" sz="44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/>
              <p:cNvSpPr txBox="1"/>
              <p:nvPr/>
            </p:nvSpPr>
            <p:spPr>
              <a:xfrm>
                <a:off x="3699035" y="8474075"/>
                <a:ext cx="4476427" cy="984885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s-MX" sz="32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MX" sz="32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s-MX" sz="32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3200" dirty="0"/>
              </a:p>
            </p:txBody>
          </p:sp>
        </mc:Choice>
        <mc:Fallback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035" y="8474075"/>
                <a:ext cx="4476427" cy="984885"/>
              </a:xfrm>
              <a:prstGeom prst="rect">
                <a:avLst/>
              </a:prstGeom>
              <a:blipFill rotWithShape="1">
                <a:blip r:embed="rId2"/>
                <a:stretch>
                  <a:fillRect l="-4" t="-1096" r="11" b="-980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/>
          <p:cNvSpPr/>
          <p:nvPr/>
        </p:nvSpPr>
        <p:spPr>
          <a:xfrm>
            <a:off x="8223042" y="2889864"/>
            <a:ext cx="1188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6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</a:rPr>
              <a:t>PROPIEDADES</a:t>
            </a:r>
            <a:endParaRPr lang="en-US" sz="3600" b="1" dirty="0">
              <a:ln w="222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52050" y="4021342"/>
            <a:ext cx="9716790" cy="335506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3032" t="-1444" r="4486" b="5092"/>
          <a:stretch>
            <a:fillRect/>
          </a:stretch>
        </p:blipFill>
        <p:spPr>
          <a:xfrm>
            <a:off x="298450" y="4419363"/>
            <a:ext cx="96012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956050" y="473075"/>
            <a:ext cx="11388752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pPr defTabSz="1508125" rtl="0"/>
            <a:r>
              <a:rPr lang="es-MX" sz="4000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Desigualdades con Valor Absoluto</a:t>
            </a:r>
            <a:endParaRPr lang="en-US" sz="4000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87947" y="3497608"/>
            <a:ext cx="12142687" cy="4571180"/>
          </a:xfrm>
          <a:prstGeom prst="rect">
            <a:avLst/>
          </a:prstGeom>
          <a:ln w="28575" cap="sq">
            <a:solidFill>
              <a:srgbClr val="C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/>
              <p:cNvSpPr txBox="1"/>
              <p:nvPr/>
            </p:nvSpPr>
            <p:spPr>
              <a:xfrm>
                <a:off x="1136053" y="8619384"/>
                <a:ext cx="2510046" cy="456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71170" indent="-471170" algn="l" defTabSz="1508125" rtl="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MX" sz="297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s-MX" sz="297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lang="es-MX" sz="297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lang="es-MX" sz="297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es-MX" sz="297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es-MX" sz="297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≥</m:t>
                    </m:r>
                    <m:r>
                      <a:rPr lang="es-MX" sz="297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3</m:t>
                    </m:r>
                  </m:oMath>
                </a14:m>
                <a:endParaRPr lang="en-US" sz="297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053" y="8619384"/>
                <a:ext cx="2510046" cy="456728"/>
              </a:xfrm>
              <a:prstGeom prst="rect">
                <a:avLst/>
              </a:prstGeom>
              <a:blipFill rotWithShape="1">
                <a:blip r:embed="rId2"/>
                <a:stretch>
                  <a:fillRect l="-2" t="-2479" r="-2280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7051299" y="8486845"/>
                <a:ext cx="3136180" cy="456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71170" indent="-471170" algn="l" defTabSz="1508125" rtl="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970" kern="1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8</m:t>
                    </m:r>
                    <m:r>
                      <a:rPr lang="es-MX" sz="2970" kern="1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sz="2970" i="1" kern="1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s-MX" sz="2970" i="1" kern="1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lang="es-MX" sz="2970" i="1" kern="1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lang="es-MX" sz="2970" i="1" kern="1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es-MX" sz="2970" i="1" kern="1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en-US" sz="2970" i="1" kern="1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≥</m:t>
                    </m:r>
                  </m:oMath>
                </a14:m>
                <a:r>
                  <a:rPr lang="en-US" sz="2970" kern="1200" dirty="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rPr>
                  <a:t>6 </a:t>
                </a:r>
                <a:endParaRPr lang="en-US" sz="297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299" y="8486845"/>
                <a:ext cx="3136180" cy="456728"/>
              </a:xfrm>
              <a:prstGeom prst="rect">
                <a:avLst/>
              </a:prstGeom>
              <a:blipFill rotWithShape="1">
                <a:blip r:embed="rId3"/>
                <a:stretch>
                  <a:fillRect l="-8" t="-989" r="-4368" b="5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/>
              <p:cNvSpPr txBox="1"/>
              <p:nvPr/>
            </p:nvSpPr>
            <p:spPr>
              <a:xfrm>
                <a:off x="14130348" y="8217095"/>
                <a:ext cx="2942190" cy="90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565150" indent="-565150" algn="l" defTabSz="1508125" rtl="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960" i="1" kern="12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960" i="1" kern="12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lang="es-MX" sz="3960" i="1" kern="12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  <m:r>
                              <a:rPr lang="es-MX" sz="3960" i="1" kern="12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r>
                              <a:rPr lang="es-MX" sz="3960" i="1" kern="12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lang="es-MX" sz="3960" i="1" kern="12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3960" i="1" kern="1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≤</m:t>
                    </m:r>
                    <m:r>
                      <a:rPr lang="es-MX" sz="3960" i="1" kern="12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2</m:t>
                    </m:r>
                  </m:oMath>
                </a14:m>
                <a:r>
                  <a:rPr lang="en-US" sz="3960" kern="1200" dirty="0">
                    <a:solidFill>
                      <a:prstClr val="black"/>
                    </a:solidFill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lang="en-US" sz="396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0348" y="8217095"/>
                <a:ext cx="2942190" cy="907108"/>
              </a:xfrm>
              <a:prstGeom prst="rect">
                <a:avLst/>
              </a:prstGeom>
              <a:blipFill rotWithShape="1">
                <a:blip r:embed="rId4"/>
                <a:stretch>
                  <a:fillRect l="-11" t="-21" r="19" b="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6" descr="data:image/png;base64,%20iVBORw0KGgoAAAANSUhEUgAAATgAAAD2CAYAAABC6psaAAAAAXNSR0IArs4c6QAAAARnQU1BAACxjwv8YQUAAAAJcEhZcwAADsMAAA7DAcdvqGQAAOn1SURBVHhe7P1nuGTHdSWIrvTXe+/Kew9T8IYECVpRFKWW6VZLI75Wj2baqWfe9Dc/Z575vnnvTb9v2K1poyfT8iTFJgmIBgThTQGoKhSqUN7dW3Xreu/TZ761dpxzb9ZFgQJAFHCrcHZm5IkT3uxYsXecOJEIKKCAArpdKeRdRb497F1L/QIKKKCA1jIVVxkjH8R0fYmm2+4CcAsooIBuHRqieZwm55k8TYHmOoDro1lndwEFFFBAtw4N0jxIk6RZpEnTCOiKvjrqXwMKKKCAbjWK0LTR1NFUePcmvPkSnBx6aXp08/LLL6Orq0vWtUHLGjWJJTbZ0yNVwCphYfTj+Rp2h1BQ+FARYXrJKIy8BO+iSDGEsATaEAPS3WVV5K2limLRuYhkl7vv9w5aCfreaKXg75PeJX9Li8aSLEk3FGarsC1kNSM/ucjOX4vm7pwj28gczfemUGm7ikJ2X0Q+HDL9IsbysBjysf7K0qYejagPaIr0VN+qhPqovP7V7ycX26+BVWzZ5pOy8HkhpgbyipXjiJB7jCbiM9xKEu+g0jx/XrK0WA5XR9dbyjhMd/GwuqooPjR356tf1xLezfuhD6fYHykNDAzgoYce8u4wTvM7NGM0IzRTNCmavF+1KM1lGgO4vr4+rF+/Xta1Q36nqXM9q6i0b2xQFh03khX4S+bwelwXuaDAULRk6KYhHqGJe81QoLt49Lo0yVQiuXvWD42RP3xSAa0VVgpLChHg8l6tNJO5AGwnc/KAbxlQdOOMbm9mTUtBzkrNdhW4qbcELCEfWLz+8qw0Cu33n1dGpuX3S6FAH8/urn4t/KsjpagsBJ6iOI1NgkwrS6D1Ac7cGLU0pdVkdbEw7xbivZPSEni7tljJV+Ww1L0f+Yl09cMtt8dtTleuXMGGDRu8O0zQ/Hc0Ajepq7pfosnbmL8lSL3m9ZxvLe1Ix/BkWDK0m/UcN2i2t1nPwpAsEmdDfkqZUX6K74ZOyYej3oz8hABmf+dnbdDqVrkBWSPJsOsJasv19qP60VVVz/pByNrr7zECNBm7JwgL2PRZZsqSsmgiWimP4qyY1SRQe+cktOqeaZa6rJRJPyJNka6xikTad/ssc4DNDst3P9+HaTledO2hj7WJyqZ6eWWXW2kdPsGkZhC2v6NJlnnpViab8Xw762dMb4zg5Di5ihVlzIsuUf7GaEyi8chnMNluZFZabrXfWiKV0jc+ea1yXXFpcV+jZZArpeWw74/ebzQDJF7VVz6XLpMkI5ukiiscTCdJnOZtv+9GfjusqpgieUbpSX2RUShLj+VRXn5+frlWUilJoMTo90buH8w4Ur5R3qr+6kP5ub7U1ZXJL5+1DU1AK6Q2uSXo+m4neQ4CN39glvq7jrcAdq9fHwTlFqIqG6FrWLqAwnDUuEn/nSziht8tRFZllXml3CYfsY6SDvIy7PkcjZMUXOvY9SZXVTlZ8VaRDU4WRsaXuN2E5GKYJF5wxpfK//4B/TN8XbKWvA9wToaUo5Rf5mFuLhWFW7Z7vzeTlJeALUI91dpFxbLyqWzqNXqQh61cJSag60ntuOZJ/XZd3/k35LGVNRaP7cj8UmfU+f4Akbsv4y2no7W4gjeiFMYGjfPVr2+U7q1Nrm1Um2IxR1ArGLBl6ZT3augGruyenPshV9nl4l/16yC1lKzpSxx9CcX9+HE8ECapvCZVeX12HS3zhOhdKuM7e/kKKLykrSxFA1J3Fa/IUXYFkXE5uER0/37JT+fdyAcuC1UgmGldkVa1gR6a6SGDy94c1XU/O8FPKN0yACfy+3OZyHAFYzo5ugEhpggZU/JG6zruMSqiNHpiakwqf/e1wVwgyOnjHHUVma9nrr9bbfzfUipdQH8vZJJoSZyfGb/Ui/bVYVfWn3R19qIAXwOFESy0oRi7nzdOWnHgpo+1qJ/Eu9C7le/G7nLz3b3y2GeFZJdUaYPXG8w2oGVYH2fC9lgspzAsp/o5rElKgZbr7OdA+Clx80nlMylWVXfITotndKP8FJctEiLPeNOmK4ddLaALfh35cLdCClNqbkSrw8i43AWwrBt5s0imdq1FN6+66kkZtddKQ9HhZ9C79dntTLcEwL0biUGNSWVX55HhDdzY8+FCBGGKKaEsA2QIbmne8xrOU74rau7nlQwsHsqHObwZTAzqHj04FvONY7l3/7iY11Pp4LJBdQNTSrYOVTpIbzA4fbouJoO5MlxPfnouHYVgG9AeYUUjOao/+aJti3CTActjoZyhg/3+LJB7t/JZnp7dJ+fi/2rgOsYrDSfQyYbyyBTzBrE2etMsB/uwmGNIdbShkqegKbIVujQVR8WfUXCVT0ClNPSU1NLxgiua237Bj240OdIuNymGihsmyHohzE9m9f317tfbrve78UcFEcgXOSGpfOLPYpg8K97NR1m2KMsTtqe/y1PWe9BR363PbmcSn92axL4yZiBZt3r3JoBlqXwt5FCcyqEwmUVhmmaGdpriPAMkGWeRA2khi2KSbmJmSXsCHSVG47ZNOLPstvojf+/zs8gG/Q3MB6XlmF65Vmd/IwA1IkiEk0VE5/KIzFP6YTtECBraRuJYwQ19AdAHoeV8aaxIJXYzZvfqb5+VMO7DMGG6qm0IboUl9mOKQznNsAv0n80iyjJrgipqklJf07j0RJbLO9r2Ru2hEHJREl40u7efDMPPZcgjhBDbQ0K+inASpN9qnlhtfH+fNwRWyx8v3nVhbmTsw/4gsOVZF+G7Id0SQW8+j9AS+473Al2ZFXX1Xcgr20r/eG6fAPKbZU3vgzMmZI8YGlvHuA7VTK8ZzCrBGS/CARxix+dmFzB0og8zp0ewmEohw9pJrYlVJbB51za0NDXiGuuYyaWwbscGxNc1oRglU0kCtPS8ZtFF+Xm376Cf5fdeyY/vD8BVg/Md7t6tkW9fHUUejGcD3YsnN7VN+tosrhw7i0g4inX7diDWVol8nOEjTk3VABMQFgU0JLfGpXTs1tE7yuQXpJTkVxqO9uVgXnol8dSXujMXdmp6aB7njp1CrKwcu7btxMzgCIauXEXP9s2o3d2JfBnHf5Z1IlMI67ySMEmX18+aQCwP/khAE28tP0GlW4hiXX5yEddOnUdqMYlutlFlV4Nt/FUcNhMDiU8Yw8vCnJzVS9yjZccSKvUXvVsYztS6ZCMEMAZKLBQwfvIKhvuuoWVjN1p2rkOhmhId49tG5LB+eGP1X0V+nr7X6vsbRFnrtGof3CTNP6MZphmg0cbfW2cfnOti63Xe+L3j+sndOWXSvDg4svNL6HvlTZz865/g5PdfwPEfvYzDP3wBx55/HZP9o8iNL+Dyi0dx/sevID8w41RX4w/2tEkQtPstI7tvfPLvFcZ3991W34tW+4lK75W3MWZpAJ/oZqCzcrt89fNfZTT4HEjTWNo0sjN8amoBJ3/8Mk7/6BVkRxecv4GBWlBDXSPZtaW1p/zkXUoWnkb+ftoWrtSUuBv57t79qnhS/SRNRgmuUUouqbkFnDp8HJeOn0NhbAnTRy/jxH99FounrppUpaobCNM4UFa6tFtyst+AvPLacyUCmcDK1daRXemem17E5dfewsmnX8bi0IS92ai28DDfpV/S9pad5+e73fC+1Cj+u/Sfc1d/uADWD5Rkh09cxJvffwajJ/soxRUQZT1UB/cgxEtsdVoiXUvzkl3GJ6V/m5L6V6Tq/iuaWt38/u//Purq9FrX2iLrL+sMieWy+ixAQy5zjM6bhQymjvWhZS6OfQ/ci+2P3oud9x7Ajrv2oXvLesTJDDNn+xCjKrJp63aE2uoQ0jZ2clKI+kBuNon06ByiiwXkZ1KY659AlrN6LB9jPlEUMzksDk8hOTHLwRilJhGj6pDB/OAkClSjYhQpstNJ5JRGqojU+CyWBKRzRQ7iMhTm0li4JqCdZxlY7giBRaKIxFGqzpmRWcxf48Cap0qmgsmPA29xdAahmQzCs3ksjdGepqrJ2hdmkkgNTGP+yjhCU2mCBLtVaWpEMk2pWunxOeSGlxC+Ooc5gkR1pAI9e3ci3FhhWy8KHNRLBP/CZJISQZxZOtbIz6dZnnlEqdJmJxcwNzaLsijbwcrMABxkebb30sAk4lSd8tNLSE3PI1yMsW8iVrb5q2Nsr2lEKQZFoqoPIwpYMzRTSSxcnTATYhtGtb6UzSN9dRrx2QJ6WnvQXNuG/JVRpPonsb1jM4pV5ViaYdvmI2x7rxzq+zSlwMklpjXOvqG/1mEjMZef+ELhRMpbr2Ozr9KD00gOzSEmEGM/mio4m8LU6V6EWK8Nu3ci0VxvrzmEOAtKKczNpZBmm4Tn6TaTxeK1cWTYl1Gtj1m7MI0cMyT/ZAZn2NeTCCfZVyGmT/BWWcRPGfJHbJHtyolmcWCK6TFMPo6Ctec4eZBp5gj4zDyUDGHh9ADSbIOe1i5UVdQizbbVOnNYebL+GfZhTn1FaW+JaWeZTjTMuBJVyTfJa+TZwVnE2A8haxdrDUel9luAZmZm8I1vfMO7s5fsf0TDGRtzNJLetLhg056ILbTGX9UqIfGqeFSFD9uim/Z2CeDClMbod2UGp/7LU6gZyqPn1x5H+O5moMqLkCVoXZ7AiW/+BCky+P1f+xJwbyuKFXnGZ1qpMOZPXUP/828ikSVzRcsxNTKOVDaDrt3b0Hn/PqC8iNPPvIjk7Cx2fu4BVG/cgFzvII49fQjNdc1Yd/deTF/tx9Cbp9DQ3ICZuVky+Qwaq9tQs34jMoUFjA2dQ2p+AZ3bt6L1kTtRtr6FwJfB9PGLmDh9GUvTswiXx9G5aysa79qJENXrU089j+hYGrGFKAZmB7Dt/u1o3rYOF984hqWLUxzcGVTFy1F9xzq0PrQHkZ4a5BZSGD12DhNvn0dtMoyK+Qh6T11CRWcrdn/9FxDe0oCl3n6MvnmSIEmAJjhG21vQ/dCdqFjfQNAcweBLx9GYjuHq1BDGigv49D/6Cso2d7rXmgkMsxdHcemJF9GSqMTU4gzSZXHsfuA+tl0YI2fOYubqMLJLWVS2t6Ltvn2o3d6BUDSE1KVRDL30FmYujCCdTaGmuwHrHtyHRFMNBn56EtfevIzu3Tuw4a67MH/8BE7+5E1sWbcR+Q0xDC6NobKpGe33bUftni4KMBEsnB3E0mvnMDMwhtliHtXrO9B9725Ub2phn7HzJaYzXz10yvXNYOzV08hwUlhaTCFcV4HWe3agfucm5Dh4Tv7tU0iOTGLfb30ZlQc2UCXm5BfNElDyWDgxiP7nzhLQK1EVCWNi5CrS6SSa9mxH26fuQmIdmY19O83yjx/rJcinUKxLoHHPRjTeuQ2R2jJMv34W/YdPo6W8HhlOqGNDI6ipqUbzpnVYiGQwPjiIxak5tG/ZgI0P3I1IWwP6/+51XKHk3dbdidq2JswvLSDbXI6O+/egdkMnps6ew/gbp1ARKcOVwWFUb+vBzsceRjG5hJFjp5HuHUUmmUV5Rysa79+B2l3sh0r2ocRA237gjREjiQ5rl24rFfVnkhZOaARO7nUZ9VUIZZS2loaWMPD8W7jy7dfQ9/03kbk0xSorjF7U0mxNyYsSgwQe7QnTdhEtzEj6Gnm7F1eOUj1KFtHW0IXseIpq7wksnhskkKQw3zeKWTJMfkE6MYtA6WPu0jCSBM8QgTM7toDh45cw1TeC8vJq1EdrMXL8Cs4+fQS5iSU0NBLQGOfSqycwefIKuySPsbev4MRPDiE5toi2tvVIz2Zw8pk3MPFWL/05q58bxVUOjPmheZRV1CFSXcVBF7b3JstaW9C+YQtCCxFcfuYtJI8pzRwWzgzg7FOvM84sqho00MuRzuVtkTqcoaTZP4e+nxzBKPOoqWlEJct6/rXjuPzUYeT7UsBYhoOjDxMcqCGGr2tuRbgiQfVQ659sS0oqOQ7gabZL7xscRKxTTVU9ijNL6H/xGK4ePofqiiZ0tmzA2OlBXHjmKFJXZsmKaQw+S/8X30YiVoHmLZuR4KAtJijllcfQUFOHGU4sMyNjbN8MBVhKdZQ0k5RkK+rrWNYa9FN9vfTCmyhcm7c0L//0KEaP9qKpog2NVa0YYPtffOEYUqy7Sce+hD+7gGts99OHTlCqKkdTUycmLo/gzFOHkO+lFKyn72SKAvMqiF9s4Lv1Xluon05j4sQVDB65hPwi2CYtyM4s4sLLxzFzcsjehBw9eh5H/+4FLI4voL61w/ryBMFp4Mg55CZzKA4vkh96MXNpBIl4Faoq68lz5I8fH6I0N4OGymZElvIYevVtTL11ibIJeTNfQDadQSpPyb62ml1ZgavHz6D/pWPIX5u2NKdP9GL0fD+i9KuklIfZNHqfO4rLr59EIlGNxoZOjJ+5hvNPvUGQn3btwkbR2LEP61cwI8Hh1qdbH+C8WcdXVinEkagKErgWBhYpWbyBU3/8FE78l2eQPMnBsiQ04wCV2C/1j6qU+D4fiRDunfpkayzRCCop5bQ/cgc6fuERbLhnPzW+EJYmKCmlpDrGEIlQnZDwq/ypesQZv1xqSChC0IwiUlmBes3AX2T8Lz+GREstZekcug/uxfqvPobNn36Ag7kCqVEOwMF5TJ66QoBIoXPnDrQ/eh+67thL6W8Rw+f7kKfqWJ5i/TjeOg/uwh3/8HNofGA7wl0N2PGFR7Dplx9Fxy/ejw5KSFEOzHwvRxmBcO7tfoQIzpsoBTV9+WFUPrIHofY6Y2JQops+N4K5y+NoXbcBbZ+/H+u/9ChqmxowePgMMucnEaNEm6cqXNFQjz1f+xwO/uMvIbquwSQa7ZmTGhxj3XMcfMl4DDu//Fls/8LDKCQ4rfYPob66CV33HkTbIw+irq0TYxf7OQlMInl+DANHL6KrrQtbfuVRbPidR7HuVx5Exd5uhNuqULu1E7GmMuSYTjFOtT1GQ2mjYe961HzuLqxnWVvXt7OPJ5A7P4GMHihRkqxubkfTA/dgwwMHUV1dh8GLVzE7zLYgEBcj7CiCZGp4CteOnqXaGUPjvXvQ8pl70Ll7O2YHx7F4mQLAYkbBkI1RlZOqbmNdj2BoClGqvlS/qf6WtzSi/XN3ouvXH0HPo+SP8jAyYzNs9wVcfesi5mfS6Lr7AFp/6T50P3gAmcU0hk/1oTCWRDRNji1LoH77erR9+QGs/6WHEOtuxAzBq3XPTmz43EPY/vBBVFAaTo1TQJmfRzGfQbEyiord3ah/fB86v3gPGrtasXR1EBlKgBH2QTiSQO229dj7m1/CpsfuZCVSGLvQi+raerQ/eBe1hbtRQ0l67MwlZCmdmyKnJRCf7/nl4DCz+snzrUi3EMB5rU5SH8gsk5w9B/WR1lszoSwqusqx/UsHsf93Po87/vHjqNjZTqYWo+foTxTQmpvGKAUVbQS2RMTMlG4oRyBSUc4RRdMURllzDSqjcUQzeRrCWo5SExld6xliklA+YmtvMSEs09LCbyxC/5pKFBsoaTVUI5pIoFzpVlO3a6xARVMjZ+EqFLUeRMknRMkxTFAapqR44m9/iEuHqTYS8BbSWeRYsTwHm95CiNQkEGss4wCh9EmVabpvAJeePYxT33kafS8fRWZyke6UOBapTg3PoIpSSmNHB0UNlquSIB6PUsplo7Ee82OzKCzmUFPXiEgDEaSF9eTMvzQxj8LkvNtKkouinKpvvL4G0eYEsgmmHSkQx11/WFqSBGIJtlMzUB1DNpemVJMkeI7h9JMv4cR3n8IA1falQgE5ThBzozOYpgpW19iMeGcdwo2cKJpYNtaNDccysqy2tGQbIZg8JXQ6h6sZppHt3CxppAHRZB750SSlauZHKWn4yhDefvoFHKYZI8Dm2HYZbRti8RRfEnx2dhGhsXlk+sdx7Ccv47UnnsLF85eoZmaIBxmq3XqCSck4FkVSoMivNDjxhAoVYr9rrTCRYDvWsTwtZZy8KpAoZ4gcGWhiEfnxJJ0bCSxsj/o4qlrqKXXWsk2XEJrKoshswuSHUE0Z+yWOSFMl8pUxpOPULqqF5EqzDhUVFQjlNGOxgSVFxtgaVWUo1rKd2Aa1dbUozi0hNzfPYudYZqZVV0M1v4plYz8szgGULheocRz9yUt4/amf4urQNcyzf+apVksqvH4w3V50iwCcsaezvoM8YFr+ZUjWKh3Loqy9HG2P7kHXL9yLni8fQGwjRXYOHE51DEMmE5cJ6EhannHjVTMZmYx2SSh5W7fR4BAjaBsFr2Q2ASPIzNE0A4pZCXgh3ps7JRoNentvkhJOgYkVo0xLaeSIhmJWltE0JokKXv20zaWGA6eprA6tde3YtGM3Hv6FL2H73XcSKCvIvBx0LEtBO3UFKEsFDB99G6/+zfeRp3rcEqtFY20D4gSwjFQOgmI4RolSDULAExBHqH7FGN3OwGOFwxxQUnO1zcYW/dUkBASVtci2kgRTLCqwiGFYZgGODhMKSYejXbvpNT8UWW8L6S0XJJh3faISHdUtaG7pwt577saDX/gsGrZ0o1gRZ/pRNiELxTYMEeSjKp91hxqcdkrVYQEG20j9oTaNakBqSVl1IEAXmHE4UWbgL1NVWYm2+mZ0da3DnY8+bPk1dbcxMZbb0lbfhE3qbKBq3F3RgC6WbfuBfbj/K59H7fZNBFhK50xXTynVh+ormw8z6lPVnnmxLIUiC6y20cMHBbba8yrpPZrgxEk+SfGewULs8yLBNcJ8Q6yXQDyrN0vEMMJNVjBFCS0tKPdA1ZZO4mx/SVjMT9qyjNqI7AtGoHSdY14sbzxuk6DWIk0SU98wbIiZx3htKa9GT00rulq7sfveu/DIr3wZNdt6qMBw4mSi7K7bkthytxb5/cAuJHl37NDlDrKBVrR9S3MLS5g914+5o72Yeq0X48evUh2cIqPmECdzLS3MYHZiGAXO2mJbY2Z9hQdEgJxQQC3ENGXPUPfLirsoOUU4QCcmpzB8qQ9JqkazVG2Sc3PUhMR5VBUk1Wg3Oge70hazLiXyyMY1ig0G3MAR+AlEKyn9tNWjUEUJgaZxA1Wtje2o6W5CVUcdQmVSezmgQwJnhle5khksnO83taqas37L/q2o3NaBXA0lAZY3SkmqurMZS8k5DLx9ErkLo0gTCPOUzqzjJTB11/MngmtX+7B4fhD5E/1U1YZR19OIaFct8uWUeDhCsjHWRSjDb4ztZINfaXBA5jkgMyxbXu2l+nPwljfUIFZbgQWiVrSVoLO1G83rOtBAtS5CqbiW6Te1NGCorw/Tx04jeWoQs2+xfyjx6emjAEwTRlRNZZIxQWUhhcnLLCPV27njfRjsHUCsjpIx04p1N5gEmiNg1DTWom1TF2o2tSFOFT7KcthTdgKU8Ke8sQ6V61qRI4DXUSrtXN+Nlo2dCHXUINRcBVAyixPko2ynnJ5mT7MwYgWlIV5gX6aIwXkhhwCKElaI/FRgvxQ0iTVWc3JtwvTCNGYuXUT24jBGzlwgr40h0V6HYksCaVYszPBRTSziOzKwcC3CNrZJlfYCgU3CvYBLM4iWQTLk1Zkrw0hfZBucuoJRqqYVbNNES4stmUgTiduEoAbkJE/eqWytQZKTeW1NFbo29KCpswU1nZwIG6hJJJSpNYtTSVUUOll7yXKLk+PRW43YCY5cB9jCrzmqd8h4ZDqpFmdH+/HkE9/Dd/7jn+Cb3/gTfOcP/wLnTpyhahdHeXcrhrPzeOPUmxgfHWFU61XrbAHZLCXA+TDn0zAZhUCwGM9gPJbETIKSX3M52vdtRqSlCq8cfQ3P/fAJ9PZfRrIihJlyMno0g0XGn4qkWI4cxycBl/HGI4uYjqVRkAjFgSApczyaokki3xRB631bUXNwI96avYy/e+EJ/PCZJ3DorVcwOcdBH8tjhulNMf4iQVLqG8qjaN22Ec1b1+HCRD/O9p7AYGYUE1U5TFQwTH0MDfs3om5nJ05cOo6Xnv4hrvSdxxzjz1TkUKjJo3prM+rvXIfR4hxeefkFvPTiT5CrDGHbp+9AYksjUuUZTEWXMBZbQpEArVYm63OwUxLhYNIaXJ7gNxtJYjpEQEiwbhw35QSQzof3YrEtgmfeeg5P/uRv8cyrT+HU1dNYYruXb2jC9sfuxCLb68Vnn8EP//q/4tWfPI9r/QOcFziZECwnw8ybbVQsBxZoCi2VuLYwhsMvPI9DL7+E+aoIuu/fg8jmelTuaMT6R3ZjtjKDpw89hR/+6Lt48ZVncenKeaRzEvlIQhCWN9zWgHWfuhNhgvuhM0fxdz/+Ln787A9x9OxxLOTmqC6XoXJ9C8ayczh87AimxR+ajCTiW7/lrN+mYhmCJKGBfkn6zVCsmgtlUKwG1t2/Gy13bcGZwXN44Qc/wOkzJ9G0vQvd925n/jH2ASdfpjEvUUwAQ1ATv82G2M6ss3huge06xjxm2F/5shD5K8w2qMDY0hRef+VFvPLGK0hyMmu6fy8iPS3IUGudDiWxFEqxTOJbAl1XHXrYl/PtZXj6xKt4kjz1zCs/JT+cpIo6b82i/mTLrJB/szzObl1i0xoJ6Nb8PjjX8l5n2I8AjdAmKUmdIfGfQKUJMEI1p6qpHfXrO9C6oRttnd3o2LgeHTvWo6arBWWtDZz5mlDT3oLG9a1I1JablKVktYE0Xl2Olq09aNjYgWhVzKSn8sYaNNCtoruZsyKBoaMVsfpqNK5rx7q929C4uZsqTieqepookcVRRgmlfnsP86JkIFWwLIbm7i607OpBqCFKyYezdn0larZS2ljXjERrNao4sOJtdZRMytHQ2YSerRtMxYqxfDkt16xvQ8u2dShvrUCBUp22VFR3taGMUkk1Z/KG9cx/Uyuqd3awnA0oo0RS09GEOMG4vLWOktRGUxFrONjKd7Qi2lZBKa8Rle2UgphHDYF/y4P70XLHVhvoIUopkeo4GrdvQOWWVmQ40KTS6l1JgZwWPNniiFWUEWi70Lp7HcKVVIvLY2yjBtR2Me/qBMpZz5bN9Gfdq7vqEaHUWEFpprqD0kd1DapaG9G6fR2aWbZEQ5VJhVqfqt+63vqgwLI0bV5HQN+AcEMClSzzhntZzn28b6LUW8P+plstTYzxaihFda7rROfmHlS1U0plW+WlrdOEo2y3+jrUq10pacZrytG0rg2b9m6hWxMlwTIrQ4JAWNnTzH7tYD+z8Sl5h6iSSkWNSGKmitfItg4RePQGRaKmHi0b1rHd6yjB1aKeoBNvqka8qhLtbL9ND+7jhNKOcDXLS34oYxkbyDMVLfWOP8rjrCNBcOd6ROvK2N9Ms7bS6l+5rgkh9k/Lpm507tqMKKVV8dmGe/eiae96ROr0cIt8S35o2taN8g4O5TJK3RURagbk1+52ROhXRmm2jdJqJ/Oo7aB0WxGzZwzXoxnbXo4+0JVQ6YOHj1PCu832walRZdzqj4EZSy6xWr9aFxPsmTbDn2g2ZO+ZFlJePIrsIekV5WGEqxgyQXuuaP56mhjSHqky16EhW6uiFJYmM2sNiOooYkwvw5k5mUM4RubkAAnZmUOUzFJZG/DhOMNJXVEaHJyFNCU33oQTZH4yrwqn92PVFREyOKqYB8uQ957uRSNa+GdkhstnKV0xvqnNsRgHJMPzm8+wTvSP8D5M1cIAmcXVg4ZCiuHzLEcoQm2GjE1/qb9Sa6jV0p9xCUoR+pNLCeJ0r4jaOptpnlrPkapOv0iCokBc4fjNUYpNUp2KJZCnxJRkYuWqfz5naqoVLFNAjuXVwl6YkwELLA+n8qcpfSSZN9ktrPYU+GkdlGFVLqTZVktUb9V02lfHfCN6yMD0tMm4yLLEqDIWGECCSYiAmqfqpYYKVyXY9kqL5ZSqLzWOamhhkVJfLm9reKojYowjf4ZVE0ekwmVoYf/rCXEhz7QiYUQoEZvKxvTML0M/MlS4Ko4iwSLCMSO1uZiKI5dRniECu9a8mLbSSUs15H0l86MEZutkegiiDdkMG6pke9vTZ4aTO9tNT3JVTi2u5dmH6owoecnWxrTem9RyB/uKPGsTOYNoEs9rTU91IXCHGNaeErPuSjNMyS1UTjvVYPGwNg8XWbYs+xgqC+saJr+HCKAFtonWmiXcrhDL6lDvhuSD3McJcO91H5xfQnHkmgc4AYY1vgYWrXbsDTtdm33VHQUOWnKdvaOohW4NooJekmZn2SkijFMwDmHHc6BoL5wAMSNGYFp6TSikgcSAAgBLgnF0IIkYXUsuklqse9l09uYESWt2GQtDfuXVWIbp5AhaypNODjiYV0gDi5Jbgaocc7WZX/lp7SSkFWSlTyCylFl27VQ0QNfeNd4rdSbvSIHkR2eVwRCefhbXCs8241WALEnLFZz1NwtDMa88jV7m5pDiwOfQY+Pq9IpIwQFhiCqXNv9qO4zUYsUmRLH9OFCsHEqbF+VHjwLbXHsLpb4ydXqo0szby18XPSTRMFf67o0HAhj97MksLTGFz6QtfD5ByUnSoi2ax5frxp5HjvUKqxziA0l8jKdcbfxZmWjUAfTXRGZHLklFVW3U1pohLAyD68psrW/UVyyotTtJmjgiBDeitHtbJs78CHe0WhRVxctPh1TmyCgZtqNqFhGfOC9Lm7BGe8H+B6QQiiItkGRcsaV1r9pH9WOi4viohqgVQIF09dpbpIryVv1sFeDkpQ3v7gglwRbzYtslCuw4Tjrq55jXJcYbjKvzAS1VK6BPri3XMt1mG3391mdXvKMjaARstPtPJG2wk/kLNBl2VJoONqzlbmEZWkwhxqcYEg5TMgOll3yK7mQK+mU4W+dNxCCRkSwfWTmgmBMHO+MqDY0ReihZCgo24MIcCGHNjBpULgECMQGNfKb9YVkyb5b3VkwaLdrrKZs4t8j8bZSIcVk+exqrjCklpsmFi/RPcgBpENmiPxNRmTLaIsC6ZOMsv404+vGrp7h6CmrszvBZtkSOokXBK79JPkxD/2ZlAEagSHNwaE0pwzAZDgC5q36S2LTEpoVxwTxTYlw6WiWUD0UWgQDbTeuOhhBh9gMj59geWYbJ0V0TlaAoygFJucRATWPXhjTLYefWqR0kTbEsSqvI+upQgAyv6Sj7RpIn+829paRBLZ2E/iyD2kPlU5kV1yYfoofaQvmpbdQGMibZsfjGFpyBbEMxy59SH6kPlI4mF9ZbEjJnC5ZREKlYBFempaoaOLEsKSJIlhKmwF3uCpYVn/FGaQvcBEbqD7loylAfMFkWwrlL2dAUYCDOtDQhFDh55NVnkl5VGBl2iB466cGKHvLowZj0GE1WauEI4vaqnzhX7nmiaE6TizpS/Ml4mnjVF7crqVtuEfK4ZRWZqw1mdhr7KcfBTHawwatuE48KeLQTwvGTBpR8yEA2AMk4jB/iYNN7hAIlMWKYA9PeczRJhB/NaB6YakDp2G/NflYixrFH7ZK8jFecVBnjTZj5aQOmtiUY0NA/zMJIVRR4mdRGhrfjeOhuQ0ADltnZ0GOaJsFwcLpy6MpQBMhsQXs6mCdBSU/fBLya/fWxV5II8PZnLhqQSo9ljoYpV4RiTIHENKOWHollkYqnrSpxtpraTfkXWU41LZN3eMWyqB4CRanmkhbUftYOTFvbSvIEGQ5zy1tzqN7vleSjMBpObBFKzrxKSmT6bAS6so00U0htZzm0UVpUlErI9LMsRI7ARatJT8oxLL2WX+sXFshaiHVT31l95E8jEFKuJkWzrXXvT0oCJknvVjlVlHVTWdSNDGppW0C6FFhWGXOzcFpGIFMxnj20VDL80WltcboJoxU1KuBiAE3A2j8Xp2wXIm+F6enASIzJunGScmDk2kuqqSYISWWKm2db5BjH+lQdyHrIT1K43pE2jLQyqW0Uh0HookJIMo/QL8zyWX3l6dVFUv67Uema261I6rlbgtTM79bUmvc0WG3wC5ikupADQvk0DaUyszMIE9AA1kciuEGC3ceZSpzMG+fAotoqhpCv37m8SNR3HM8LGUT8ZWeXeYNBayy2jiFmEVjxI8ksrjIpD0al4ubKwMhRDXypQRqMNFJ3koxjh28yjtQJCQwaiMyJNxqcQBnjJlgWgWdUa3PqQTEt8xL4xD1Ay7EMSiNNIxVdSZDHbe0wTBEhwgFhh13mshx0VL+ZTJjlCVMfj9HEWXdJamojyT1qAzMqE02ecSRlaIBIuhXAF1hYDXvLizYDa8XnYFOdBUFKQmCkN0EEFiqfSa35rO3Ri9NNa3V5pqXTmnWYgQ1dljfGdtJkZdkqNaleakfqWmpP7V1jFTngGYT1V9tqIpFAHKaELBVcHad+tUlACclNfUbwZDWs/croLFVOc4TSyrLT8rzJsb2lEWhOkhpNTmFcSWBMX+ViWtqeofZUldQOSl5AHGV4HVFl7sJEXu3vDWmMmyR9qS0ZXvWIEQgjVN91uCUrw3R5H0mQHzRpad1NfKo2jDI2/cVLNmmoLgZrBt4sofGBTfoCP0nH2lvIiUSFkyxu/HGb0i1TM/bR9YVVz5E0aDQPyqYB4SQYzWx00qxGptCpEyEtCs8RtvSMhQPYZiYyvTE7O1hzqEuSg5zMogGjtA2RmKKBmSQsFkLrftqfpTU7G9T0EiA6SZL35B9b7xHza5gTmWxdjYxrmOiStB/5C9yYAQeMhrJAUJ4sG31VCkM5MqRJfBZWCTgANoZmSP8UCz2osOBEdJXLNpYyuIFXivW2Z0x0k8TBumlwmoqoSMrK8tY9w9PNlUf1UjasT4iTBvOMsm2lBMld5YxIRFbbMBiHG9uG6fGrdR7rHpWF6RiQ0q52VE/ZJGI6MH3oLhJY6GGJne5BUrtab2jgMl2BoAW1PnFSiOya4FReax6FkEXgL29L1JVRbW0ndKj8Gtxa5Bcg6l75CEyYnvJQXGtD+7iqKAmR5UagVhh5hiVJs100WZruTDfDDpXNPgpHR7aVPXAR+BL09MTfUlX5vPJamhacuRCo7WER/RTS9xPPqcTWpuoIlTmqdlQ6FsBA2k5y1gSBBOOqrjRsN03yirdcLovkJV5Ct7IUZ3W7lcgxryPNdloCcm4eQ/LjA5zEd40wvTydujaHV/72GRx+8jWkx5PW+aq8BqeM7UxXMhrUmjEp6ZhawMTdEzqnIomMJQkAyl/SFrnHYxIxlpM+jOXIjYUwFV7d8kdPYbFEpNXsaQNB8Zmu/OkkqcEeRLAs9saEwMvULFWQafOisphaYqqtwpJZmZ8kJTvskXFMupIUoQC8Fyjk5rI49fwJHPmLp7B4esDeVlA7FQQSGiZMzpR7f32G+RrI8VZ+yl5PL7WmpdraUlCG/mkC+FLKJBLno3ahIYKpX9R+aSYitV91YuswMd1ZRTno2GOGgsyATeK3tSarLMuYo9om0NX/aWiwa1ALxCSZSUpTNN9YV9CqAS27BrxZrF/8ALxKsnOpeGEYVv6WkNxoGFZey4YfldWgSMEsvACOLrJbFNXfgZ71LyNaMIEK47JFVDglpluGk8WmAzMuHYain5WJ8RVHVv3ILmg3fwbVsoUATABnE7CM0vGA3JxcVF6Vj8pF47Wb/N00pZSV74rxyaRKy/DWpJWarGlSA3uN7PdYiZONawMidhY7JyYRn0aDwtBF0tvYIsbfOI/Fo72ITetpGBPiANRabSITQrlECpLW7tzrWUIPOtDYqz15zoDZGCIZsgMHdpbeespvTML0o4tkBKYjDJRqETb1iVCYiyO6QPXz7DD6nz+OufOjAMNqzcYGGstZLtWMgCFAcKAltYFQwPpovUng5XqKeRANIwTfiIBbwKD6Mb6e1tmTT0qrlFlRRqOz5rSnWOp5ZDaH3NkBTBw5h8zAFAtPONJ5aZJulQbDRSjZ2uqbyiFAYaZ5U5GYufwLCdarjFa5Md5kChOHzmL8pdPIDersOw42SolCbKlNTnUMIcHy2hl1Jv66QatBqWGvLrKuoNH6p0jS1uHDh/HNb34Tf/mXf4mnn34aC/ML1w200n+vDyigdyPxmIjstXY3+tp4M5sGHcFBfE3j2Js+tGi9x9695EjRmXChFO+nFpEdniW4ZRC6Om9H2DTGa9B+5zZ7PQmLWeQIfNlr08jPCAUZN661K6mWFN050GztLklpZzKJbP8sMjQ62UMSRCQuAKPENLHEPFIILVHdnF5CemAWmNOieQJIhRhnBpeeeBXnn34DCQJEZVW97aeTmlJcyCA/vIj00Kwdn2SSIWdYDXhJkZH5nB18uDQ0hfz0op1HFtJevBxBhvkVWP7UyCxyUzr8UOBAP4ETgSQ0n2W5F5EfnUNYRwq9fQ2YXELnts2IbWi2cMXpFDLD88iMEUAylPp0EKIgKF3EEtsuOss2ncmyfNOUfBcJmJrzGYYS4eSb56xe2QsTqKisIxDHEItRDSJwFpl3hnXKDS8grP8QEMBJjaUEY1KBupA/kvqI8XYjJvRB6+TJkzh79izm5uZsn9jWrVtRXl5ufgojtan0GtAni26rjb4UahzgeJCme5ENCKovUrX0KF7yh075CLF6+SsTmHrtBEYvXqN0FkNVpgxnTl1E68bN2PnffxnFlgLGj53H6FsXOcCnECpPoHH/ZrQ8ugPRdXUci8wtR3Sj5FIggA29cgqjL58h0MwgVlWJhgMbsf7RuxCvK0ffc0cwfXoYLS1NmJ4cxUTvOCqaWrD1Uw+ibnMnRl47jAvfftYknlRjLeLb2rH3aw+jYXMjJs+fw8jRi1gkgEQrEmi7Yxta7t2JaE8DijMpzLxxAVdYj5HefiQq4+i8dxc6PncQ1QSU2ZO9GDl0CvMD4yjEY6jd1oXuRw6gYn0zuzeHxbcuYeTVowTdRdRFazF1lYCTymPbP/g0Ep/ZhuzoOIYOvY2x84NIpZJo7GlG5wP7ULNrA3BtEq9++2m0h9tQl4ii99JJjM8tYvu9B7H+sfuQm53FG999AplXL6Ehl8DCJgLmvk7c+xtfQH6B7fXmKYz3XUN+bglNzU3ofPhOVNyxHoV69g+5zdYP2WcSHgV36lmTYD2S1Pbmm28aeHV1deHLX/4y6uvr3wFsAcB9Mum22ge3Ir05WpHoSAQ4gR/Z3LnpZy6D/peP480fHDKpom77JiwlKJHkKOVo/YHS1eKpIRz70WHMjCbRs/8OxCqrcPLZV9H34gmEx6jCppUec6TUkSqmMVFYQmhDi52uGi2rxNvPv2n/E4BZ5j2bwcjZS7h06byd+dbZ04VrBNMzz7yG0FwazVs3oH3rJkTqq7HrgYN44IufRQPBcIIAdeTHr2KSUt/6nfuYVSWOP32IgHgWmMhg+kQf3nryOUyNTWHrfXeh6669yJaXIU9hM3VxBEe+8wz6rg2jZ99+1LV04uwbp3H12WPs5iSSVycY9xmcPXMe1eu7Ee9sx3QujQW98RAqY7nzuPzsmzj/0tuobWpDz6YdGDjXj5PPvYHU0DxCC3mk+6dx+aVjGJucQNuBLaiqqsZrT72AiRMXEKf9wN170bax2+p39y88hjs++yAnhRyuvPwWLr9wArU1zejZugOXzl/B0Z+8yDJN6jkFQcnrJxoxoJvAVkiA1dLSgl27dmH79u1Yt24dJcPYdWAmuygAt4B+Ft0SAFdK4uuVweAxuRnvQ6fc5ByGzw+gp20Ldn3ucTR+5V6s/+JDqOioRzZPyXWpgJkTg8T5ArbvvAu1d+8neNyBxrJaLJ4bBYbSto5kg4c6akVrPfZ/6dPY/1tfRtsvPIgNlGJq47VIUfXETM7W0dobG3Dg8/dg6z/6LLb++hfQsa0H8xMTKGaXEN5MiWpLA6Zaooju6UTs7jbka0KY7L1G1TKL7u170XLfPeg+eBcqI1WYuzRCeXockwTAylwMBz79KDb9xmew9Z98Drt/9dOoo0Q0fvaaqcLd23ej9t49lOzuRnNjOxZY/sKlCcycuYa58VnsevA+dP4yAfUL96H7wB5EaipNeF/oHcPM+SF01neg+8470H3/Pejp2YKZvnEkL7ANKPQnoglsp2q47dceR/dvPYadj99r75Um51jvqijKtrYi01WB7NYGlD2wERWs19L8DOYvXcPmxh5suududDx4EF07d2JoYATjrK89vTVM8vqL6KbpKZvPYZpqx9TkFJLJJA4cOIBf/MVfxC/90i/h4YcfJrjqzHm39iayp6IBBfT30C3BJSqkFZS8rbEh+8q87WyevGWYl1tMYmpqmtJanKpnhUXIF/J2/pZAq5gpIEvJSqrn8NELOPXEC7j0+nE7yrtICSmjlUmto2skFsPITy1RnT2Hi08ewuW/fRHDh04iPL6EeJKZ6T8epOlbeN7rMWhtDKiMQc8ZtF1DIGmbX/V0M8YwcVaFQKs/LwlTghyjinrx+y9g6HWqwLkiCokEMospO6u/tqwKVQ0NTJeFUgV50VtLi7OLiM5JDe1D77deQt+zh7E0vYCQzkZjGktTlMKo/+mIcb34bmRFCdmWkaXpeaRGZrDQN4beZ47hwo9ewezAGDIM484piyLDBp+NU0K2d3VDKGusRKQsZm9hqE46GigZziFlC5VMn865xSUsjk4RKIdw4aev4+yPX8bc0BjiTC9HtVlPhX1V1J5cs431ZDBFtfbIG2/gtddfw+TkJDIZiqkkX1Lzr6XA5rsFFNC70Qq33CKkwWFA5hPvwzJ0tYEjf6qVsUQMmVwWRb0EToEslJayGjYJ0Hb+J8K2qbM+Wo6upg6s27AJex5+ENvuvwuxRkoLAjnllC5i9NQlnPjBC5SOrqEhVoO2ygbUhmJICNj41TYGG2x6pMo09UQ3R7vUYUknCqStJQkJH0sUn/QwIMT7SAKVVBd1wGVTQwfaN27B3Z/+FDZRGos31NlDjFQ2ZWta9i/vOhxMD1BoLQtHUMZ0O8Ll6KxpQWdHDw7cfz92fup+RNuaECdQa49VZo6i2CLLoJe2CTCaCFRsqXwxgmZ5LIrmGubf1oFtd9yBh77wOBq2bLB6qFX1CpBeUlckeyWK8e1dR9uDIGgKI6qNoyrfvHA+gopo3ExLdR1amlqw844DeOSLn0Pntk1sV6ardlCS3kep6CV2PVBYWFhAOq2KOlK7+kC2Wh0N1NOA/j66JQDuOjb2bnTxJQFVw+45WGSJ1VehZV0rB8w4VbnzWDg1hOnTfZTaUvbiPKpCqNxYj1hbDMmyJGKtFYh2NyLbUoNiDWFQJ3UobSGBNFpKerNjs4hXVKF+6wZUbGpFoZaSnY6gLWYIsHqGK/CkpCSxjSqrPmFKd/bP8doKEquwnfpjpy5j9PXLSI7Po7qjBYXWSiQTeURaKhHe0IRcfRlyFSxkaxUSG5oxVVzC5TNv27rX6PGLGHn7MvIzi2hqb2H5qzGjl/YZN9pdh0IzpU9Kj8XGBMq6mxCqiODK26ewePQclqg2jk8NYS60hFQsg9quetRt78BSLaWnRtZ5PevfWYMQpbRQBevBxo2yEXTcmTZJa/uJ6qLXnwp6xBuKE9/K7AHOXP+4/SGP/qgnHiu3453ylSHk6qKsUyOSHRXItBCOG8vd4yx1FttX+6/0doZ21ldXV+EhqqJSR9vb2w2ARQGIBfTzkMkpJA37NX0enLG5D2i80f2ymyyUoiRNGLTE4iiPxjAyQfVrqBeLUxNYnJvHyBJFjKY6bLxnC+LdVcjl0ugbvoKTV87i0rVejMxOIFIbQdN6ggPVOkkXkrRiHNhSCadm51CgRJUsJNE/PYREezUad3RieHwQ43MzqN3RjWoCa4ED9uKJk1hMLWLDwR2IddUyjRAmRofx9qVTGJsZtbO42jd1Ix0toG+oH5euXMSVaxcxOj2AisYy1BBEy+oqMb+0iP5r/bh66Tz6ei9hYXEOLd2dqCaI5MrCuDByFX2M28e4V8YGEK4kNm7oQKK+HLl0ClevXsHk8BCS8zMYnptGNh5B294NqNzRgRjV6JGpMZwb7MPlq+dxdfASkvE8WrvpRyA7e+YkQgzTuX8zwgTPucERnDl3Cs06Y2/7eqrhEWQm53Dp0gWcuHIByXwSm3dtRnlzHa7NjOH4wAVcHrjEtr1ohzk2s1zl9RVOzaY0mcllqA5zEqDaKWm3kiBXXV1t4GZLCZ7k5lMAdgH5dBv+LyqZfbm4JAM1GcGQxAx+JVkU6KiHw6kCpq8O49r5XsSoTrZ1dmJiYgY6w2PbXVsRpgSmPyoZvzSAy5f6tHyE9vXdaN3aisr2WgosBEsOKD1ACC1Sfbo2gdHeQZM6GhsbMTkzgVhZFB0buzA0NISZ8Sl07NiAekplSBZx4cjbSM7MM6+9qOhotD9fnjpPMLp0mcBVg3U7NqG6tRn5xZRtZem/3A+dn9a+sRMtWzsRp3Sm13OSI/MYPXsFY1evIVFdhrYt69FAgInSnk3mmeYA+s9dRnpxCa3rOwmaPahuq2ePUsKcSWL43CVMjoyhvqkJiXgFFijFtmxsIxA32JrcAuvVz3LNzMyiqqYcrTvWo6mrA5HZFE4feQuR8gQ2H9iFKEF37towzr91Ap3t69CxfYv7c5lrU7hy4iyBOIOWnnZ07FyHcDyB2eFxXDnbiwWmW1FTzXL3EODaEa0kq/E7Mz2NM+fPYXZ+AXt37UFHW6vrU+tSTiysuw9wuqovAoALyKfb7Dw46TFidgmaK0xu+MaPVFO5aiC4MeEW0jWADblE0njkx4AWJEK9S//grhslr7CyM5y9YqU0NdAIcC5L76pwMn56eqqndSWvaHrFSX9AY6/kePmZuy7CYal7CmvhmZAKoI1hfhkkU0c90GYgO/lE7rpVLyk93fjpKy+Vxa3JG0lT1svV2pJr9fPbwOLqyvT1creVnwUxlVPuNLpVkeSnfFVO2fmjhw06E82ewiiOyiM/8yepjJ6X0tLrXJZGadqMQ6EY/cMDeOGFFzE2NIrPPvYZ7N69C5FoZPkpqcgHNf+thQDgAvLptv3jZ388vcP44BbmgGCtdP6WDUA9tYzlUYjm7ZRVO8dR52oRIOyMMYaxo6y12BRnWPprHNkfjGhE2uDUQrv+dCZr/62g/ybQkw0N1nwibGkqnGDJjrvwzzFj+gIbG9gMY39SUsZ7lcsOMHFlU975BP3LGY7+ejlfL1bbcGYQhdf/Eug/QrXER9SlAz048JWHMDCX4L2Vn0ZPXRjOlgP1yhnzsrLQn5hON6atcHasCdNgukWFodEx6qqXlU9pKi9xCdtLb5CmVG+d0Kh6qYDKQ2ny3trRju6gEUIqHYXz2seM+oaX8qpK3HHgAB711twksflAFjwpDejDIhtDJLHi2ldRl4u7Qiuu/kCwRw3ud1mlpZ1WgwxZ7aJhtjKQ/JDyXyY5evc6T8vFIPDJzSVi4KJgzs0FN7tIHnKxJ5Dm4pykRiu+AgqYaVfZ5OeCyV1X3unqefhWh+Qi3nnu3t1yIJNAdct7gbXvvhKWtdGNysZJwcJ6vu7OIwvjrHZAJj966llaIT9NWZTVMvFefuZEiwBMH6ney61PNwGaXvDWSTCl4BZQQO9Gt6EEVzpyVmjFVTZ3t/zrO9mo8wBEP3YnqPK8zcWj1Y6eXeHdqQu68Tx5UQPa3YqT+/HuzeK+K062nUQWXV2ay+kYyd0LU+Kx7G9+nr9uPWPkWVyqTLekrP7FWZmwtoJ44CZyMfw7j3SrMigob9QG5ih3L6hv9bMSSfISYAnZtD8wnUvj4uWLOHr0KIaHhijkESgJZnofVxEVNlBBA/qwSdwaUEA3hZalMUpv2UzWNIMTJ05gdHQUuZyOQaKUSVAL1tcCulkUAFxAN42kkvogphNB2tra7P1Srbnp3q2bOhMAXEA3gwKAC+hDp1LQkpE9kUhg27ZtuPPOO9Ha2moA54Oa/AMK6GZQAHABfegk4JL0NjExgatXr2J6etrcy8rKDOikupaCYPBgIaCbRQFnBfRzkUBKYLbavrS0hDfeeAM/+tGPcPnyZfujYl+iEwnUfKALKKCbRQHABfSBqRScSkFORuBVW1trb31UVFQsg1kpyInezR5QQB8GBQAX0AcmgZpMqYrp26WO7t27F48++qjtqRR4BdJaQB81BQAX0AcmgZmMQE7gpa0f8/PzduSRAK2mpsZO5tV/Keg+kNAC+qgpALiAPjAJ1Py1NR1QeeTIEXz729+2q8DOl9p8cJM9kOIC+igpALiAPjAJtLTdQyRJzv5pn+Svx4l8YBMQBhTQR00BwAX0c5EvkekMt40bN9qBlbt37zaw8/38qy/JBRTQR0UBwN22JFApNQIa2fQavs5WyvBeUpU5eiTJS2cree6r6EbqpaQ1SWfya2howJYtW2wjbymQScqThBeAW0AfNQUAd1uSgMgZ//8ipDXq3feCgZpOiyPA8VosSIX0gtuPjl9nGM/NxXVpiLS2JpPNZnH+/Hn89Kc/xblz58zNf4Iq8qU1H9QCcAvo46AA4D4hZPhi5zgR9KA3DQRs2psmELMgHvknpriQq9fT/CenAjS9oaBja4aHhw3wRAJCHwwDCujjpgDgbnNykpMAJ4dQOIsI73XoUUR//mxH7+p8NgWkMXbwjZ5+ug27MqXApXutsekf5++55x47l0tuAsNSqS2ggD5uEicHdLuTSWNSTSWN6UYPAPSye8Sgb3ktzowPcCKGVXACm0DLBzlJb1pX6+jowL59++zhgjb2CuREPhAGFNDHTQHAfQJIMlvYDtaUJCbpildiXTaTs7U5iXBSR1fIhXExV4BtfHzc1tv0Jzu+SipQWy2xBRJcQGuFAoD7pJDU0YIOG7cDx63jB66N4tKFfqSX8nSTi5Pi3IMJPSGVWXkV68KFC/jBD36Aw4cP258zl57p5quopWt2AQX0cVMAcJ8UouRGGPLskt6A06f68cT3XsSbR/swPytQi9gmkiKylMIEWk5CE0kq6+npwcGDB7F58+blfW7yl5FdYWQPJLiA1goFAPdJIWKOIM7W4WhPpgqYnEjj7ePX8IMnXsOxN69hcbEI96/1YeSLWYxPjOLatX57Wqp1N6253XXXXdixY4ed61ZKAjXf+PcBBfRxUwBwnxSy/2DVJl4HcKlUFsnFMHLZalw4N42nfngUR17vw9wM/YsxZLN5vP76YTz55N/hmWeesa0gUkl19JHAzX9FK6CA1jIFAPdJIv1Xq0lxQCaTRzKptxDiyOYqcP78GL7/vZfwxqGzmJ/LIZePYnZ2wR4snD592g6t1IMFSWZSRwMK6FagAOA+SUT1U/8/Kkqm01hIzlMV1UOBCMEriksXJ/DkE6/i1VfOYW4WiEWrKa2V23umotJTeQOQC+hWoADgPjGkPW9u/5toYXEWM3Oj5IA0wvqXe/pFI3W42jeHJ773Cl4/dAZdXZvx2c8+ji984fP2hzECOuFaoaB9cwEFtPYpALhPDGnRX/8e7ySv+fkFzM7MUxXVgwW9gSBWiCISqcbgtQX8+O9eR/+VOXR1b8OBA3faA4aIjkOytTw9MVWKwYOEgNY2BQB3m5FUR0HYaiMKoYBwKGf3yWQR6VQcxWwF4/BK33wxR46IIBSuwdBgFk//5AR+9ONjuDaYQlZCG4GtqAcVSqPoNvrayxGeEXYSLmn8HAMK6OOlAOBuM7I1Ml2vM/zVGww08s8RmzJp3haivC+jrzuo0klmCi22SGBiPI0XnzuJH1Ca6+udRyZD92KM/trgqwj8UQayW0ay+IgXUEAfPwUA94kioVAUestqaTGNgh4ahAlGBCaprgIthQjzx/bMEQCnJwt45aXT+METr2Lg6iJChYgDuZBAUYCmCDQCRwM2zy2ggNYABQD3SSGTsJw1Q/EtuTTv1MwCTbGACFFNkltBW+WKYUQj2utWThW2DAtTebx5+Bye+O6z6O9fsDAhbQg2RNSanA9sLg0nAQYU0MdPASfeZmRrcDcw/NHXKJ3OYCm5RCksj3DErctFwkVEwxEyhHsRP58roJgn8EV0ekgWszNzOPz6UfzJH/8VTp26aPvoHKjJ+Cqp2ElPaT0kDSigj5kCgLvNyN+nttqUgk46mcHc7DyBbhH5fJImhQztmfQ81dYU1dW0gV4inkdlVQZtXRVobatFQ1MNZqen8TqBbnJySpk5fDM2ovGxzgPSgAL6uMnnei2oXKbp0U1fX5/9WW9Atyr5kpVPDuAkmWk3SF/vCP72b3+CC2eHUF7eSCCrQSweQ6KMqmksilg0gpqqGtTUVKKqNorq6kokErqWMwxQUR5Bc0sN3bRxmPkYF2ltjhcZl11AAd000knSOmjVo0maf0YzTDNAM06zRJMPAO42I1NHrVdLAc45mRelrqmpWVy6fBXJZB4VFXUEuSoDMAFcnCZRFkcsomOVqLBKAgx7K2sERxmfadxLEb7I5gGcTwHABXQTKQC4TzQJaa4HOCGOHXZJ50KhaK9oCaAKBXe8UYR2eYeomobgzofTc1GHVO7th2VhTWQW5bFaJxXq+fECCujm0HsFOJuDA7r9yT1ncJAVibg/bBaIRWnXthD5O2hyoOU27OofttK8l7HHq6uwywc2F4f8RKNwsgcU0MdPAcB9QigUylK9zDjoIv6Ew0WCnABJ7rSTEwR0YUpr2vgbKkZpj/EaI37RU+Id4+q0XwdoPrjJXWzkm4ACWjsUcOQngiSP8UMxTWtoJqEVpIrqOHICFb/ueHIahtHV/lJQ6qvAzkBPT2P1poMvrenqg5tUWK1y+CZgq4DWBgWc+IkgwRNBKBQleAmotO4WsXU4QV+YoCUJTrs+ZLTp13+Y4IDNrdM5UJPUVwJwuviGaYOg6KS9gAL6+CkAuDVNpehRagRMzuZufbc8P3qZniAkVVKSGLs4b4bgRuCxOAZmhDwCnt5IMDcRpbci0/LvDdOWSTcyYhkZz7M0jB8koIDWCAUAt0Zp5S0EAleJMeAqavGfsheRqJDnD8PJrUBwyyGLbGYJi/MzWJiextz0HCbnl7CQyjAGwYw97mQwgZ3OiJN6KYlMT1Wlwro1OEOqdwCWr4rqWsI6frhSE1BAa4B8VhTXBttE1hDZfjbCjzMrpA4TxgnipFdGiHJSI3XabiqfQf/QNVw8dQKnj5/A5Mg00qE4Kpra8PBD9+HhB+5BeVm5UnD725iQ0zyVBy3GDfoxS0ABrVkKtonc4iQV0ta9rtcTSXTXO6MRwVoWhUKGAJXHyMgEnn76GfyXP/4zPP/88xgi0E3NTOLS5cu4eLEXqWTGS9Olbf9hKqS8jgJwC+j2ogDg1jithhvJaxK4wlIrCW7hcB4Dg4P4zne+i+effQnbd+zAv/7Xv49/941v4H/5X/8XbN++EztoDhw4gLJEmRPWSNoSYkBHBzvlN8C1gG5DCgDuVqDV4BPS2lzOnn6Ojozhm9/8Ji5cvIQvfPGL+Ee//uvo6dlIlbWAq9cGkM5msXf/PjQ1NzrdlmCm5HxzPQUoF9DtRQHA3QIkZXQFe/R4QXvV8kguLuHQq4dw9uxZ3P/Afbj//nsR1X6PQg4zcws4cvQEKiursXvXdkpv7h/owxLdGN++tn7HpN+hBgcU0O1BAcDdImQgZxY9INC+tTCuXO7F64feQEtrO+659x6CWYJgVUAum8OVKwNUXUewbsN6Sm91FtUJcJL+LCF+1f0BuAV0+1IAcLcA+VtGvBvbDpLPZHDh3HmMjU5g5449qG9ocNIZVdfh4RG8/PLrWEpmsXvPXlSWl7mOJjC6Bw1Mz+yWoH7eQXK9sU9AAd06FADcrUbCsGIeqVQKk+MTSCZTlOBaEdcDBHpPT0/i/PnzuHbtGhpbWrB+wwak0klMTE3ZybzuXVJ2vKeW+rjpUwBsAd1OFADcrUihCNVNqaIZFAo5zM8tIJPJ4fLlKzj+1nGC3hLC0QhGxkbxwx/9EC++9CLGx8cYT9KblF33RoOkQg/nAgrotqQA4G4x0tsL+nf6srIyNDfXIx6P4Yc//BH+43/6Yzzz0+cRDbsTeWemJ9B3tReXei+iuroa7e3tiNoRSdpmoocLTOhnqKgBBXQ7UABwtxyxy4phRBNx3HPwTpo7kM6kKaHNYOvWndi37w6qqzFs3NiDf/Sbv47f/ae/i0cfegh1NbUmvWmDr6+X2pIdrwHEBXS7kq+gBK9qrUly0KNtISsw5F6OD+eX6JTG0OAkxqdTqG1sQ0dbM2KRDCYnRpBMJVHb1InKiip70zTESJLaQpLebKsIiXZLm7c6GMlP2yefOf5+Ko0lYkw6Fe3vBJW3N486Z158kKVDyOUp40LJJm/3MMTsVhJn922h0hNLPKsL4UivoTl3/nhhLZ4esNidyL2Ray/oKhwnAOenHH27F0/tZvq83cmZ5Ifw7wP6qCh4Veu2IA0ct2am03ed8WAonOC0VI2OdZuxb/8erO9uRjwm8IqiqaUL3T3bUENwU9goTYQD2/2/gtLwPrwPE2D08eHF5fh+hqwGealxFwedOtUk5/RqYR1NgW4FnRAcStFP/i4v560TUdxHd+6qX+fjG0e8CiRlmH7BO0DFpwLrq7zc3piSoLyxctGmwz6LNg70R6+uxq7uDtwUKutdlYge7rgrUzEju9LVVTECWmsUANwtQT7klJiQf7KHSIPLH2B+GOe2EkMfZ1+hFd8PlZicS5VlcKLjMgl2HLiQ9bJZzIxN4cVDx3DxyhAyeTtCgOQSWC6xJVFaA3l6Rp4EF9lkdYd2EkRpVmQwRw7DFJbG0NDB5czkJF57+RD+7M//Cn/17W/hxddfxNjEqPs/a5LAK8+ELbrIJEtnXDGWfQJaY+T3TKCiBvQByR/sPomlaCTVhNz/ONix5zoMk998OIuBgUt45ZlncfHcFYyMLSATL8dvf/23cfeBnZRCY4S+68HYpKNVILJ8RyDTE+VCUQd6MiZx08CN6OROTKG7VFRLkGWiPGYqMimXy+DYibfwg+89hSNH3sTg6BjSuSXyfgfu3HcQX/riV7HnjjttTTPCeDFftb+OLGErYwB0Hx0FKmpAHzO5ge/MilXSU31tHfbfcRdy+SJeefUVA7WGhgb7IxwXwv+UkEDOM6YS6mNSmAdm4mSaHNVVxdPZd+6JsyKvkEl1ipcr4NSpc/ijP/1LgtxJfPrxx/H//N/+7/i3//b/hYcevB/H33wT3/qLv8GVy1ct7SLBzU7h8/JfIa9+Aa1JCgAuoJtPyxjgVMOa6lpsoIZQXVMrF+zZswctzc0EEm1jEemUE4V25CSj64HEFEw66Y0M6ZJaH9ODAB23Lrb2j2W/Lp7WzbSixjiLszN49ZVXcal3AF/8ylfx9X/yT/CZxz+Dz3/uM/jdr/8OvvS5z6H3wgU8/dRPMTm1wFhazby+DAGtfQoALqAPTL40c70R2NCTWLCybuYRPUyC4u/gwAj6+69h0+ZN2LJ5AyoqEuazYlxII1oMx/Rk1XMSMTf7laPyHRufxNDQmG161lPY69LwyF8DHOzvx5tHjmPb9r04eO8DqKqu9g4iKKCpsQGfefRRbOxZj7ePvY3BwVHB4rIEJ/KvAa1tCgDuYyYfGHx76fWjpg9cDuGCpKzSNSgvqi4OiEgWjvZ8Dr29V9BLgNu+axd6erqRiGq9zAVTtjqjzsVdReYoEBVQKYy7Do8M49vf/hb+7gc/wPTMjMtrNTEDrb/ls2kMDw5gamoaXd0b0dLeYSqo4FDrf/rf2I6OdmxY143JMQHxVSxlkwZw19WRpDb6uPoroL+fAoBbA6QBoiPHtQlX1496wCg/2wBMKr3+fYPXVEf7OsnKhv4yAAh8Sj+UgahGiuZmZ+38ulQ6iy3btqORElOU8YhxiuaS4I/U1DyLoxJYWVQ2GSuT0tSTzRAyqRTOnD2LkdFRrN+wDvVM753kxwFSqSTGxoYRjcXR0NSKsgrvGPflEGEkyhO2r1CntoyOjCKdyTInqb309shvn5/VRgF9vBQA3MdM/gDRWW0+6V4A81GY0gH6YYCrG/9Mg5YS2HOcZiJaCGPDozh77jyaWlqwZetWVFWW4fTp0/iDb/x7/Of/+J9w/vwFgplLQ/+pI6ulJnSh0cXAqKAnomGqplM4c+Y8GhqbsJWAGY3pz3RUCn4Y1tvna6R4OYLVzNwMYokEqupqTWKT5Kb9gO5fxijFxSMsXx3KyqKYmhxHOp1RCdg+Lh2fVCa3RhjQWiS/Z4JtIh8TjY+P4/vf/z5Onjy5DDY+2N0IbH6ewfRu4OUPUgGc8k6n0/it3/ot3HPPPYhG/b12NyZTEZluabncWwi616K+UyJ1xLqtiGWW8OzTz+L/+A9/jB1778Lv/fN/jssXTuFbf/WXeOvIW6Yq/oNf/3X8g3/4G+js6tb/6qCYKyCmNHiTZdkuXDyLialxhHifpjR26cIlHD12Gj3rN+Ge++7H1u2b0dbajDjLLlDSf1u71Tht6E1jamIUf/6Hf4LXT13F1/6bf4HPPHI3quJA3ABYf7tI8E+n8PpzL+EP/vNfYf2ePfj6v/o9dDc1IW7760r7wPWV6Ofpm4DeH73XbSJ+jwQA9zHR1atX8Ud/9Ec4dOiQDRABjIDmoxwsyssHVx8E/+f/+X/GY4895m3deHe6EcA5kYkmZMvyVE4FCXlEGDY7O41vffNv8b0fP4/HvvSLiJdXYHFqFHft24uxayP4D/+/P0TH+h78q//p/4otO3YgThArUk9N2FPRIqY5Ifzxn/whnvy7J5HKpCiFAtlMEbkipbZQBOvI9L/9O/8YX/zC46jy/kFMubuNvQK4DCbGRvFHlBTfPD+Mf/D1f4nPPHAnquNFxLSJjnnoFbNCchavvfgi/uA//SW6tu3AP/0f/gW6W6nOKsPr+iYAuI+Dgn1wtwgJQCQlJaguiXK5nIGcjAbMuxv5vx9zozScEakMsZjkJEdSX1WWd5P6lundvAUoimv+gjlZipiZmsTly5dRWVWNmZk5y/crv/gVPPDgA9izaxe6OjoRodvS0hKoOSIr8CTI6V/4lV5dQz3+1b/4V3jp1UN4/fU38B8JVL/8y7+C/9v/+v/A4TfewJNPfofp/QLiiTjh1AHsCqmuqjN/o5xMYmwXa+sQYgJyAbOAkvO98gxHC4jEiuybmG0algpb9NoroFuD/N4KJLiPiSYnJ/GTn/zE/ldB9PdKTA4n3j9pUN9gbArABHL+epwAJ5lM4ld/9Vexb9++ZaB9N/KfZl4XxoDCLFQ5JcHpJo9oPosTrx/Cv/v3/xmjc2k89uWv4vNf/AK29LSRAYu4+NYZ/O/f+D8QqijD7/6z/w5bdu6w9ggzj1iBwJTL8p5gV8ixvFlMTk3gqaeeRd+VIXz1q7+CrTu3oxAmKDGO/sRaEmOE5QrTZtonyyAJbprq7V//xZ/hucPn8JV/+N/iq595ALVxzvU5GjZ/gZdCZhLPPfUE/vhP/xZ3PvAYfuP/8nW01DeYino9+etykr7fvZ0C+nApUFED+rlJf2zjS3/vRk7CWw1wkra0/kaIkTNVVb3qlJmfwQ++9wT+8M/+Bo092/C7//0/x8E7dqMinCW4ZPHWmyfx//m3/w4bNm/H13/36+ha10mgCglzvHU0ILM4izfffAN9vZcxPDKBYycvIFpWhb1796OyugplBMe9e3dhx/YtiEeloGjtz2QvsxeRweL8HL7/t9/Ct//uBXzxl38LX6PEV19NqS1PELb5hWVdmMd3/+Zb+Jvv/BBf/pVfxS/+xi+jrqoKMQN0j1hnexhi1hVpOKCbT4GKetuSG6i6yuY2oMpoNUwvmetYcgKGXd1TUY3Bgg1uvRuq0G6Qys9JHzci97Dj7xu0zt9JMb4xcKPJCwAELyoA75cWFnCxtw+Jmjp86vNfwpbt2yy+alLMZ3B1+Bqi5RXYvfsAWhpbESU6hrOUwhidGMliUxqkpDk9PYGzp0/jxedexNT0LKrqGzFCae5SXy/6r/ZjbmYe+ZzqrbQdyKl1zBTDiMXL0NTUgkguj/mRMSwms0gxVCaif7tIsomWCHAZDA3Ms9wJtLf3IBFNeFKgq6+MfVh+3wS09igAuFuEHBgJKHTjD7CV4eY8aNdA41fAwhvP2PcddNMGpZevU3t576msU1THxycmsHHjRkpZlNzK4y44/fQWwrlzF7F16zbccecdSJTHUCSyhWMCJqqkYSJcKIuyyhgee/zT+NV/9KvYuWc3vvKLX8D/+D/8Hv7N//Qv8W/+zb/EP//n/wR33b0HiZjkNrWCaxdHcolSskugs70NNTVluNJ3HtNjIwaikvMUS3g8MDqKKwP9aGxtRQ+1mXCcSvSq5nLS601sx4B+bgoA7paklQElm5OTSol3Nuica+nvaropY9MDOINgYkDI1hVDGLw2YG8ZtDQ1obamhkADaOkrvbiAI0eOIZ0r4OFPPYqOrnY7FYQCJKNRKg3nCC6USMNUN/VwIBK1v0TUHrmDB+9Ed2cbGmqq0FhbjdrqSpQlogyjIjCATQy6qCwskQwT7lnXhf0E2St9F3HsjUNYmJpHwiAujMmpGTz7wou4NDCA/XffhdbOdnvHtbSp/AknALe1TQHA3WJkMkPJmNKrR3JdBjkTM3yzipb93gu997D+INfV7CqkAICfAlVTreVJRU2mM/YvYOlMxvazCXhmF5Zw6PUj9k9gjz32Gdx5h6Q3wgzBT2q1U6YFSnq6qb16BMqhcbzw0mFKVluwnkbQo7cclkvMSMvSlQytDp788hVR21CLRx99EO3NjfjOX/8V/uJP/xTPPvsMnn76p/ijP/5TPPnUU+jZtAkPMEwVJT0/rVIKwG3tUwBwtxw5pcthiFRA2ng1tJCjRB+3LG+AIKdluokD8vrBLjslLUpKeuqpMhbyBXT2rMPGTZtx8cIF/ODJJ/DKS6/h0KHXMDA0iK/80ldxzz13I5HwThRhwQsU0fSIQetoxC97batQCOPc+StYXMjg4D0PUhKsZwjFYT5Cw6JksCgioZWTSVYbmwooke3dvw9f/52vY8f27fiv3/o2fvfr/wS/93v/DE/+8EfYvnMH/vHXfwvbdmyzWNqo7BrYUQButwb5vRQ8Rb1FSEPMCScappRaNKpt3Dpg00vqSUlH/CTiCXuXUuSG9XVwR7pJ85s93NCCvVNNo1ItdXR5LodrVPteO/IWLl4ZpBTVgAP79uKufTtZ1jhyWmazI45cHXXOm+qmJ7l6WqltGOlUBieOn8TM1BwO3n0Q9Q2VtmbmwrnHCZJUw3rsaq0gL8fmAiWbB4oZ4tsCHSiZ5RMYH5nEhYsXcfrsKcQrYli/eQO279iDhoYmF4+R8sUs1emoU3EDcPvYKdgmcpuSBqwGtMBK+8P0nwcFOkxOTGByZhbTc/MYHZtAc2sr9uzehcqKChugGpPvBDi/+z/sASuVlOUUWPEaFlDls0IK3mgzsQOxFSIgSo2VGqp3QVU/AymBEb1VPKuDe3ChV7aM5EljcRjGhdc9AXW5Ss5i4Ea7tV1I/7SQYQEl7SVcxFXE0jj1mOlFWH6bSJRJiCC3nHZAHxcF20RuQ7LBq6sNMDe4RflMxs5We+H55/Hnf/YXePIHP8DI2LiFVbi8vT/p7kpJ2yYsnQ+dCDgCFkuaP7pq1V8SoyfdKWeBiAGJVUh+LqbeYLA9swxk62cyuqEUFQrnKAimmIYDKT1hDYVZv7C2xRC0Qry3PSW6KgEvESuE0tG6YJj5Emj1xz0Ct+WCKJRttrGr8owwLUmfetXMtaFLxyd/rc+/BrS2KAC4W5A0luypoFCAXz3hW7+uB52dXZiankYsGkdnVxfiZW5xXJsfXFfLyO4NU6VjdxzZqwbuz0dS45iXsjLRUXYak5SkMBr8LZfIAtppvrpToYg21xWHgKOnqDQhApeSEXgVCD5FPWVFlqCl90wFQnriSnfFEWpJmqOxyYHim3LXP4lJadHanmVj5ZRxmfrlkvHLarRscRSA2ton9WFAa5hsYHqmdO3HrScRmKjaaW2qvq7W/u0+Ho9j02adptHO8ag9XW7tys5SKyENdKWxasx+aKShb5jh2R2YOCNHWz/0fAwEl0PThUCjF94paC0jjbZ8hEKUukLlrI+AW3voKIHRLUSwkgGlskIxxnZRuKhJhgZPBDT3RgaDMLuiXvuyhB0VwoRDGZe9lcLP2sJdVz4vkEelfRLQ2qOVXg7o1iGOKadCeTeRMObn5nG597IN5PUbNqKurt7GpYMwgYjARKR7dbt//+HTu6fsIMORQt1AcmShrdyluMIfqZXTM0m8cfg0nn3uBM6cmcTEuI5PErBFKZUR1IoO6CIENxjIOaDLE7m0TmlgpPQI+hFm7TO/YNCkPSvPalIogibTMXD2yhtIb7cG+X0c0C1CNj7NSKrjgPRAYHp6En29fWhsaELPunVIlGmgE/sEGPpocGtQfsQDU8UrpRWJxwc3W11bNq5uUjH1cfeSxPIEr6VkCK+/dhF/8WfP4T/8wU/wB//uKfyf//4Z/NWfH8Lzz1zE2ZOTGLiaxNREAaklxstSamNcPUnWlhU/ddPsaTVjufrg5k0aEh09o6WAvAx0HJNT9gO6dcjvr+Ap6holG5IeKAkcZNMOfj1BDWvNqZBBPpvFa4dexx/92V9j596D+PXf/FU0NtZjjqC3OL+Imtp6NNTX29qV3+W+eujuZJfNNysuH5RK48suWknPhzOVYvkoTHuhXqgTsv+TV2Gl0royaQ/cxFgaf/5nT+OVFy8gl02YVBaNZqETx2trqlBVXY4YNdfGxmp0dTWjpbXOtpE00FRWx1FN/7KymK1ZugLyR6owS+DgVAAmULSGMpKrVFcLThNRX3ggXbpssHoJIaCbS8FT1NuANKiMNG5oNAi15SNqR3XrXgCQRyqziLfPnOToi2Pdpm30KOD1l57CH/77/w3/3//9/43/+r2n0T88BR267UOLgENj1Q1ska6+cbRie/9UOtS94peQ7txTVUmXDsroSmfdSyV0pKeX7oAAXwALE3yiqEAsXINEtJYgX0fJrhLDw3lcvDCHU29P4bVX+/GjH7yNb/7VK/ijP/wx/s8/+A5+/MM3MD6mAzKl7jIpAzbV0JXA1vFMahPY0t0rtMqkrL1nwM7Bo1JAC8BtbZL1WUC3Ehk0cWBrcGoghrCwuIgr/QOoqKpGTX0DThx/C1f7eu29zMnxMbx66BDePnXSXpESaSgqtg1gu/uoSXn6xv1ez4grfr59+Y71tQcOagdd6RGJxhCNlSMSqUAiXke/SiwuFjAxPovBgSFkshk0NzehprqMYZSI6u+1n5HSd/nciHyfG/sGtJYpALhbkTSqNdq0p4y6W//VQUxOztnO+/m5aeRyWdx/3wP4pa/+Cu45eA/VuTSmJyfsdSmRhrUbsJLi/IH+8Q9fAy27+kZo5O+f48VIljw93fHjkvKKhZz3hzkulupUYNtE4kXs2bcFX/3q47jvvt2oq4/b+ltem44D+kRQAHC3GBkc6eECB3A47PZ3XbzYi1Qqi1g8ZlLN3XfdjW3bdlJqaUNLWxu0EVaKqb9E7iBtGTFIa4ENXKlWSGVyKqwJqyVkIb09cKpSJBK1k4jl4/bD6eTfDHbvWoev/tKncd8D29HQRHCLUKEvZPTQOaBPCAVdfYuRqWgc0JJCdLjlxMQkTp48jfn5FBJlFTiwfw/aWwVqDIMopbm8PVGtqiq3rRciuxhKSMVzoGdIsWw+LlqFZKvJvF35nKznrhJM87mctYf+NSsUTeLgvdvxq7/xWUpwXaioILwT2Ir2RoJWLj/OOgb0UVIAcLcYSfLSSb2RaIgqZ9aeJg2PjKOzsxuPPvIo2lpbOOC1MB/C0lIGw6NjaKyvxbqebvtTGQchDthcWqWgsjLwZfvoYYA5GvDKvmxZRSoV2dYeCOj/GqII6Z1SSmeJsgKiiSXsJah9/gt3Y+uORpRXFNgeKYI7pV0CofbLaV9cQJ8MCgBujZMDIe+GJLtbSaOdUsuVK1ftqeA99z+ALVs2IxELI0oJL5fNY4TANzE+ga1bNmLjhh7EwpJdVta59OuSXnH5+Ij5l2zPcKTS0XjFE6jrH7fCeq/V9m5on5raJ0O3FMEsi9bWONtjAlevncT09JippOGIFF2CoERYxrE/pVHyy9Irna2RXWsEdPtQAHBrlNzAvR7cRE6l1ODWfxwsov/qgEklu3buRmVlmblTH8PMzDzePHYCTU3NeOjhB1FTU+UGNclX75SW/g7P0luT5IOOK3FZIoR4LGFVtHPiKLmF9HJ9OInOrlrcc982rN9Yg0h8EZd6T+DatcsMo7VH94aDewixQtffrTT0itoe0K1OAcCtUdIgWzHm4hlJcByMVM/m5xYxMz2LisoKVFaXWzjJZLOzszh65Kj9Q/3nv/BFSm8b6K6uXpHeNJxdamuZBVYAzo5AYlHD4Tzy+RSBOUdpLkuzhI2bavDFL9+HBx/ag9o6vaaVRj6XtROainm9m0pwo8RnwKX4Wo+z9FeotL0Dun0oALg1Tm64ceAt29lpNtIlwYRsXW1qahJnz5/G7MwMhocG8eLzL2Bubg6f+dznsHP3bobXa1uMI3HwOpFwjQ1mv5LLxXIWezAg4KE0VsgnEY/r3YMlqqIL2LylCb/0Sw/j4Yc3Y+/eduw/sAO1teXYvWs3tm3bhWhU76gyDcbPFwSOBMWwL8M6Mgi1Zil1Deh2IL9Hg1e11iDZwLPfFXJuBXuboZjP48K5S/jbJ57AiXNnUVFRhnv278fDDzyKLVu2IlJGdU5qrt4EYE+bdGJfdfvKs0T/+vGSying8edcV1OVzrkDC/M5fPOvf4qfPnWMzuXo6mnBb//2FwniTfamg9YitT8um8myrnr/VCeNsLXy7pDMaCxC9xzbRDqu1uG8NUi1ES12xJOSCKS4NU/Bib63Abkhfz3pT1w0QDV07WmDJBPeZyMOGiJFvZ8a4+AO68BaG/TqZJ2fJrBzGCcXH0ic/8dNAm3bwAv/XLgVctIVZbbFLP78z5/EC88ew65d+/Grv/4FbNpcY+Ct5w7Cp4L96z0ngGic4ZN49dBruNJ3lZLdfuzbJ4lOG4cpEboXc10bKwNvk3Cgpt4aFLyLelvQOweaDUATV+gnBNOg5Ah30pkATAvvHLR5GY5btxfWsMNC+4AntzVHAjidJOKRLH55VS9WoL6+HA89fCd++3e+YuAW0X+naiMzKypws3d12T7a81ZEFpWVCVRU6t1WqadSdSXF6eijFWLrWfsF4Hb7UQBwN5U0jCQ56ThtGjslQ4PYDS9JLfqYnGZSBL8SZOTtgixfdeyPSRlFDnS5CeQkjCgAnfXavSldQgHe6+8QJNV4G/wNBA0hbAD73e5n8vGTSuUUCauUI+dopZSUJenr4MF9+DVKbp1d5YgJtxRGwMT6GXhF3LltenE+nijD5i2bce+992Lduh7E9UesagZLzxlrUw/UBG4mzQV021AAcDedtN6j14qkOnnSCQeVARmHmv+xQaav3yPu1hbXtVomb2GUO+NNZ5MxGTpIkNNDhzB1Uf4qpAMzW0h3BxEJC006sc9Kl7v7tUIqu7Zz6FpCvLGm4U8sFsHGTd1obq1ANMaWVDVZV5Nol8Hbu6fR0e0tza3YuHEzWlpaLI3FxUXMzc8hk9Z7rC68GlNHL9l6pWcCuj1IPSwK1uBuGkk+kwrFL6UK/dfn/Pwicjmpk5RWrAcERm7TqkAwzcGXz+ttBJGkCoaw9bYipZAIamsrUF5eYRtYNZZFimvj+x3kDeLbhHzweS+qpA9WBu40erJ8+PBhTE1N4cCBA5Tq1rm3O1aFE72X9AP6+Ch4yPCRkgadjJrznQPDBg8/khK0d+3QoaO4cPEKcpkECrkyjSYClcCuSAljHtPTE1hcWLJtIKZrMmkJKPl8Gs1tlfja1x7Fnr07UZZImLsbnFpgL5hEcz3duEyfBFK7iHywGh8fx6uvvmrXBx54AJs3b7b/sPDDlYYPAG5tUwBwHylpYJiIVWIc2ZixH+eWzRZx4Xwf/uavn8DptycIcDppN448JTr9C7y2ORQKWboJubRrn+oo40WjBWRys1i/qRK/+99+Abt2b7GjuEX6kxYDugDglskHK58EWFJPJycnbSKQylpers3RmnjUbk6C1r1/DWjtUvAUdY2QjRNvsHAcUSUKUXJYj1/8yi9gy7YtiMa9P0qJVnKQVZsJ0QDOFItVCIeqGDdOvzLU1zejuqbGgEygJuzSPi9JiG7rg2VYYj6ZJIDywUoAJlNRUYGenh6bvAVumUzG3vpYWloyf3em3PXAGNCtTQHAfeh0PahovJihXTgneywWxp59G/CVX3yQINeISCLNnsggRxU0x0Fma3MCK32puuo2jyziZRG0tjbZQFU+fpp6uqiB6camD2yl5pNJAi2BnF6uF/mA59t9lVXrcgI6X4oL6PahAOA+NFJTvrM5BUBhPdEMc7BFpApRFY0BZeUR7L9rPT73pbuxcXMjwpEMw9LfnpBKLdVg44BkAlq7E3rFKO01NjXYupFwS9BlT1NdTjZoA1ohfzOv6EZtk0qlMDQ0hLGxMXtvV+SH84HOTRxOCgzo1qMA4D4U0qAoGUAaG8uCgCwaHNr/lqMtb28j6IFCVVUUd969CZ967G50ddcTADOwP+xkHHfyRdipoSRt/dCetobGOpSVJZZzs5z5E2DbjckHrNKrD15ah3vooYdw8OBB9kXVMiCWgpxvSuMFdOtQAHAfAXGIeL8+0Gk/nK5Z1FZH8eBDW/H44wfR3lmLfH6B0kLagEsDysCQ0p926sutqrLSVFz39NSZgN4f+WAlUNuyZYttF9GanKS0XC5nxgezUmAM6NajAOA+SrIxox+poiFks3lcuHARly9exP471uOLv3APOrprOJpSDKP/XOCgkmpEkJP62thQj7q6KnhLSgyngaf0nJTh0vZNQO9GaisZSWwCLh+8rl27hhdffBHHjx+3BxAiH+hEAcjdehQA3IdG7wYqer7pXSl26QGCji/K5QrovXQVLzz3Cp595qc4f/EE7ryrG5/57D40NukUkBRxzZ0Cor8IlMTX0dmE6qqEAZsvFS4bAuDKfUA/i3ygKl1XE5BpA/Dp06dtm1Q2qxNJHPjJ+KAY0K1FAcB9KOQzvnd9x0TvnZBR9AztepNhfGQGU+PTmJsfx9DwOcTKUnj4U7vxqcfuQHNrFdMhyBX18EFHcqfR1FyFsgrXZRxy/C0FNd8E9F7IBy7fLmmuq6sLDz/8MPbv34+ysjIDND9MqT2gW4cCgPtQyJ/hvVtdvbEgN/+Bga62BYSe2qRbVVWBsvKEvS5UV1uNRDxMECsnwO3HQ4/sQmtbAuFIkjCWtKesdfVlDK9zzizplcG3DGy6901AP4tKwc03TU1N2Lt3LzZt2mR9IikumUxetybnk3+/2j2gtUUBwH1otAIq7sw2n/Hd+6Xa6iFjL3vPzSFfyGLDlnYcvH8/Dh58APv23ofKilqmkqUqmsBjn92Be+7fjJo6HbetPXAEwcZKJAhwSnOFODhNQhRwyi8At/dKPsiJfJDTnjlJcwK1y5cv2x65gYGBZZCTWqurwupa6hbQ2qMA4D4E8hndN/5gEfl2DQItXJ85cwavvPKKrfNUVJTjwB378cBD96Ozs8P2wEn11B86t3dU41OfvhN33b0dFdVFNBLcqmoo0UUdvF1v9BsA24dF6kPtkevt7cXRo0cN4Fb3q9/XIt8toLVHAcB9SCQmL30q58/q/kK2JANtJr1w4QJOnjyJiYkJSnpFlJeVo7y8jHHcoFFwAVYoXET3ugp88Uv3Gsit29CM+oZKh2PaOqLBtWwsi4A+BPKBS5upd+3ahU996lPo7u62vvWpFNj8Pg9obZLfM8HL9h8C+YzvX0sHhUhrOgI2qTs1NTWorCxnGKmWNIZT2g6Ss2lHL9lL7WQUjAzNYWpmAp3rGtFYX7U8K60MLF2DQfZhkj8x+RNVNBq19vb7ViQ/v4/lvrq/A7p5FLxs/xGSmNsfED5pMAjQtPVAoKbFarm1t7fb0zptMpVUp7g6BcRhlX4IbEVetTVEr25FiujoqcGOXT2oq62wcEpnBdwC+rBJfeKDmYzATS/knzt3zqRvvdqlSSqgtU8BwH0IpMHgz94+8GhgaFCcOHEC3/nOd2wtR2twAkI9bHDhtagdtoMr856k4LpERoMsb//9iVCaV238dekG9NGQ+siX3PRgSBuADx06hOHhYXPzX+IP+mTtkhuVAb1n8pn5RkwtNwGYD3gaHIlEgqpo5fJgEOkNhZX4vFJSi0ZDiOo8OE+Kcw8cRAX7H0/9kYr+ZMb+od3cA7pZVDpJ+Xb1oyRvqUX19fUr0rcXxg8nWunbG/NJQB8d+b0SrMG9B/KZVcz8sxjX99P5Ypr5JckJ5Gpra81d8QWA9m/t3qtWy5KbrNYrHDzQP0PpnVU5qYtkZPfj+KQIKwMsoJtD6le/b13/rQCcyLeXXkWy+2EC+nAoWIO7CeQzqs/ApUZukt76+/tNlRkcHDR3zfadnZ2oq6uzQVFK9PaoBKBK3PSQQcYeQpgp8Q7oYyG/v7W2+vbbb+PUqVOYnp5eltz9MP7Vtwf08VAAcO+TfCDzZ2ddfSMAk/SrdRpdtebmhxP5YWRK03CwdaOBIDeqpUUBHT/LSa2kGdBHRz5gqd8EcMeOHbN9jZLQ5eabUlALAO7jpQDg3gf5gKT1F5/RfTfdC7Sam5uxceNGU0flprA+qOnexbMoJAdg13eDPP0A9Ce4LfvbWFmOHNDHQH5/61RlPRHXmXLaM3d9/zqQEz/IBPTxkT+9BGtw75PEuGJq/31F2bUQras/CHymF/lg6Lv5g2CZFMVu/QGhmxUwdEG1HieH1fOSCxvQR0N+X2qNVX2oPhU/yC4jd7n5DyJE1/V1QD83BWtwN4F8xvaZVkytPVF6X1F7pPSmghhZjO1LbiKf8VdLfpaMb5ZJNwI5Gc9j2d8dlrkqQkAfEanPfIlM/agX8n0Qm5mZwdWrV23Po+7V934/B/TxUQBwP4NKGXQ1o4rBRfqzEr2UrYcKkuZKGduf1W9Ecjcv3yyTusRXSxlGTvaj/OUmYdv53SByQDeR1Gd+//okN0ls0npeeukle+igNTmRL+UH9PFR0Po3IB+gxLw+UJW6i3y31tZW+xPh3bt327HX8hdTK64fRqR7n2QvvTdavvVBy3PgxQXVj8BN4Of7l5qAPiry+9cn3VdXV6OhocG2A5WCmq/GBvTxkN/ywRqcR6XA5ttF/nV+ft7+PFibeBsbG+1gxFIG9gFQbr4EV+of0O1Bfj+LZNfpI1qLldqqBxDij9VUyk+i1fcBvXcK1uA+IInhxHi+KZXCRCMjI3juuefwxhtv2P4nhdEsrXCyi/yrZvLV8QO6tcnni1ISzwjUJMHpHWPday1Og1A8oqULP1wpBeB28ykAuFXkM7DAyTeljKh7bd7Vxl3N1iL5y13kx9VV4Oa7B3T7kt/XuooXJM0dOXIE3/3ud22fnB4+yc+nUntAN5eC0beKxKClgCbG1Qys0yNk11sJn/3sZ+2/NDVji8Swq5n2Rm4B3fpUyhs++W5+f+uq47DEK7r6L+wH9NFTAHCrqJRJRdqx/uabb5qRXXvdpIb4L9ArXKn05l/F0P62kIBuL1Kflvar3+8+H2hdVg+dPv3pT9umb20ELiU/rh8voJtHAcB59G7Mpv1NevSvY4/0cEHhZHw1tJTR5SYTgNong/x+9vtdJDdJbHqTRW+1aCKU9K+126Ghoete63q39Vn5BfTh0CcW4HwG85nJZzqRmNQ3WmvbuXMntm/fbuqG7y5SeB/QfDefVt8HdHtSaT+/W59rr6T+h+P5559f3i/pUynf+deAPjz6xAKcz4w+U/lApSeiOuJIT7+0WCyAu+OOO3DXXXfZ38qJVjNiwJgB/SwSX2m5QpKdv2whc6PJUbyk+4CnPhz6RAKcmEfGVy38exmppDp997XXXsP4+Lj5a01F2wD01NRnSIUtZcyAAno3krr64IMP4pFHHrGX8wV04p/V5POTz4sB/fz0iVZRSxnJBy6tl2itTWsmq4/B8cOKSu0BBfRuJD6R1Kb1OL31ojU5HaMlLUFG6upq3vJ5MaCfnz6RAHcdA3lXW4/jR3vc7r/vfnsC1tHRYYy3ejFYbn4avj2ggG5Ey3wi/qKRfWx0FC++9KK9u6r1OVEpwIkCnvpw6IMDnPqDxrsYXd9FvKeDoGEZHuRAc/1H7s7PLrr3rquNs/ixnDH7ym2JoY/y442uqz9yJ9shzxl0ZGQYly/32rpbPB5DZ1envaqm9wsjUXcqSFGnTZLnXFyS+M/Px7d6n9I7waYOHtdVxvysXH4oj+T2LuX0zbLLspPv5tztZzmAA2zz8dz9+/f6cRHXDvklKjVGtCy7meP1NSg1FsAzqz8K4YfzzYrFJ+dw/aeElsNfH64g3iEfFYoFOw8mteRe7RIbGZiFQ/Y/uRarpIxm5Oq+NCu8ZKG9ML6fbyuNX/opdTfjXJneCses+Dl3s+nHjOfnmdUfL9CyKf04t9Uhbi79XACnOqqzrpdvSCUl15+rUQinFEQHM2xGdnKOsTTwrTPzNLro3kWzq9mtIWVxpDA5/haKzNkamEmKS0p7Qu76c2Q6OsnMefqsUSh4Rw4xXjK5hJNvv40XXnoOly5fRDanJ1wursKK9wreUbpKwT50c8USSAomHYhZfRTXPPVvCkVkeJ+ikZ9CehEtdfnLODeXp0yeH9VRH4WQn9pJvl7JPXL+vrt56Kao3LK0svWVNt3k5bz9VrCaeB93txLKGf2uJfJLu/IxR7OJz+yP/Kzo+lG7WAsgx1tdxX4o0JZnH6tNzV+hnF2RZXNpeTl4/WXGfP1ec+krlufphXXxrAgk9bn1u/0NpOORhuZGPPTQQ3j4wYdQW+P+pyPMUGI2sXIxz97M0WRZEktTDEcPZubKJ+OXWZ0rT1cqg08bGwrs2enqQqtkcqfJu6v4SvHE9TZOFU/jkUZ+agv5KQf7sXIwTUubYemwwm1Wczo5o4/SdmX13HV9FzIs+JDpgwOcekLGv7CuIVdf1x+ekYMu1sky7GTdK+Nld3W+fZSM6zbzY4WFLbqXsaDm5z5K33UfvZigTIFMUjRGcTlYXgyo/xpV+cJEQ32KVrgQYtGYPR3tau9EXU0dIiFKa3S3NBWORuH8qzMipWFFMrvCK13l5VdeTLti6O+5K46L5+L4NvkpjML7H6uUfyd/3gnQXXswLG/CTEzGSQmesY+C0NF9LY3StP2PIrgSrjaKtTbImN8azdXEER18piOZjxgmlKc9zzYpIKK/aJQ3DZuLbUSOCTOOJeG3B3+9htO9yK4uWZLS9K1yZxyF5TUifrKG9/w8kHLt6tzsoyRoxF+VZeW2Htfa0or5uXkcPXIUrxx6DcfefBOzM7P2j2qS6IpR8hWveZelxQ/bP6u54mh8OEbQRTzo+LTIPGxm9kyBtVn2lx+vpf6616/1ufyZpxnzc9UwohezZzMxHflbrBWesqsKyquM7+Za1bm5blz1oePNADeRavvBSOX1Lmp4tt5ySwh0hPwqvDKIsvAWhuTzgpjOudNCN7Wlwrpk6ebHkZWOXj9aPO8fCsxtGeC8dM3I7necdSiNAlkibPAwU6C6IHs8kcD2bdvxEGfTDT3rHXMxEQOT5c4S+XYay0Q/usrq6ukGkufPcLqP8T5OE1XFZbz0XGwXxuL4acvNM/oYw9IojFcTa1tLysiVU20lNw2GLN1yfjxdvbB2p3QYVuEtB8WVjyvQmiYbj7q6O/tV24sTIrxGTKIQRzgTKmZZ1zzdxWsKTZmYldcREzbQrd3Y0nZ1bSC8jPEqDFRb+2SDkDk5vvLirHSCsYOSUAlcu4t09cLThBlXvKsBr4/iTIxP4PDrh/HyCy/i8GuHMTM9a3nkIyFkCSIZhs8wBdVIVVC/qS4RPxcvC5evy9t8rLGc3YV05jo/GsUTP8SVroWQnxz146wyqqokOZUlS7viKQ191E4RVt54WaGXr/Jzdbb2lZuZj45K+/D9EWuoxl5OwMqtmjkjOUhMF/VnUN6rjv5sdB3pnmEiFItlwjQGfIrDDFYYVHE1N3MAW+f4jctykANsMidZR1heDEOj/BRdYJeh2H/y5Cl86zvfwZHjb2EhnUK8shIVVTWI2jYQdgl70xmmS6NZOiK78rGr67gwy6iiyy/muRuxUEUNJN6KMezgHPkxjFcQiydSGA04ldOfNf2Z2GZevw6qqBfJWb0GKXGUiwaCz1RuInBlsKIpgBmP4VSeEvJSWsO0UsIVmzU2+5918hvcKkujNpXV3TFkhO0T4SANWzupndUe/kS6bNguvpvUygL7Usn6cQzklo3LUpKNn71vLFMaVxx3o2QtDsObdMZrJpdFKpVGOptBMaI+ZxCTEAWD5K+V6K66ik+rwsmuNBVO/W497tXBy1gWz7i7lcQ8Qy8NN0WxOjonI/GujpRQ+gpt5WG64i03Fp3GpTRdvd2YtXJ56ZhRZM+4UpZ8GPdmPVRReT8YqfAynt0ZVx3XjQ7QbHFe96qAKmIfF9zIwriri+aFpzEmoLt5Wyt66dBFIUQCUgGNefHexXSdZR1GP3WCROoCZ8VULoOZ+TlMTE5ijuqBYqlxpRqLQZfJZfMzyMtQ9VsOt2L387+OPD+V3m94hVF55eeX2wW8vp3k5xvFtRbwPUl+MZyTa2UBcogTjN8FpWROJfGNVoVZ7f1xk5OivLJ7hXX2EjZmoQ2ArPReDbzGUSiBnD5aovCXQIwsnmcXyW78pwGsQK6nXH6eYZhSkBH5fm59Titijv/0ACHPiTvP/vDjCgg6urtx9733oLGlCeVVlcavxgP0F7jILNeOblZOd8crPyyf+Fd9LSHAJEvPX+RFMeMWX7wbXSy8u/frbmnax9XaDyNjY02GZTRP/uiyMuL/fiO6kdvNIq9a1o7v+cBLFUpIL1VJ5DqC3eJGJ1tCnaowSl6NQsT3amIdQrvzcbOe0okqjAKQXNP6yVG9U3g5WU8zAntjJYTSkxu/AjF2ttrfkbOIAdyfLFPcz2QxPDyEqalptLa0oLW9nSqrF58RI7RbXhZRzsrLS4dmOWnPR676VUnUDn5ZRD44X0fm4FJ0aqSLJylQ5AaMn7KXupeez4QiuTtGY6PIw+KpPRVYsh/9rXm8E4AVV2H40WAzJ+ajj916QZbJy/N6x4+XfL4oJfWCu3p140e8KBWOF7YJWyLkZFmbJH0x38QNxWL9OfGpGcWzcnGAYo1nHzeodcdU1VAlpPAi8bhPLtZKaZ1C6uWnYEzDT13XXCaDTDJlyyZl5RX25D6k9UN2TCEsqdMCMw0ay8Y94BCZ1KbCSxoQyd8yVl684ddysXi6eBbjU5VAPMP689Y0IUuXwGzxvLJbW/FGvKVsPIZRW6iWkmpdutLalrMyf5Vd94pmIZSnH8Cj5fFGEk++F7qpB16qCBo2El11Vfmsua0WvLNKuoK6Bc5l7PeM/BiYNbWFWtktBhtt2ay4KM0iGVNPaYwn1V8yjOvnIgd91GW2RpEno7MxZyYncOnSRZw9ewaXei+hkM+ip6sLB/bsRmdbmxO/Cywh89CynIBQaTjJU2VwpdVVH7MzXb+EItltQCkE42mdJ6Py0FuA48R45+eX0U9TRvnz4tpNzMMwdiNQZoUFZKYOW74sq601MV0xmMrsms/iqXXdRKFcSFYPl/d1xly9UK4aK2QR1x75vb1CzkVVlGHFeK+eICgQ2AVzahGroKssDe+t0ZyDq79rD5HrKY8HvI/im8THvtBDCwGP8rVw6iNe1Td+P7kS+GVTv6kfNd0rrOtz58bS0T1GtbS2tgbVlRWIRwko8mM8K7el4fEo83bpOR9xgYQD9/TSI7PoR4Gc0YMXt6tA4VyZdXXJu3RtCUZ8aLzIejCEyukDktR0fy5VKvrVGBTw++lavZiWDVJL3qXh/OVGR7tfRa6aN4XU+x+I9DAqwtb118a0sK2BbIXlyHaLtLpRt7q6KWiOLaTmk7vWucJMI8bpwhbhGUAN5jrQSX1qfLWWHjVrbS2njrLOEtFPjMAIBbZ23gc5OXnT8aWz5/DDJ57A9773XTzJ65nTp1HgjCkGtLxUTl79jrWP0rd7pcWEvPyWmZh2q5syMjfe5xzD6lG7toWkWaYM7TJWNQuuDmfSvOaN4V2ajiFcWs6u/Mh4Yk7amESJv/JxsrOqmKZJMZxJbjQ+ENp6IKd7Y0pyrxhQv0rKAZzv5q7K78Zm7ZJxEouo9dcITVRruLwvsNI59lCWkps9TGDbqXlUeTWha3ja/fZRexSyjME297ZVKG23tYlfGkkj1hd+PygxkgQOJ0V5AbX9guWwMOoLhjHg8DNXOF4dEDrNJWplzLslWMVhGOVv5ZKdxvdz6XOkMby2EqVZwBT90hwstsSynLXiuviO6Miw+mic+GNFBTR+0V4aBTFyZVC5VY4cy5FmEcVntp2EV9tOwni0unAyyljk87Da3RJ16Wnri61tWyBdnU30XiW390ss9s9HqqA6yiE+C6mBRSqwIpr1pH7pqZSTqoAEx6bAJ6P62mNwdS4Dia8Ul/EUToyqlMzITj9CEj/MjVyp9svTzfGb8nZh9WtF4ExodzEqLOQOrX0oG2221DqHMT5nTotEN6m2/kyozvPBQD/K27ZjqJbKj2nJqO4ugjNiB4GXmLacvwlyXHkhQgBnqWm3wWjpWDXJLNrpJkfeiAHEJLJTLVGSBoEqHzOSpmkqOG9VhhDbMZ4L21NaS48BVS8VSL9qTmNGDliVVWSDh1fVw93LXkou/krF1ja5UrKmIU4j4Qwrk+OkKMndBw7xHAev7SdjO3AmsnEkIybhjdrUPmwjxXXSmZsg4pT04vkoYpkoIlnHd4qjvlO/+etlxitKUwkrTbqL911Kzk19LH0pR7+8+lpu4kH6SzDQQzN7Qkl7weIuJ2c/ylNl9Rz4ddKpYFKfOAP4yxy2JEOeVpmUjnjS303g1c6ubg8g6y4/JSv+orpOtmIZLSX9GDtEWPcY20O8HA1pVCuOeI1pMD/blaCyKbBnNIkbH7O+JvxwvNmEYqn65NX1JhGz+4Ckurv628VAzkrKO3UEr2GiWGEkjWzvAjIyl+aQvjyLdP8cwvNZ5JKcGWZTSI8vorBEeNGodBxDw4qzlcV8KmaEI1wSY4HxUmOLyC2QHRgmpPUV+jkA5MdxmhVDTLFl23Zs2bINNbV1qK9tQE/POsTLyo1ZlLplRQYQN2iPkj1F1UGWYip2jOt8hhXTqjyWvuZsGeXreswxFMvJ8sQzBMyxBWSHZ1FcIEwRaUI5lY2txEKFixx+TMdAknGUpCVjDOy6RP7CJXtaTHcbBBoYzCdEACxm2XYTS8hPpRFPMgIlSFXaXglSvWwA6CpX9Y3WUmgEtJKY+VFyeUoE8rdKlJIcnceaJlO/bKCx/BlKNeNs975ZZC/PI0eT6ZtBZnQexbkUQuk8MpNLxj/5JTIb20Ft7PrBayj1NS1qr1CG9jm28/ASsqNpFFMCNsdX6n9t+1AUYx/aXD/yJxKlsMLGZXv7/CEBKa8+IW+5hSEFVmTFo8RJk1VCvNo2JvEFM1L5NNHlFUZ5Kx7tSjdOPrItSEw8P5lhvZY4ptw4EsBKyJAg4PiWVyXGclveNNoSZZK+nFVv8RrdZYyfFZb+ArdIkpPxONOfTCK0qETJyyqjyqJ4LHuemYkL1QZqI2gc0d21rYQIullmrgSOvLKp7jeB/HwEye/rX7WsIjRKwA1JVVqdr8HIRqfulL04jgvfeh4Dr7xtDSRRLBUlE7bW4KFf+wXU79uKN599FuO9/Tj4tcd5vxnROFNjojmipQBGi/6SftQ6xbkcLjxzBMdfeh2b7r8D+z9/P6J1MVcIr4HEFJIQ1W8FTuViwnSKIJumCkJ7eUU5QpTushKXtd7B9G0x3iILUJgvjTEv733GECOYdOWyWW44kfo6w/zVSXENjPEkzv7kJfS9fR73ffEzaLhzB1DJGGooxZexfJykaGUgs5m717CWDXtFVbfgCqerypEtYOHcMF77/nNIVFXiwS9/BuHuGrcoqnSZnq9xxBk/pF3xSohM5hLmj6RnA3AymGZWecvLBfBILs51LZBKZkBWQtoaoj6Sc+rCJHq/9RIGXzyNyCyVVPbvfDSDss2NuPOXH0fDnu1445s/Qv+Vy7j/lz+Njrt3oFgfkzDEwUnpj82jJQUBSZmktsUQFk8P4uVv/gA1zc2457c+B2yo9PJlfwjESAYGbHMrBn9cPzljxCYsUIXU1iXxiFTSmDLxIuTZF1rWEHsJsMIZ1yeGLzJ0F7AqPdNsjEfEb7Qr0mwBR7/5Y5w/fQZ3f+2z2HzXHoQrNUnTn8Z4SqQEVE66aSKUxS1luCBWXg4G5WmgZOVj+7Ks8yeu4uVvPYnG2nrs+drnUL6l2erkjxOF1URj6fNWGlPUS8OKwHttXLbykLwLvR3A+WT5vge6qQ8ZVB5r42WzUkIW1/nRKUbJIja6iMrZPBorGlDX1IralhY0NrcgHi8nAxVQPp1G+cgCYgvalGkJEGS88Uij9ZVimo4zTHk8g9jQAiIDC4iKgdMMIEZR7xNAi/MZhFLMnV9rJiXE+7JcHNWhSmJMBUIESSwVECNXax1OnSfdIDTP9JlmlDN7LEtQpdQV4TXEvE370WLXIjOiCSWZAWdzmeICGYL1izFMwiQkppUOozwVRi3KUBEqB5hGkdIqJGmZYZx5lp9pRdkFYaqxVg+GKc4xobmszZKhlAYRy8GoptryPqQyMM+KmQISw0nEJtIsD7tR8aWTLuZYR5aH8eMmOdLNJEeGYXwiMduT+TOcJLmiGYYjI6vvXP85w9BrnjQYTTJgYaPs7+LEIqLTOTSXN6O5qQP1Le2oamji4ONsoX6jZJ0nDxn7kwNUR2pSVn8lJMlN1wglZCyyrSapyF1bRGgkxUnatZV4I0y+knReVD+RN9RPbgnC72sa9pPAR/wmXtU6c5xoIk0EkiDpDsYPsz/K6C7+CYnnyAJyV3zxZGie/Mo8JDRgnvGMh9lT2nErfqK9PBdDXbgS8TT7muE0ZqQ5KI8ieabA8WV5Mi+5h8V3vBbZJgVpGaoH6xwSD6tBjZ9YFvHMIoGX4yM+kkT5RJa8JR5nGgI/jc1ZJkR+DqV4T6t4TnvlNPZCTNvVn7ysNjXdl23E34+C2BpGArp/RWMvxv3+7/++HfT4biR+soV1u3EFlptxm4g3YoLiyCKGTl5GrKkBu37nl9Hzm5/Fuq/cj3WfvguJDc1Us/KYOHEBsbF5dO3djkh3IxHRibdsKjIs05hKYu7yCOb7xlAcnkPq8hgWByfRuL4bTdvWmRSWm1jAdO81jF7ux8L4LJkojlg0wcYvYOLSANIj02SSDOZ6BzB08QrV4kUkomWIxeLWGYXpJOZ7hzB+SfGnObtS/A+VsWqUAPrHMHORkwJV6fnBcQyd6WV6MwSPKApUd0Yv9mPy0jXECEqxKKVDDqTk4DQWJufQ1NCMug3dKCbiGLkyhNQkBxbzmmCcUUqt4YUUysNlbKwYUizT6JVBjJy5jJnL11imRcTpF2FctYUYJzc0g7kL17DYNwpQzZ89N4hEZTXaKJmEalme+TQW+oYxeeoqFoemjFljZWwHImSaqtsM4yWn5zDSP4jpqSlUVlbRn+lLCrAOZHtzVlFvyrjP2iXjPPJfkegihSozMYXeY6co1Vdj929/DR2/9TB6fvludH92Hyo2N7GOOVw7chJzU9NoP7ADtT0tyJWFECPbalCHMhyIS+ST0UlMnx9GcWCO4DaH0TP9qKptRMed2xGui1ANXsQM+2HifB+yY7OIFSjtxckvnDxGr4xgYWSKwJhiX4xj9PwVFGYWkKB/NEJ4I24VplPk6SFMsZ+XRhmWPFgWI++Q77Kjcxg/ewXRhQwWyXujZ/qQGnX8JvVw7AL57fIAJ8g0EooTi2JqYJIq6hLam1vRvmE9taAEJq4OITkxj+zsEsavcGxc6iPQpFGWqGJ/R8mLzIdhRi5cxfQF8vfUEvk3bvwmKUzAleV4m+bYy15l+lcmMXH2KhrKatCwcwvCDRXIL6Ywc2UUk+f7yW8TBOACojG2A1XT5NQCw19BiGN77hrDjIwhoTMVyxMOJrwxLirlsfcqwencxm984xvencH8j2g4wDBHo+mLI8amdqP3BXAiAbSKYoUUkjtXczTJi7Npfnwe4ycvoUjGqeuh9lsZRz7GoVPNmUri6lIO0wTALDuide9WAlwDQnGiPtExxKkyPJHCxOsXcfqnb2Ds3ACWyExTV4axNDtPcFuPxs0bkCFDXHj2KHpfO4WRi4O4dqqPjLlIibGJ4nwEJ3/0EnqfP4KF/nGMEYjOHXrLmKaR0lx1YzPyBK7h597C6RcOY5hgOH62H0l2aHWsBvGKGlw9dgZnvv8yFi+OYqh3EJeOvI3Ro+dRJOMv9E/hwvFTOPfKm0ieHUZNZS3Kq+rIgFfxyg9/imvnLqOnZwPxqxwnnnwBfS8fx8zYJAbOXsSlQ8cwf2kITWV1SDTUc2AM4Ohzh5jfWQyf7LVyxKjT1NS1IByLIds7ib4fvYaLh09idGISKdZngW1R3diE5m1b2fIcXK+dxqUfH8bAhV4Dck0KFbFKlFVUYZblO/l3r2L4+CWcO3EGQ9Nj6FrfhYo6qrZCCnKAGM/NrZxtXc96/bo2aLksKiJJ9wI2e+ooVY+DdvTYRbJ5Hi3r1hOMyglglCAoRIfirJH2QL5+FnNjM+g+sBO165sRIsDpiaa93E6JY/78EM796DD63jyP5PA08oNTGB8YYTvXo/2OHUglk7j67NvWl8OcpIY5uLOcyGsqGimNR3DqxddwjvyW7p3G2MU+nD10BNNvX0W8UI6axlZKZHlcef4ozr5wDGMEAIWZ7Z9AbbgKiapazBI43/irH2GWE/ko+/jC0RMYIr/hMvntGvntJPv4lbcwS96pjzeivL4RA+cu4s3vP4Pe4+fQ2N2NmvIKnH7mRYY7gczADPpOnsGFN45jjmOoIlqD6qYWjAwN4cgrh3Dt6DlMHmMZTl0zeKjjpByqiiHZN4LLTx/G+SOnMD8whhQn9xmWp6W6BXV7N3NSDmP09TM4/exrGL5wBaMEynEKAnWRKpSV12GK4Hz8288ge3aIqvM5XBq8htZ13cybEOOhzrIaLH4zZrsR5N2Y3ivACdjeN7khQKNy0FJaKHu8LIYxDzIN5f9JSibHn3wWL/7pf8URXievDlMnd345mkxYD+g9NapIcCukCYpZA5r+504iN7iEPdv3Y9MezsSUBguU2rSICoru40f62NAX0R1pw6N3Po6d9Vsx/UYvZo9cBiYyqJ/jrHiRs8tSCHt23YmH7niQYnYOs4cvotg3jZnjV3H16TdRk4ri/nsewa7OXZg+PoSrz58Eri2hfCmO6DXOlsN57Ni4G48yTGu2DGOHL6NsPoqDd9yLu7bsx9K5SQwevcjZOo22rnXYsX4TGsLlnHmpClN0r5ti1S5NoYJqxN13PID7GAf9s5h8mzPrVBoViWrs2LQTn3nkC/jM/Y+jPl2OQZZx6fK0rShcfeEUrtF0VbVj1z33oW1DDyUCDlq2tdSI7IVRnP/x66gYD+G+g49iz979mOHAevt7LyJ1ZQZlS1GUsd4V40Xs79qFu+68B1X1ZDb3iNr6TuBGmDCbk+HWHmkIqFzLhixsD294DfNaTgl6jgPyJPns5T/6Ll77zjMY7aPEoxM6KKXF8lFEizHGocpKHrL1Vz1tkeQ6m8aVV05h4fWr2NmyGXvuPIjq1mZEIsqTbbSYxQjBYOCZM+gstOCR+x7HlpZtGH1rAMPkOYykUUueDF2dRW2qHLt37MdDdz2E+FAW/a+cR7qP0gz59dT3XkJlMo77734EuzfvxvzZQfQ/fwIYnKMmkEeCamBqeBHrurbiwXsfQUuxCtOv9SIxVcCBvQdxcPs+FCjBT5AHC2NJbNm6GTu71qO2QOkpF6H6DFTNZxEhfzVmqnHvgftx//a7kCf/XXvjAjWePKoqa7BpwxY8ev9n8fi9n0NLsgbDL13AwpkJqvEpjGuiPXIOLRQUdt15N5qpMdkDPbafloHmqS31//QIyqdyuPvAfTiw6yBBdwznnzqMwsVZlM3FUD5K1bdvDps7tuDA3feitoEamsgEIvaeeJe3MuJAa+MPmT4QwKlAIhVHEClcklrpPARS7kbP6sJs8MxiBuNDYxi+2o+p0QFkUwRaMpUGU077d/S0RfGUSIEqVaGSmFxG0XsJw9fm2bhb0HhwF6oPbELjxvVUq8opnTE8xWrNZBULBVQWE1hiw5eXVyNHUXywrx+pxQV7SlhRVY2Nd+9D1X070frQHWjb1INiMo08Rf/ps30Evyx27N+Pmnu2ofmeXZSa6jFNaS9/dRwRit0RAkkT8225fw9a7tuP1q0b0dDahKZd21H34G574FHRXI8FplmQJFBZhorKSkTtaZiqmreq1TY3YMude9Fwzw603bkfLa1tyLJtcrkc6jvbsGHnbkTIBIV4Oaoj5fakuUgVAxNJDHGQllH16j54B1ru3IyWfdtQ3dWEXDjHOSHJmXoQ6fl59OzYjKqDTP9+pr+hC1PXBpC5SpU2nUO4LIKm9Z3Y9bmHsOWBPZQcq9h37AetN7B86jW2ql29lYc1SZr5ZVS8DKf+LNsZVLuokPMTRyaZw+j4BPoHBzFM1SjNNnZMSmBLhylpxRlXT2RcXUEA07ptkfw0dmkYjTVN2HDPHSi/cx1q9mxFrLaKAQmIU0nkLg4jxnAVzGeRbRrTEkI2h5nBERRmFxClttLMPuy6Y4/xRif5paGjDblUhirjLK69fR4LM/Po2r0dFXdsR/Pde9Hc2UWVcgTJwQmEWPZINIb67mZ0PUB+vX8n2rd1oq69Bm27N6KZafY8cADVbQ1YWJhDNkPhpbYCRWpHBWlFNo70DaOe+fbcvR/1D+xFz537UFvXwLFI4WGB/FbbhJ1b95KnmpCm+qwxlZ1ZNG1KmtcstYOG8hpsu5t53bMJ1Xu3INHciHCY7bZUoFp6FZmpGWzdsQ2Nd7Cc996F7o51GL8wiBw1mzAndQkhVe1t2PLZB7H1Uwc4RirddidrdMdckoVMHrpJJH7+QGQDgQXTBKg53yZCNzRYAV7lp0kzGkH7ls147Nd/Bb/6P/5TfO43v4aOLeuodokpGVz7bnR+maLaRKzHybRQxc0uZJBNZjgwyVwJBo5qv1DengBp4b1IdSHNTp6bncZw3yVcPXEUfaN9CHXVIdJWgyIHdDGmDZ8FLOpt+ATLU8GZnnlrwTecyrFTFyy9MjKJqTJakGGLFxeTHAyUcvO0cxDpiawduVAZRYHppggsBd2XsahVUeTiDOO3phaaNQg1Q9EIyrUTPAvmp3Q0tio4IDk49AgeBNjJ01dw5icvUnV5GeeOH8PQ8DDymZytC2nTYJaDKFZZgXAVM1R8MvMSwSmnp22UTpJLSUTiccRqWA/WM8T2Kq+t0RSD4nwSYYZRs4YsriYVlpuNqEHhGM56zvWru70lSINDD6RUB8pOSLOezQTxR3/tq/i1f/1P8Yv/zT9Az5YNCAvEbNsCa8km1eRrs4/W8MSs6vNsGKk5TlICs7K4taMeQ9t+MS2QC3wWU1RTFzHU34e+Y0dwbfAKQs3VqOpspBqszTeuPXNa3GX8YgUnuXICKz8R9mNmYZHjgu1czn5kNiAvxuIJTsqc6OYIVmSiPMdAmvlmE8yTxaBghky8gHyCBSePFqlC5hMRlkt8xjQE8qxLnldb3Kdd24tyvM9rnLHPc5X8KWOBlPdCFrOU7k+J315+FX0nqG6PkN/SGfJbnlfyKcdeWTSBOCdrlSEXC9lk4vZaMj+2QzifQ5R1o1pi46AslkBYD/sIoHqAof4oyl87I4zvXD/Z3hcl8xGQ+PmDkSGasYZZHan03kXjjkyVJLjkKmJIrGtB2eZmxDua2PFsDQUwiY0Nrgprdz7Ts4EXzpMX86ioCKGmmh2eIQil09SqCRhZMiAlFvYEQpUEq3rO2S0VWH9gK/Z+8UHc8xufx0O/9zVs+9IDKG+pNWDKM62sVnJVrqxToTmuyZBUaSjFZMlM0zNUBSksFamGhPNZJKrYWTTqHGGQSTksmwZEjnVKR8j0egoi5tEivj2KJYioRZh2hOHslSoyAfmC1cyxXmRSPednRwvw8gQnqUgpztyXnn4Ns29exLZ1G3H3p6kG79pMMI05PogRpjh4ZgnmuflFt+Kg5sizbFFyXyyOcG0d5jm4p3UE9hyBazqL+el55kkwr6UqKuYvUP3XsgHLz7HO2Vipr6iiq69rmWx/Fa+GEayGmlptnC5yZLHdyruaUbahFuXt1YhokKmq4sky8mM4g2iW7ZAj/2oyEh9L+ikrQ6KG/MA+wwKZQU8IOej1epYmCiRiyNZQYqsrR/f+7Tjwxc/g7l/5Iu77za9g/WN3IUQpS/yrba1WMJWJhUyxz/Ps6BjBplqTDid960c9iefkluFkWlZRjvIqSdQRdm0RGcbP2c5d8hvzz7J8+SjLIF4M6TQUCgJCCxtDLDslK01PeqNADaOtQgprjM4rFSmWgzxHjSY9NYULL76Oy28cR3dnN/Y9/BA6N3uTQJFjjxNvvLYaSxQgUpPz9hQ1tEiYZ7tktQuf4yXRVIdiIookebIoCXmOwggn2UR5OaIVFSb8CM30xoS1BY1tI1FHaGLxyOaYldsPndQEH4y8gvmzvk9qczaBqmFPp8pyBSQvX8PAk8+h/z8+g8vfeBoX/uQFpE6Ms8VjqIwThFJ5XDt1EZnBSYQ5e9gmBc4K1RuaUEczcqUPgy+9ianX3sb0+T4UKdlkOaOgpZpq4ibEq8oxc3UQi+euYoEq5+jpC5TM5liQLHEzTdwhyIjb1MgEz2w0jyUCZL4qgtpt3cjWx3GOs9jEc4cx9NoxqprzaNjVA3TVMh/OukWqs3kiim3eZEdzds4zDe2cV7JFDqw8gaNAALF9BKx3nnnqVRpbh+SgKzAsWZlMyTBktiKBNyuZTv4EmijDV1NiTEjaIqPkCeRZlrUghiKIt+3owVJmEVdfP4rZ505j+I2TmB+dQJ5qMSi5Va3rtgcG/ecvYPrFoxh56TjGhoao0nehcgNVpHie4ymFjPYgCFXVdxzY9mqXz2E2va5tMjCi8cneXOCgJtTTRJAoxG2Bf+iJNzD4h6/iwr9/Dr3fehXJ82OmppfXckIopjB1/iLyg7OaJxmPwECpKVRfgU3bN3GgLqD3ldex8NIJTL95glLdDBuLfV1fhvrt3ShvqsRYfy+mTp9nOuRNtvn81IT1dZb9m5F0r70gAjuCVJr8k/Ym5A6qmdXtdRg4eQbTrxzD6CtHMT42isZtPYh2NlHj0DxO3iwwvOpJMNNhAHonwK1b80vA04nWJpUbT/JLySxHt6x4knwvni/qWiB/qFsJdGlyZE6P48mvIcZV/HCK4yNNbSVPiUzaBU2kvpLjrhOL2RSuvPEW+e0UFg+fQX5iinUjL5eHULe5E5GmavSeOYepF9/k2DmE8eEBNHLcRDY1UnJjecjv+TwbmPmJtUxQIMipOP4yg083i/N+LoDTj/aSCaDZl7SR+ejO9rbKSF2vqdXj80VcO3wUl3/8Mvp+cAi9Tx9Bsm+MElQcrdu3orK9GYMjQ1icIMBxZlU766dsfQO6H92D2vZ6DJOJJnv7UFaZQHlPIzKN5cg1xtF85zZseuBOzpB5XD7KPF55AzMXryC/yJmH4BRtKEeiuQqJahaGBdXyXrapDEttZUg2J1C9bx02cfaN1yTQd+okJiaG0HbHFnR8aj/QQzW3OoJIaxXCzZQ6pbLQhMjoxeZyFGpYa6YZKQ8jwTCRpgp2LMOUsRHqKAFSesjXMAAl0UhLOdOpNOCW1FesZGuxHDmaGFXqTffvRfXGFoyMXMXM2AAqmFZ5dz0KzRyQjWFseHAXdj90AHNzYxg98TbyqSVUUUKNN7Bc1SHE19XjwOceREN3I66cO43xvsvYsHcz7viFRxHu4STSEEOhrZJ5sgJSfUiOqdhndhXJxXrR3a4hWg1sIncvI44jUTKqbqg1KebaW6fQ+9SrOP+Dl3Dp+cNYujrEoHn0HNiC5p2dmJ4eQnqaoMRB7hiWNWd/dh/ciZ596zE60o/hs2fJx1nUrGuidMZ2awyh8cAGbH3sThvA5w+/gXOvvIyJK5epYi4IbRFroPTSJN5gW1JaLNLEqGHEOirYB1FU3NGD3dQuKurLcfXsCYwzn/Zd69D1yD5OqFUA+ynRUYMEwTZKSalIMAnVJxBqSJBnyDsaaOQv8XW0kWNLbixalP7x9krkGiKcuMlijBPlxGj8SH4TKImPxYMxpr/xgf3o2rkBQ2P9mJm8hiryauP2duZDfuWE33LXVvTcvxOzySkMnTxO1XMRTVTD0cE86iOo2dqBzZ+9H5VtjRg+dx4D/ZfRxnps+OJBYHMFw4QQbi1HjG1hSztqYqENJUvDNcd8pGXLTSE/dWHU+3qTwfjKlfv6MlIkJcs4IWEmhcWL41gambMZxt6xlPSSCKNpXQfirVSdUjksDI1jMb+Ems4Gmx1NX5f6EGL4pTzSA9NYmpij+lDJTo9jbmmegFGLWjaugmKWc4UeY0+QYal71TQ3oKy1nuoI1bqBUWRm5lHX3Y4ySjg6TWRqZIxqLxm3g2pzpTb/ZpAcmyJ4LFA8T6C2lelSDVHFFsZmMDs6aQOnuquBs2qBaY5jLplCA+NXVleiMJ+yPUWRijhqO93/Xs4PjSE5u4CG9haEK8oYZwypTBp1G9tQznpkFpKYYzoxNn0166G1kzTzWVpcQhlVlRDTWKL0WcF8yxje2poq5wzLrvGoV88Wl6hGkVtqO9vI/O7pVm5kmu0wiQjVGT0BjDazjdlImblFzIyOIxFNoKa9CYVadjk7SXAm+UeL0+I/3ZEF2Y3sVPXrzeW/D0w+4PlSgK11zixhsXccSb2apeUM+tlyR1UU9evaESdfFDNU44fHkaYKWt/VRDdOOrbuqjQjHMi8as/g2BhVeLZhdQ3mFhYpAUdQv74N4GSmzeKpkSlMT1ALYR41TY2obKynBBQhv5CX2S91Ha1IEOwK2Swn5lHkcnk0tbc6vkqSX0dmMDc9gxhBrLKllQClBxmcfNlPY4OjiNWWo76bvESpbX5wjDyc4UTfghgn6zyl/Kn+UWJFBHU9reS7GKa1/252EZU9LaguL8PC8IhpRg0dAq0ypMivEwMjlNoiaG1rtzeE0pOO5ysrKql9J5DWOi7LF+2qUYuiMLGIae1vY9nrqmqQ1IM5tkNFVyOiVWQqjs3UOMfHxLTtfavjuIk3Uigga6UW0pjuHUR1nELEhhYyLCdYNTP7SdzmdZuxtcaUBCOvJz3zs+m9vsngp/S+AU4F0wT6juIQ4DRIXMFZEX+rnUaPTxbZy53GC2HAqP1vGnR6BccW92nsVS2SkrIwspsL4wpIdaP0SwriTcrLaZuDLgyjxvWKYHE5BlxcL32566gli6PATNuiW+c4N4WTW5Q/WmYwDxoK5ObGsWFkyTAJvxxKW8FVR5cpf2ldroNoxWslgsgK6zyWg8jCTNxDDTl4hVFaFpf39LMHP/qy4HLOU9rQ8rkDOHW/D3ByZz3FjcrAZbemaLUkJ9JxWq64qsWqQvttRHf1hZpQIexQBfl5a5HyVz/ZmyVKRqSOpl0DkMqdJSUvmWXeEqnZ/WItd7YcvMxEruMtmDn57iLlI5IbE1dQOenlf+tyFtyS16Skwiggvxppbooy2NDSrCVBuX85kQK7V1H8YqnOXpVdYJrlMpF0Mo2iysXaQ1a/fCTLnmR8z7R18Y04SaT0LD85eokbwMnKH8vWS8c/8cTdm48sP5Nu+qta1PSpz7PQNyiPuy3aAqO2MWhR3r3jx85QZDEbA+lNEzGNpWUxlJ6edKmZqPyyRXRcuE+Ka2FoJCFqjV9LI3KUu9/KSlOdqMVhWzeTGmKzRMGeqOqfrvTR+pMdZaMO1aK/yse4NuiZcFFG0WnkE2ZcvT+qEx8UzjpTnKLC6GmrjRYapqe0rM60a33IUmBitoHZrvIvkCFVLpaPxlIuqkIqnfJgPKXJPIt6UEJ1Set4CmOLyfSzcpokpizklmHeDKtbNY6hd97W+rR47feXymTMSwebiGT3jJX2A3HGR09uqtFzTq1p6kSOkNVdzUNH13+yEiX03q3W7HQ2m9bhtFQfEfh7qYhDjXv0HhLDGa/KnXbpJW63putPgxv1jWf0/rImDT1M0OkZ+ljm1p+Os9x2HN6H2I8Mn6JbivlZWIXSmiuN9Tu/Cq6JyR4m0O6XSX3oHzCg0Kq9+xc2xzW23mxHatFXa8U2q6kh6KunqJaXK6+/8G88T6M0NCYcGKpNnZvSskZlcP+UaAMsOlkS8mAYN2nKuNLYeYg0Gvs2/hV0FZkULga8CfSB2FhlceuRbCxeVWjrAxn6ymjQ2AK2fDlAFUt3NjtYR4thdEK+BqcYb8WIEV2rKZ5aUEYdpXtezFiuxgUGTnS046UtnpcGr9aBvhs7JsYeiVk+cuYPjeIb08idYSI2OsgcFtflZ5uXGVdOegdPmGbMLbIAqoeO6mE+FkYeah+Xr+xWfjGH1HV+FTaqNOWvq8ro1deYw4K5jzdELDO3pK5MxUY68dVBqKZAe+nbEx/dSRbadqP53dXdNYfKSIsyUHm8MrtESkhZrDF6h/Rm5Va9BFEybD9Vi2XXBKyjf3RV+2lycnykyYutSaOx5dpTbeZxldzoZ7ykMMxT/eiOYtIWJd0zkNpa4fXhrWw++MhHbpaW9aZCkvz2to+ujid08QejhWQ8JWlDxbtX3zqLd6XRGri0JCs/3WMsgDQI8/fK4ZffudJdedktS8b2sLPhPGPR6KOdDWoVAbtBlWWnwtBuPEarazKS0s9zwvfqpvStDK6olp4ZK6WL8hGR8vtApEFp2ztYadd0ZvWIzUjO0bDShtwoO0DSjiqmrlaDyK4H2+54aSE/DYHFXrvxGlIHwxX1VMje4BWLioE1Oyic0mGn2Kzp0nXgxnRMzXUtrBlQ+4osQ3pLoLE/tVHZRebn2M0xCwNaP7tyaACIr3QVGCoLA0cFk5tlQ4scmYEP6vLSJOCrBStEH+VHE/UYUh+5m3q1zDUunM7n0v4mUYxcpdOPNSBZOsd0uiqsslehbMOrJhfeM7y2FMjoJXKdjebAlEE9hvfzUVTnbi5Gfoi1QAK2G6mmVnbrOfKY2lMAZCDGYalBy1poYKk24h4DOrsT56kdHbypXXX8gjYAa9JQDLWs8aGaSP3k8Yb4wHEcSX1DHlIaajfXi4rp+FE8IgnM/7iGZl6MLKN+cmBj2Rjp1rJRcN6oOgaCXnwlYe4yzEBl10fp66G7TtSxY8gtc8Win89X/NqFEoGWIZzMpbYxjmJIkVNMTbrnRz6uMCqbq5duZXeThPhe6dHRxDrxMftEbjKMqHTVRisHcK6Q9auqdxPI1eeDEHtFIrcVVw1tncCrGpfJ6p+LdKKqbdpVYxKn1JFsAusYP6wtZlsCvKpT2BFiOYGSzsjSBg+dhSUJTZ1hDa+rhXfNpnttsHR/XcbuZgO7f1hy7WaMTUbU0oriSV3JMGqWRuCojrC1PJaFVqdqWGcwvAxJadhGR8uXSZvhjyLQyN9mWIaXn7K3csowD5eU8vbr5upq2wCsTGI2sQDdNCmozZQW40gS03l4uophBJwMZUlrKNrMKQdrWLYYCy4gl0ouY7kbY3E4M5z2ROkv6dQm+hcnlVUx7YdGpb5VSNOjLWvwGmIHy5j0wUlOUBVnW8QowunUFm2qDus1LcTZt8Yxrj3ZYVruiOQFkoKLqOMlewPFTaDuSCQZ127aWKv1LvW7mt2ObbKGFEwIFpy7P8DVquoBO9+PRn4qj23EZrpaJ5OkrZi2WZepCHxdDjI2hduyhltiYQLehEWbI1nYt3rPW7xloKby8ur4jf6uiI48Bwdtqi9z98aAeF9lEeyrnUwQCLOdtXeTLiIp13nym/GWFVV149hnWJ0ybG0jdybmIJQuBArL1SWxQqvvPyTSsHjfpHZURcyoZFZiz0eDS5KYOanh6OT5S2x10o9+eGMeArEIG4tXdbQCKhmLq6Z063FiYHICCnM6iWEEi1en7CganbAwd2EMmSuzduQLC0WmYjyloQyZnHKxHdhqVXU08zGgMqK7J9VY1ozo1gzIeGR26zgadas6MDk2i4WLzG98iT2sSCQikWZBm2QtpGMCq4Nxi5pZjMSOZtpOfXYkMFQ7GrCJ5GVx/FulwtgKqMmCfiag0F9BdARNdmwGM+cHeZ0Tvll5lYeGgfK0oaUI+jMTMjxv6OLaQHU1FyWmbI0j2QusjLlZLjcya4OsjGobtovVxCueHhSEdPDoaBJLp0fJHzMI6Ygh1Z3+FsVV2LWnFu7onxqYRfLSBAqTKTcTsO/UN/aQRmG9fnLg42VmRs2nj+9Cm/qVxvWb87ADSTXg5aykbOJyfiZd09/Ay8gDOfWJlkB4VRQBo/IxCPF43KKkcxwXk5i5OA5MskJLBGHy6fSFYWRGFjhDM5CftEcaKwJZgaoBtIBaVVOaNJFsAdmRWcxfGCV/LbBNWXaW3wQAS4GBZLEyuvZlbU2SlNGSo6VpZXZxXNt7RVHxre+sNl7dndGvimLhPiCpLCK12/s6TUSFERarHRR5BbRYSRZYM5f8TDrhVaSxpfcy8yEtv1Ne0QIJZwV7zUTVZxL2p7uaESiC6EQSnckmSUYTSCRXxPTZqzj0N09hunccHXWdmD43gDf+5ieIDiVR39VmJyGIESVdZimWqRQqjxrOzewqlcqes7xssziNBr6J3rbIrNAxGyQmdpOsanNZXPrpEVz8weuIheOobW9GJCFgph/jOcZjk2qLguXpyBhGJaAlYg8ZWCcxE7/KSW2kLtYf5Wh7jNRXSZkCH+3dUlpm1ND05xTOgisMk5jPYfCVE3jz208hQfW0uqOdTUrln/5ayGZi7B9VkDnxYgNfZVIetChJSTdaF9TDDvvnd8aTJGTtqDRYNkVSPPWRszmyBeKPkQz42a9q2xBHVMgWf+TGiTEVxvjhPrz1X36E5NQi6td3IFoVtzdPJNUontR21VNVVP9e/slr6H3qdfuf3MqWFuMLpWeAJIlJDWDtKtgj4LBRLYTaykK6jx2Lb+3mltwFXOJftbfaTJOLxr7y1iRlzx68trS1MEnx4ifmY5OO9YmkO3eOob56K0YPsYwIRIWRJRz7y5/g8iun0VHThURlFfpfP4Wjf/0UagoJ1HS1I1SmNJmtMmdUlUc8Lg2rMJdEZpIgpjPgOBkWY8xvJsk2ecN4vpL8VdXeYCewmCbKkoiXNYb0cEQzhR05JdWIbZmaohBAQIxE2Remdnh9w3jCcmtGOdFNY0/8KlzRlKJQ+jVvkspZSjf1NBFXRJaZxk/AH6gaeEIkzUZhglOUE2GMJqLXUliMcJqzRYqdlI3znimwKIlFoEzhVBszbHDea0+Sey2JaSZpGLc2VotdXduwoWUDAaoCkXnmM5JEZJxspMP+tKIsjGIjxzgDRzzVJKETWhfov0TpajGERI4ARmaxOdFjLAMeDuxYNmanb0QZzl6nUVORAawuOrKZM1pxIWN1tHi8an3MAFvllXzOekVUX93rVZcM1R+dxKAwAijWJ8Tu0CknOswwbP9UTdaV1EC74ulgwTjLEGG4kLWD0lZ8huV9hHmEmE5kOof4aArx6QKiScV34eNMK8Z8w3QLsz5htrvSCLEeEV7jevFc4ZmPyvv/b++7v+O8zjOf6X0w6ADRCBAQxapiSrK6ZcndcTZnN9mN19mzZ3vO2bO/79+Ts+Ukm2zWdhJbttVIqpASO0GiEL0OBgMMplfs87zfDEXJiiMxkUXbeMkP85X73fLet957v/fK4hFO5L6ZIHOaxwdi2bunDxao+0hziiwra8T8Se2f0MS7O0PbOpmHm4xqjEv60l4WIbVf7c4zvfpYdFchg2bLpKc9eBXEUWyiPHh4hFMJQnK2+spH3PmIOw9puEV35qYyH+ZoQki05yUdBlgXb47vCsfsAwWGlOJWAEuvaFsCQUsKlAfr5uG1h/ddzfRu5i96diYTJDxZDdZFqwy8TO8jTfhYD+8ulSetLIXLV5BM9XVPuBMnxo5abELjT0mQInNhnSz/5gHyz+7Zacz/77eQ+2AN7jTbKXFR9qOvYwhjR04g1naIbfQzvY+06UGQz317zFN1LBEP5BuQxmU95s7O4s5fnEP9WgrQ9sOiLfKcp0o+FD5YpnjcpLyUutpB3rOIxsKz/Tq45NV9A3vGQPl8JgtO0rdVAdXABBxP1QHGEBRS2cUkFt6+alFUN2YXMT85i2gghgCRVJhPYur8NSxfuIXQThWhcAzuAJGjTPI1msRLuPrae7j69gfIpNKIBiNoFKuYv3ATyZtLiEY7kDg0iFJyB7nZDXSFu5AjFX5w8yrdxxwSvijcCnqpupQbKE5vYfHsNWq3DyicioiyPFcgYJpU4XBsYw79I2FVSeArF25j5p1r2FvdRsQfgU/fzxbryE4uori2jY6HRxCboLWkOGNCQY1G+04FM+evo7aUgYca7OaFC7hz4RoJr8zyEnB5teKW+W9msXjpNmZZl8ryNkL+GHz6+Jo5ZZdTWHn/NhprdAtmVjD52tt0wdeQ8CRQI/NNv3vF4oEpSGdbIE6C86FGXGZuLKGjpxfJbBYL16ct+GXcxzZSDZVSOeL5BnKLm0jdWcPi5BzC3giCrhDyM2u4c/4K5q+wzJL6IQ6vgmBaq1gjWjsfJTA++egNw/EXBS0PwYwcMUu+gfzCJhbfu4ntqWWUFlPWbi3K7jwxCjfbViJ9LJCO7rz5AbCcRiwYhiscIqPu09VfsLBFWiy+srKK5I0Z+GmVBKMxamKyC8tppEtITi7g5lsfYP3mPMIUPqGQPh/gc9Gv0CFrjfXZTxWw9u5tXH71LazenCHOPQhH2G9iva08Vi9P4wb7NLW8jogvjEBIdF7D1vUF7F5doIu5h9nJW8jn84iSJ/VBv2S4eE+RbrBJ3rowjQ3mU1veYdu3UKs1MHz8GGp7WQvcoAXFWngcHOyksKxj9/Y8rvzsHdx6+zIquwVEEMD65Vnc/vPXkHxvBhtzm9hNZxD0h1DcSOPmpZvYyVfRMTyIcCyOubNXgIUsrbsG5i5ex61z76G6U0CcNK5oxtM/exezf3UOqQ/uWJDV1c11hNpj9m6V9V15/xZ5/zJypPWwV0EwQ2Ypf1SY6YxH88aH9x343ANeNqXZ3XoIxOp2yvsSFLU7SSz+5B2sXLyJ6+9fQ2Y7g8HeQWTZcZf+31vIbuyiQeZbuXSLxFVFop0uAa2OvfencPHP/hart2ZtJ/pkehv+YBAd0TZkp1ZNKHo9AfSNHUEltYvNG3PIraex5y7bPqgbZ6+jvL6Djr4+eN0BbF+ew/W/YHnTG6jmShQAtykYd9HZcwj+RMAmH+TpyOIs39zE5P95A3cu3oaLWnzz9hLSJIjOWCf88RiSc0vY3UyhY2II8VGa/IpyYu4iO2irjPmfXsTVH7+DjduLyOZ3sUxBlrw0TcKOor19wKKz3vjh61g+P2nRfVenF7BFRuxg/oHOuAWpvPHTd7F0YZKCNI3U3JoRXebyPOZuTCO7xvaRUeav3LJ4c/F4N+orKWySwFPbO5TBdewtbGD+/Ul4s1V0dg/S7chj/dX3sEThe+PGDRJvGof7BpGfXse7//fn2FnftuivixcnKZgraE90w91GvFAem2ukPr0L93R4E74oAadyTdnLTWQHygLdeOcWzv7Zj7Azs24WW2ppA7urSTJnPzqPjsNNgfPeX72KtcsztHwrWCFOk0tr6O/ogzZ72WO/rZEB10hHUnrJmSVMX7qOEF3eRGcfapkiZl69gJs/uUDLsIzKXBrrV2cs3Hi8txuIkpj436y9dBE3f/wmpl67BC/fz9drdJEj6OjqgytdwYU//zsq3Gu0LknjpLP163dwKNoDH2l2izww+eo7mPzgGhZm5tHR0Ym+kQG4In62Wd8ui79SuPp/XsP8W1dtvxLxk4S6yxfA8MkT8FMYLt68ReE1heGhQQT7u0gnk7j81z9DkbTn9YeRp2ZIdHfZh/Kpm3OmRCO9fYgO9VAodtE6LGPlg5soUuj18X6EPLBCw+TmT97Gnal5ZNe3sD05g7Vrs+hAFPHOThRWtlASr2XriLaTb4Y70H1kEA0q9st/+XOskQ7dmQpW+X5ybhmJWAKhDikQSe7mcIAkEsGsTsLHKezzF3AtUMnN0iXeJOQ0sG4x26lR0u9NIk4N8aVXvoqTzz2HIDt68fVr6KlGceqpZzAyfhR+Mtfq8opZIO5iA7d/9AY1UwHPff3rOK5YUo+dRN/oEEIaF6HpXZrfgD8SIdLGSHAZpG7NYYCC86GvPY3xEw8hspknYSephXsQdgUw9fO34Voo4MyZ5zD06AlqniwJewaRzi7EB/T5DSUyEdtIVZB67ZpFER4fP4FHnnjB6i6NF6Lmjfd3YmN1DZn1JLrHKOAOk1AVkonqVLNUnlQN6bNTqK2V8MyLL2H8mdMYiXehMpskzUfQk+jD1u1pWoZXcHrsNE6/9BLawlFapIso5fXpF10AulSp63PoDCXwCPEzcfIUQnQ/07dWcOyxR3HqhRcw0teLncVVBInj7kMDqO9kkWIdx0+fwMSLz2BgYBj5uVWk51YwevgIjQ438pfuIEa36rGvv4ATLzwL2tHsh0sIkggffeY5HGV73etZFFYpvEnIvqE4KhRwGg+hJGl1sYG5r034dQs3s8ibhwMaW6xD0ZtL8ync+us3gVQZTz7zIsbPPEnF4sMeraPEQC+6R8ew/u5VrFKAPTJ+Gse+/Bx6yOSTl66imxZ9uKcHu7NL8FAhPPz0kxh/7hl0d/ZSaMyjtpUlXgewl9zC6hs3MBDowaNPvYTRnsMo00LM5jKkpU54umjJKTKJqkaGnnrtItoLfjz25DMYe/JxdA1SqdJz2KGHsETeODV8FKefegG9wTakaFlrj+COji7WY9Ui5B49eRLPfusbOHRiHN72EBQZxyLV5GrYOHcdK+9N4djoSTz8lefQPzCEHHlDIyCDj55EYLiL3kOWVuwmBg4PwUsLbpvKMU8v5NTxL+Fh0lf/sTHSdYIeRgS1jQyKuznS7ZMYe/5xBIfbEGBdXaQJbzKD3iMjCPS2Y4vKv0Dle5I4OvXslzHSxXynlhCEH50PjaCN9fdrBy625eTzz2Hwq4/AG/Jik1Z1korlxJFTOPHcC/SMQli5OY1ytUIFNABf3FGqMjY0omlYNER+lP4En+sY3F1olWoEz0rwV+6CBiClxTTcBGqREM39tuNjCI31IJ/LIrexg3DFi1qxjBrdRQ98KFDIlWiJ1KmF8ntFdIwQ8RRs4aN99hG6vhlEhJlG3KgHKFDY0fuuKtyaliVSgl1xMmUCvrFutB8bMS50LdP5X6KVuJFF0B1GhQjPlkvw0HVt2B4LaWcTD1batiTMFKjtU6gVqlCc/Zr2bqA/oP1N5Qpjt8h6uxFkw7xEn8bjHStWDOecezweasYgIof6ETjcj7aJEQraLuxTGO1vl7GuOPz1fcSOjgETnQiODdKbcWH7zioqrKefXRPYJ846OuCjheg/eRiNoT5saHFqewJuEm38+Ag6BnuZZ4kub5ludg2VsAfB0R54j/Qg8FAfesdoLZYLxOsm9islVNgPrs4E4rQ8I+N9yBYKxgzxIgW0ttMra09RH9JLW6hsZkgexJ8aZe1yhh8E9wq3BwG0blLj16qgQtpvz20gGG5D7KHDcB2Owt9DuvD56M6xs/ZK2KXV6t3TgIofFVpj+kxNwVJzpD36YUbDtVAAnqEuuMbaEToxiM4+Wup0a+XOlue3bJwrXKerW6yiTPe1QYJPkz6K2QLp0ZkcMs5qC6KNrnExtYfVDyZRXUjZ2J3GxlLTK6iSnkKuIOqsx74G42suJEkH9V194+BBPeSjUOpFjPTs64+hEaASZX9oMkr7PKTWWWd6NtGHxuAeY31pKe23R1CiJaRwXrKI5JI3Al4qK4qMkB9tveQlX9AsrgIVqz9D9cdy3eQpb5i/YZooHSG4+4NwtbOwOPmCRz2oyUENmlXQ8PN+LIjgCAUo6S328ADzbadAq9GDKFhwAHT4UfDVeU73s82HRqWA9PwiceVifUeBo92IkPYVIXj7zrp5EOJDGb4SZ2YBi4eJCVOy9wn3L+BY/r2HfgTOrIhOJOg0k0fCczdscw8aMWTmMoqlHGYX7+Dce+fw+vtvYjK3DjeR1dCHyCQOLZuw4HytoIO83dDHdaRkhSWqkqFrYnh2omb9dF4TlSuNhrJ8broXDdRrVeyXiigXixZA8uKFd/HWuddxO7WCwGgfwr0dzFNFiqqZX7VMgi1he3cH165exptv/RwX5unSdQTg1YY4Qa+NfWj3Jq2dkgCQe0v55+QhwmuunTJKjJJYIj66sXQnGjVUy2UUcnmbVdI4l+prFqDXjarCMLEOYJ2Vl5nmIiS2p0ocNKgBNYbr4IOVZkW0/k1UYTNQzKsoomZ6F99T/Dimspk7MZuUjoKPqg0qt1AuIl8qYGllBW+/cx6/OP86FgtpeEd62A/MRHix/NU4HqqT2ijgpf2YVP8igfVRFYRrKo1GsYJ6npqHDRZehat94kK00SCDu4jfRqmCvUwOF69ewRvn3sA7k9eAXioOCsJ94kwKyjpZH+CLHPmez+8nOnhfwSCLJRvTmrp9C2+dfxPnr13ElrsCP62jffUL+4Nk70BbGCdefhZjLz2JhdQafvGXP8TK2x9gnx5GZS+H3F4W71+5hDfO/hzvzV5HnsLAO0g+YN09LN/wL1piO1zsM7dChKlu+1TupBfRqi07Urlhlkw6UzX1nsfWrQkV4ien77TBUNdjx3D8915GNerDGz/9Ga798BeorWwbKknWNn+lL9kkbEw6aFMn5qGuFnmJkMSfVd4re6koyNPCk6JF78sFZzpKawsPJUOkoZlD1l18W8hrVocCS3TIKotGtdB9P1emkmW/MaleV7EGuvhHwt28PisQH3cP1cPqwgv1R6teEjKaIKr5PKZBBNH2MPyU8IO0TF7+F9/EN//jH+OV//YneObf/3N0PnMc+91RdpQHOzs7qKczFFBkXhKtNrRFlRqB2ajDLJAekWbx3Yj5Qp3auFKx3Yb2ttLsFBKarL6uCDwdYfRSE774za/hn/3J9/Gd//QDfOW/fh/Dz54iERLZzYor0F+QWjfWl8Bjzz6Bl//NH+Lrf/p9vPinf4yhbz0H9FNDkplsaQE1twRac2KSVSFVsNMVRNK+ObRpceZMS7NCa1n18VEj9/Z0wk3izLN9ml0SoSuGmI948VCwSDtq/Z5XRGUYc4ijQmvVwpPLYuV/zdIZA5AaNdBQAfMs5rBPJldk2Mz2tvFCgK68rcUj8bEn+K6olDTZFYO/P47eo0P42u9/C9/7d99nW/81XvhPf4j2M0dIlGSw5nrGTwIJt7sC79cAKu/jAlWT2GqV+FG7sYXiUbQl2rFfI91laW3wv9yfPJnNApSGfTbYHe9uw1N06b7xgz/Ct//zD/Dyf/4+Rr7+DFzdNFVEDnxHkXc1g1qlpZ9ObaEm4dEZQ5CHrJVjdAG/9S++h1f+/R/ipf/yfTzzR7+HzolhVdTBtZZE+EgPh9pw6LvP4qk/+DoitKg2bmsCKIf2RBzt3Qk8/twTeOXf/kt8+09/gG/81z/B43/0DbgH2kkxVfhJJwE10hqo9kpYsQspRRRBJNIWQZVKuSRaypM2FJGXdfewfDcVpTpPtoKL5yYbeSgcU+LFU3j8X34X4w8dQXZqEfm5Nft0teb1kRYpwMhv+7u8IYeP2ttN6erT3iI1SiXNcMi6ZMYKd0+zn94UjQnRKwWvff8tIH+W90soVrIWedvD5209NCgIlW16kfxfpwXrodLoiMUQ0SQbX71rIDVBuTVzvC+4bwH3q0DtljQmSZm1pU+/fWQWlRYZ7UbP6WGs7C5j9vx5pM5dxOqr57D2wVWU81n4KFx6xgewu72Byb/+KVb/7HUs/Y83kHl3yiR9lZpNq0tsXREZV2tnFOhva24R6z9nXn/7Nhav37Y4VcGJHrjGu9F2ahg71R1Mv/0Wtt68gCWWeevCReykkxbaRQJEHeWlcO1+5AhduSDmblzF2hvnsfHm+5g59w6Si/NGsJ5o0Fy/hSs3kJ/dhD+vFXNqNLuBQq3E9ha1iarWFUiYUACX6P8WAtRSXT50HRumV+HF4sX3kfrFWayce48Kro7Dx8YQ7I2iHKSwJkNWGnJTJDTJZN4K20xC9vCeCIrUqnEWyVlF+y0xXa5WwerlSWz/7btY++l5rC0uo+ME3eCxPloEXjI4WUbBCiUSWOHYkW50PjqKjWISk+fewirbOP/mOSxeZT9kRX1kzqYQ0yA+/6qVDvD01ync/n6wivCX9RNtDXVj4LEJZHa3sPDaO9h79RLSF65TiezReiU1xr3ofPYYaj1hzF56H8tvncf62+9j6mevo7C6xnwUsbaGvcIe1i5cQfJviI+fnsXWzhaip0bMrQqeHIB3tIOW7yxW3rmI1NkPsEC8rc/cRo0WsfW5BIkEEd3IrYvXsatd1+aX2JU1uHoiqIsOnn6YyjeEO5M3rB5rb7yL2dfPYmdpiU2iSqQyK9AlLGstiS3YJCmwjbZGTG2OhNEzMkhvYB/zFy9g82c83vwA6c1VlEk7lHJCEMq0LvdladX5S28me3sJq+SBvRtTqGX24G7zwxUPw0vlHu9M0DNpYJG4m/mLnyF7fZkZUHiRDkriM0kL0rmCcWodqX2ZwLpoM5oK212QJyWvg4rcT0XS0Czuj3+BW//zb1Bf2kbf4RFabS4sXb6Mjde1Q9xFuuG0Gx4ZR6DPCesl1Bm1yVJqIvJDVf/ZQfpKoKp/tmUiH/s1UJ0Ido/9XEnvIbm8ilBbDD0Pj1qsKe1F0EZNqxn3jfkFpCiYoFDHnVHENOZEDdnRnkCUuWwtLtJvX7F4ed0DfbQ4OpDJ57C+so5IPI5DE0dQYGfKdO5OdCOX2cbW5ho6tNEF3YLIsT4KKx/autoR8waxvbqKjZkppOmKBXpiSBw+BA/dAnMBqJFcHh+CiTa0xSIobu9iY3Ye6Y1VeKNedLBuoUMdiPh8qOyQcHe3kRjoRGy4xxb7ao2CwjqvzlIj7tcwduYYPP0k5lwW68srqNM66zt5BDG64h3RMMqaGNhYsd3UJx4/jcFnTlPbR5HPZrDOemp7te6jw7bF4gbdyI3UJkYembDZqBLz3yTD+Ejx3cfHUaR15w8FMJDoQW5xnS72NgZPTODIK8/AO5ygi15Acp3ESpe58/hh+IhrN4mwnXj2U61vLC9hY2EBVVqAUeFljHhpCxkBt4ymD60n/X5oTX3cqvp1g7MQlqTH/nMH2NeataM1vUVB4aJLFIv4UfLWER7ppsAfRXS0D1FaPrXkDpZmprGXWidzu9E3TubrDNN9TaMtQkswHMPm3DyyVGYTTz+Kw6+cgWc4Dhe9gUQ8gUahhNXpGaRXl2hdlxEaULzATipAcikVkFjBvVvAzuQcNi5OYnNjDe1HBjD61S8hNN5LZUpLUHEBKWRWZmaxl0zSLXWh+3A/vF1hpNjfGQraDlrYoj1XiAzDthrfa3iEPl4kFEN7MIz02gayG1uIBQPwxgOotZEWTk/A3xujJb9JOtuk0TBEBdCD/OYGlt+/ho3pBYtfOPbC4+h4nEqdvKlBfyjW3OIaXBSc7WO9CHTFsZXcRj5TsOjQof42bK6vIVfJ49DpcZt4q9NCW19dJ62G0X6aipqWqTZWb2ToSaxv0c3fR/9Do4gcOYwEab9EhbNKPm2Q78afJO0/fQouKncbYiI/OONwRmXqYJ451/fCp51kaL0nm+izBbz8e8Bi3DNXLWyWqauV0R6PF96OCFy2jogPtGaM7qamqjXA7adg8ZKhFEvfTNQq86CrVckXdIqAnyZyIoz9qIcmeRXl3Ty0B2WI7lddrmGJpjF94RqtJu294PcE4NFmGSFWhEijgWezk5rirxQKNtXuizFNNIAGCUersBWrPqAdWbTosEjW3inTkmH9mJ+CFMqF1ISJ84yatVyiUKZbGWUB0rC0uhSCvZwuolqoIULCaLTRlaAJXtrOo0FJ5o/SXfbTuaQgrGXKNkaosRYvOx0UourcRoHtIzG5ybABlrvP+pX5flmbRFPw+uNBtocalQJSUSN8fLdOZnOToLTQtEZikxfh531XjHVjthY0tJinJt9HMEbhpn4QEPeKp1/m+zW6N9oFLBALUqOzL3waG1RffuimOsKsdRCvpr1bT3/9IMvSImGYOPHQc3Cb4VzPsk1Z0gjNOr+fCknjmvz1RUM2PqlPsrSheLFMvqC7ESRjav8NBWKtFsqgwWxr6irESyPIPGjhuOgSKkK1FLdW5zdYRkk7ntEd9lFQeGUJUXlrIyJt9iJ3MqCJjTS9jj1azmQKRY12k47VJ+IT9Vd1j/RCOtO5L6R8qFg07sr+rmYLpNOQBXrVsIVF4dFnhsxbPai2ard+rWWrV9kOjVsTJxVKQb/2RQh6UCtkUcqXEdQub0H6CrS+qrkcaYZ8FdT+CaQx8pXyd5donWXId3tl0gjr00VaI/1VsrQi98inEfEV8bmbRYX8G0xE4dVuXrT6NElAZ5bvkCdIO8Ynu2wDy3YTL362QxtOi+bqefJhha40jQU/cb8fYflmZDRtNUlxR2s5pEZ6/jh87gEvPwlINkZqRvhqLitoHUkm0NiBUkiAuahRRZT1fQo2tYF0oIZU6RZpiMmtBmqwnkSpgU+NU+o9DXbaIkcmlgXuRDPRu87qbjPjVYylb+ahPVQpXPS+6MMqqHf4KxdQG+MIbMGoER1dTvkC0pKWN8tlfcRGTsgcdp7KayLd4uLbZyrKUBzgPFAxMulVpuqqcTLNdlq9eKFosZaO+Uvmtz4Qtxsej+WvsTx9DqQV61rndS/IJauTsLyqJJ/pWoNSrV3qlY0xgnBBZt0nwWp2zz6oZjFmDTB/Ew6yXvVPdTPkCRfEG/Nwk/AND3dBF86NL17ASQDz4K9dq19YfYEG2UVLgpbXaIN2BKuzTiUlmnhTIo0Xy90SWMgh4kl9qL4Q8zl0yPKIYwkx5Wn4bZZpnwfqYF4e4tTPtPZ1RbPvhE9lX6+RDtjHqoLyEvOpLN3Qt6qaFNEeEVSnTt00QKZnzFOb0ogn1AQnbJPK54W1QxkpV4ff+N/SqVyB9TsrbJ9+MXfhReCk4YXyYn2VXO/bODeBtrFDw8qaBepzOFaT6dgGSyc6dfCh6qpOijsn5lY+uqc2Wh68NjzY+ypSPN2sr8bwLC82xiqtm87Px+FzDXgpUFvVfAcFAml6VU5IVwspwdnSChGqAV4FXKzxnjpHnahv+LykRiFdeQm8FDY2VkIBuB8gEdDPl3Ek0NiT852hE9rPBIryIvdWeV/jn9SdbFKJj/hLobPPl20WiWVZ6BzRmkpTnupda73qwDrbJf9RIGoSQ51ujVP9WF996Czkq/fECJptsvE/tzackSXRFBbK215V17GduuA9V53WmgZ/mVbMwmwtD01QiAesPAGJwnbpYjlSAxb6SfhU3YlHbXajMRVNWmjzHE2y7LsrfKeKmo914W+dLquOinAjfPprJMgyiUqRRlSI6ibC0owvLXnWS19iWGPZIdLmRhni9Va9PgJ8uylUvmgwxSB6Ii15aFUEWC/a5TaWZEyk56yvg1/ijThwBsfZQ8StZiOFB0WQ0ZIT0YW6XUzJ10ijtHSk9OR1aEKHfSdhoHdFiTZjroQsT6+rx31EXKApVUQbElhV0qLG1bRZjL6ckTLTh4Kq5z69BmVhVhrTWl/zXcfHYgXUacxOglnFSVCw+nZP48d19bEKU5+J3skLmvxS8E25L8rCpTKUin2tOmgETcJb/GGjXKwHe538yftNXHkpiH20ULWEylha9WJ6TWjV2RYX6Yv2JOvCAvY1+18jvupOXzBPU9hMawaLDtVH9MX7aqvuqX+0w5ni7ClvGRM2/sbzlm6wtt0nCCX3BcKBDtbDGs9mCU28MFvAHorJZR2wOUYIbkpqBavZp3vZUC9QS6kBTGWtEEHKrVCDaMDylzmJUO2hClKJFhzIynT+6BHv2GNaPl7FfucbPFphiWSnSlxYDVmg3qrTqqvyuYSImwSuPBQnToSjGUrVwYojoWhW2yK/ar9MtkdtVvBD1dQpw8tulI5Sj6gsJuNfj6w7tV6CRM/k49QVu4H/SBQibrMUBLIkZcKrUD5zGEDtUoakMObjkKWES/MVq4GqpDoJJ04KgZsSysN61YnPOrW+Ntd2wjsJn8xATK02E2ems5Wn9QfT8o7GBoVTRy/fezBps/wHA4waePAf+0b9w863frCKsr2m+IhD4UluERtNnKhxzntmCQoL7B+xpF6VgDeXkGlkZTVs+Yisd+GIeOB/WVjiU+szK5tJ7G32ggkm5i1G1Tlz1j4ILstYlo+UogQK3VcKV+MD1VdIN5p32qU8LW++65yzpkyvWUnRswOtdDr0Fp/zVFakvccfc5VEY2yH6E/FKI0e6T1Zrm7SiyaW1Dy73WxzK6HTbDmiWjRj1Gk1cJNuPXxfz0RDTpnKR3eUnsCEsrCFP7c8KmVm9eIfubS8dDjD4SPlLdBf5+z+wMq+LxBOrXNVcXWfDqfBglbFdMfBT5MY9I0e7yhahekd1UAJ9aLlpz8uzbvyUplTj4nBlZTMqjLFzM5CQCUVspkjNYHKN8HIPA1B8guVxohcmoN3eS2BV2EakZGNXZHQNMOlzlVjjC/0vEmcGoeze/ac/c3DAitKWEiA8G0JMOWthFYO0yqdyraoqexwi42ngyBLTi5GU2E7+FO99R6JQLRoYlbtZD3EDK3ydduxTMioFMr7rIP2rdDiZOXmfPTt1McO3nPYwXlZzCUcWV3UUCtDPcVzI1TlbLeU6JcOI9zm8UWCU7zab5RE/LIveKLYehamSJ1GcIlJDZxrWWc6a9VerRWFKBe2iuhuKQGhRjQgEalfhzb0tp5L+ejSoRWl1SukBqaXlaS+l4wUnYjalVj561QlSOnLs7GFwbyt+ii9LtQLjghxmN3KVhqmtbrZXcktiRrRsTLX4bwb4DM9d4Rj80IIU/+6NDQkLtRte2DPhAenXL6i90QfIgL91yV/lcbhOIp3y6uF23vSmyB1XnJEIfPky0Yv+tW/5rnVzfJWfRy3/MN/vN887heU/f2Bg2NDuohLl2LSDy0yIqzJhIq06if3yqrIpzJYuzFvH9q6tCcjhYdcBi3alQR0XCzaQ6QkVc4IjP9kCZkJTGLxkniM+cX4/HVcRBEUTWpeq1yXTGv++jUITKrXWJUWSWixrIhRSNOImVdjBSI4Pq9Ik6ouapPaobJZlrmivG7RkBqoXwlsLVRUUEU5FKqLOljCzAIMsr8dYcL6WF2ZP++JWUzYCfhc5UjoyqpQuWIby1IVkQBlWh1m+LMIx6ojY2gjZxGUOJa41apwffNopEELTcrBS7zIbZCL5bWGs14UAHIunHj7BOXBwxiIl6oZq8X39fDBA7O47OA5GUPWlQKIVNgh2nOj1V8a2NcET/L6Inb1EXpRylLvWyYOepv4N/oiVnw6jM6k8OSGURTRopIKU/+pX82tso6gO0e6rahPiVpnzNShW56yn0jz7HC3ImxYP7JMpjU889qJDiKfhteqC1+SsDSl61TOqauTgmmcwwHnngMf/z2AFqgv7g+a+NWPMpG1Yoyhf9Y5PFdv8drRprxHQ2z79grO/tkP7YNdLcpt9qARmaR+y0rxmnB0mNrIi5xvAoQMa7k2zW1ZO9I2soi8OvQeXWCZ27y0Q4JIRCnikCxQERJuqjNP7YaEkqNJHSISz1tbmvnrXPUyYAVMA9/NX18V6ILP9F4zqYSV1hApre5IMFvIZrZZuLFIrkKN8tRfnVgevKkyjRuaOlW/fMdDd0C61tpn6flM0jHTQHlxF/ub2uia99gAjVkKL2Jic0WVVnkpf+ahqoitZTkqC6uH/vD+gwYfCjWr5V0QbiWs7a610xEw1kTSXHJmDRf/108w8/olVPdEb2w5n5lgbB7KUli294gU4ZUlNdFgHcI+ZQrRhq7U1dQMEmJKKYWkB6Ree1f3ZY1YahGBnasPHctZh7wR0bfZQ+xbZyxRSlwU3xJsAqf8T3ccwMdBfXpfYDLMKIKZsMM1lqRD57pp4yH8VUfZPY2Y5oDQOjtwvgDfWsWJIVX3WYA8dzOGl7fsobUXYF68JtdZ4GmNJXkoQhTIUStzpTIVH67AEvjrLpNMyNTeGklD3/opHluRBetrA7knJgTc8DGdYnP5+J4nT2mbJ5WybIknCWUfKU+fYWmK21Oga61zEp+XGtixQNkGTc0rMqyteqTwJQFrXE8zbIr9pdXzinXlJy+5aT1qetfDtN4yCZj1kSC0z7xUPw0NsY0Kfqmw2n7Wz8q19pApxAkqV/HHmG+AeSqWlmLCKa6eXwuJ+MyVdSH7/jJm/99FlC4lgV3Vj0yjuG6SXsxPJoa8fdXfzUMfdfvZR3ybFg8f87CuE4i5eG3HAw9sHwlRYj9IfPmJUx/b6SUe3VniMllCfSYN91rB4rq5+UzuvEdx9YRH0p274mVf8WiQvoQv5iOL2cZVSVcupvOQzrw5UopWlogGpXyY1sc+D5Je/OxfT4X4JK3sizZktQmprI/F4FOfEtE0Ck04qt/cBdIj76s/tKDWliipE3gwhwP4J4AWCbM37mNfVB6WATvErAmdqm/5RNv9WcdlyigsbSC7uoVQLoDa1A5uvfcBjj/7ONr/+MtAVwDlzV1k59dQSqbgjYfQ+dAofIe67NtV0YnylFXkKZEAtgoo3l7F5vwqKhQeHUO9aH94EJ6+GIVaGfn5JLKL2yjmnc132yYG4e4IoV4uY/39GbRVQwj53dhNraGgj/oPH0L0kVGgPWSbAlcWNrE1NYesNmDub0fPsRFEFAYnX0V5PoXtuRWU80W0DXUhoYW4nTENA1Lo5VG+ncHOrQ3s5XYQ6o+g53g/fNE41mdW7NOfkdMPw30oQbcph1WF6wm4MXhsHN5wGNWtDDLEQX5z29a7JcYH4e8nDojXzetT8BXriETiyG5t22a74UMdaD9xGPtMu37uGpI/voZt1n1gYhSBM33oe/4hpmlHPbWH3ekNi+8VCAfRc2QY/mHmGyNSNedBDWQzgTJrCGpKqy8NHjAh93ELzrmU5S/hRetrp4wq3dH8nU0KHA/yyyncPvcBur58HBM/eAWBjojhujiVtM8BFcGia3wA/qFONKJqLK1A0m5DSxxI196NEvKktxTprVquon24H5ET7JvuOAVUDZX5TfbbBqrVOqL9nYiO9cPdHUZhe4+0sIw2bwSFbBYFV94+T/TGO7FLfsitJFEjHXWQtmJ8x9UdxX6cfSHXgYJT4/st3H+8zYIPXdXfTfi0y0SERoGo+76/ZDBcMwdZdKQN8qSsEt7PVLHz7k3c/Luz2CGBROhGZe5sY289hcGREfgnDqGczuL6j96ymG2utTy2bi8gvbKFcEcXAp0RM8DEe25ZOxsFbL56CXM/epv5rJPZd1ApFBHv6rB4cclLt3GDZeXmNlHZ2MPqjQUKljIS8W4LxHfjr97A5muTqKylKHA3sHlhBunpdTJ+HOGuHuwtb2H2b84ie30ejb0KatV9i+oRDkQsptvSTy6iMLWBwuo2lifvoJaroK231zT/JgXW7b96F9nLFLypNLI7afgjPkQpUOdeu4qN64sYOXQY7t44cmtpXPvhWyTybYz0HUaZTDn107exdXEWvo08krcWscsy4vF2+Nw+zL36Lqb/7m0UmL6+nEb68h0s35xG1OWzkE/Z6RXkL8/Dky4j5glZTLIEhaMWWk7+6By2Ly7CtZlFcnreYtnF2xPwtTvfXTadJ3m0FBKy55r92ToecDDvQESncyrA7YszuPWXr6HCfvJmSW/sU9FbmIKp65EjqKVyuPk357H33gLcG1lssB9T65tIkIb0qZ52uZdFblbWdhErb1zG7R+fRX5qDdXtLHL5HLyJCGKhODYvTmP6R++gdmfX9nJYIe2iVEO8sweltR3M/PWb2L06h6VbM8htp3GINLYzvYbrr75jQTkb67vYujGLQiaHRF8f9tuD5pyoFzQC08L/Jwmz33UB92sJl3QXxU0FI/NacwVauyaBVKdlNv/+deTYgQNPPoLOrz+F8IlDKEa1RIMUlK8gfXUGu5PLGJw4iok/+AZGTj1CS2QZqWtTQJZ1pDlhS0VoweRmVzF3/pJKwvF/9jJO/Yffw9C3n0RguBvVtW0svHkJtZ0cRp46jYe/8RWEQ1GLgJu7tQIPhasnW0MpR8vu6CgG/+AljH3laexli1i+MmMxxPYoWNdmFhCNd+HEy6/goa8+j7aBfuxv5bF2YQql3QoOf/lpnPz978DX1o7rzHvn9ib253exQEbI7GYw+pUzOP7vvoPxf/USoidpEAd9CNANCtIF8sh9luCvN+ja1Omu0PLI1LFzaRHbzKdn5Cge+u630fvIIxTy20hem7OgiXIx0+k9BPq7MfDt5zH+redtPHJnZp5WZw6Hnj2Bni+NwX04geEXH8eR776IQG8Htm/ewdLNeXQdeRjHvvstDD16GlsU7KvCbYY+r5j4HkaS9dIae1KX/rLd8MXBJ42/tcBmlElvlbUsps5SmST30H7mMXR981mET43REwjQJSdt7rmxeX6K/X0HUVrfo9/7KkZPn8Ti7Rkkb0yjQdrY1zSspGalQetsHfNn30e1VsGR338RR//DtzH4vTNoG+5EaX0Ns2+ep6WfxcBXn8T4916CKxGmUp1EcX4F4XIJrkKGFlkJYy98Cce/8wpcnrBFfK6nCxh76ksY//qLiLR3YubCLexeWbLQ9HK19Z9e9EfAxv+axwF8erhvASdSazGCFKh4RW6C0N/qg0xqG5nkNgYHBnDo0RPwH+tBZJQWjz6LoeBq0ORPTS8hQMtjP1fD5mYahXKFQiePFbrJKFIQi9j2mXulQvcthVq5jr6jx9D2xMNIPDGEjseH4e2KIMN39+gGD/QcQvdpumfHhzEwOoJiknkurlr++jg/Gouh5/QRxM+MovPxYwh3JlCk8ADrEu9qp+XTjzVaYAt0U/cpYL0NP2pbOdSobV3Mo0ABmtrZo2yuYmMtSXcjiQK1cYbCt41WQPuZcYSfOISOJw4jdrgXCGvZJ5lLa9w0LkmE6esHzfZqi7rqLt3qhaSFO2/sER8U1LlCBTtUCsvL68js5YngfYQjEfSOH0bk1BDaHj+KzqFDqCseWYOM1BmGu4duUZwMMEAjfDhmHz2nyGgN5ZvbR3pzBznidSe9i5WlFRRLFJyskvpMlbK1hHbW7FeefMRVfVBBWlWj+vzZ29jG6swSQm2daH/0IXhOdiI01gtvNERL2EMLt4i9qVV4aJlVqFy3aLkViyUUiZfk8hrKe6Q3azgxQQUkK7+cyWL0+DH0PHsKsScG0fWlw/ZNci61Q/c3aQFaM/RCtuj2Fmi9ZdIZlLZoaVPAeYnADtLE8JOn0PXoKLKlEjKk0SM9g+g9OU5Xdxh9Y4dRo8Ar3KFXRQWsOIM2+dUU6J90HMCnh/sWcC3hJqbQzKTGUs09ZY7mMYhGqPlk0cV9QXaaY73ocDZ34TsUEgUysI+ubGlmA7krCyilsug9PIb24UE0FONeXGZz7pRBNa0K95Ng6V5p0awKVSWUV7mGRp3uBZ8763FoSZKoXRUWmCcz12usG2/yv74+sNXsWjIiX0D58Dc+1odjX3sePUNDSF24ick//zkyV+g6kwB9+Src23kUby8hQ7cmEgjhGC2i9s5OG/tBoQ6vVgTLfOWls3SDvxo4JlHaWJcawWeaVAiyLVENUpNB9D1iYzeP6rxwMItGMoO+wUF0jwyYMtDsnHbbd8ZnVFfm4ffprrWVZE+Dowqtxi9LGfC/xoSKtNI8u2z3AoU8rcFGahdDg0PE7xDqQbcNUGhM3ZhGs4fMWugUmHBrXTzA4CytEFJFb7Rr9V0ylYnFHGP9tRRGEqPeIB5EA6SFUI5SZCaJEumtQsE0cWQCPQOH4NMeHg3NqhLjVeKStKNvoX1ULrbam3jVzLO0Qq3mhjvvhn+jiuo1CsqbG2hrRDA08jBCHX2k0xDxGaAOoU0mf5f5VCoUeqTTTg0jCNkEW49WYt/SO7AJI95zsx2aVf1VcCDoPh2QLO4P9KK9zA5n17Mb6SYQ6WJmB/YRjIQtWGCamrK2mTXvWLtRaXMTDay5KcDine0IJmIYGB7B+JNPYeKF5/HUd76JY19+Cm6+byaGZlQ9+lg6ghKtnxytQtDyuetx8zQab6OVE6YbWUCDFiHSlC07RURCcfhi7XD5QzYbK3mn1eSaTZOQdPNQRGH5BC6NXR07jBOvvIDRhyZona0gRUtOgssdCdL6i2Dw4XFMPHUGT3zzq3j+97+JrodkQbbDT1ejmmO52zwU1y/vQqMg5Pgpg7yoZopw71CSZoirnJcuDAmfQssT9SLSFUU4HkT3cD9Gnj6Doy8/jye+9zVMPP04IixTn5mV6dIXtd2in8zq17XkMgU6Gc1V3keAWsVNvLpp/an8AC3Prs5u9kEQ7Yd6MPzMGRz75lfwFOv88Jcfo5UTMVlpS2OkQHhIkGpOWf1qVniTCR9s0AQDK8pKR2JhJNiuBt3GKpWR6MNHgadIs/apH5WFjetG/Dg0NIiRLz+B8ZdfwBO/9y0c/tJj8EeiNLL1qRxzDXoQIk3pA/Hc1g7piS49+87FU43wiNZ88bB9qD9EmhhjXz3yja9QQb6A0MQQ+8lH4erMUNs2gKofPY1AxIP01hrplvXLVFCnYvMEfAi0U4iGmIj/NUFrnXAA/2gQKgVC52efZCBfSNMbL/DEYQrrUd53wV9zIbeyiaU7Cyjn86hTyM1dm0JybR3DR0cROz0Ef9iP1blFrOZ3kN0vY3N3AwtbyxalI97fbhFqqa74h0KJGi7D/FbvLJFIUlil67lwZw5+ltneFkU2mcLC3ByK1NKFpU3MXJ1EqDuBIyQ+V1sYd25OoUIhMPIk3ZfeKKrJEuYu3WZ13STw46ThXdy5fgvZjSS2l1eowYvoP34EsYlhCya5trxE+ZXFLil8YWsJa7ubiPa2I9LdiVKuiKVplr2ewtbmJm7dmkQql0F/Ww/yyR2s3lpAga7MzuY2Nm5MI7WyBhcJvu+xh8xKW19fwebOFoVYCRt765hJLVoUhgQF3OrMLJbXl3HoiWPoGOtHuZzDPPNwkXv6T0/AE48B69u4feU2lhbWsbC6jBjvKezU+uoK1vZ2kPYXcIf5Lm6sWNSW+ECHRWFVJGETalQ4sh/sKxH+k15Rx+rnQQZnYoT/WOFAw0vrdxdri0uo5Aoo83z26nULV9U9Tvfy1AQFkxcLa8vEcRbp/RLWStu4MjcJb0cYbYNd1Axa8E3BSEvOS3rLk95mp+4gtZNGepH4uz5F47yGnu4eWsh5LLJfdqt5yj7id2seyRwtuf4E6pUy5m7cgo90l3hkzKLh+GndF9eTmJ2ZQa5aNhd47soUPO0xTHz1DLxj9Exo3MnZabWryV2/dNgznf6Owue+6YzZacIxDzGDWQK8ZQxiiOevz4+27m4UvS7MbK6yNA/a+/pRZCeGxrvQ9kg/QoMJhGjBbJUzmNuYx045jXBPFH3aO6A/hoa/7rgg3n26pn4kaPE16lUsLy9iJ7ONMDVyz1gPIoNxJPo64KF23kjvIJVPIzHWhdGvPWqCVL7ywswUqoEGep8cRGAggFq+hMXFRdRiHoydOYKChwR7cxJLJOgK6zzy9Cn0PX0M3qEEIhIIWpKR3sTKCgU2Smgf6UH7xCCC3SG2sw0eCuPl5ALWkkvwBV04NNKHLqbx90RsUmUxuUwhXkTPeD/8g21odAXQfYztHO1DiEyRruUwszyLJOse6GnDoSMDiNBKWFmnQKdgHXr0ODoGutGoZbCyvIoqrYSuo0MI9sbhjvvJNCVsZrLwsD0jx0fQ9nAfogNtyJT3sLyyiNzOLuIdMRyiwI70sn/plosAdDgMo45rdqh+nKsHFlQ/fbWgQ1/LaHgimmizDYuXt5PQ9uKx3i7kaKBH2A8KNhoa60ZIcdJKRcwtzSKTIw11hTB2YswsaX1xIoTImvWGfUj0dJL+6lii0tjaSiJMb6N7dACx4W60DfUYTW5sr7I/7qBaL6J3tAfd2g/DVcMSPYBATwKJUyMIdtCSD+wj3t2OGq3qpb1tpLJZxOgaH3n5SSQeHQDitPpppSsiCVUNu8fhpY8cTtOd39bF7yD8I+PBzTXXwf19GHRI3/7yj36dz12ca7uhK41X0GPS5hpFalQf/PB5ArY3gaeN5136TIWJCvso0Z2sZFlPitoAtZ40n5smuwk4pVGe1KparFnfKqK8o+i21LTtzKdTEpOvVui+7dVQ2SVp10mgZHpvW9Bi1rvy1J6rOzIuEewPUJSThPY8KCWLUIjrcF8UdU8FlVQJ9XwDbj/dmUSQ2jVgUX/VjobyTmVRL5Zp/bDs7riFGVcEEu2pWc9S7KV3LRiiTzN33TELLS1tXEtX+W6BzOJCkG6UBiHr+rQsynZqPE1r8HYKKO0V6NK6HY0fDdkH2qWdPYvXFmiXu836UBCWWc9G3YtgV4x4IiLKrBtxUs3QIiODB2gdumO0zUq8v637irJCq4SusJ8MfXd7O7lPspDFPQIjCR6yIpw7DwR80piT7mgtreqr0ERaRKt+qGVLKGWczYy8gYDtXeDVbDbpxMWu3y8S18Sf4v251Qe03vzEt3Z9V7BKffwuOrb8SJKamVfst30SnD8Sst2tPLSuBXXitZzcQ52egYdl+LWvAt1N7U1aSVLZ6OP+PtIzy3XXy6QjN2qFBoo7WezT4gwGlJ40FGFD9hvNSDFqEQWc2R2/jfDZKKv1ZZTIUqDL+YUFHLn/eHD3CLh769JK3bp5Vz7+ChBh2qwDQQKvBeo7aUsxlrLTgJARse6ph/mrQXV7tXlfF8rD0jbztLUpPFd+LUTouUD3jFL5q/da79iYE29ohL1VN13rVCixovhr6ZrnAuVr+ShPPeNDCgkDvaNnWmZg7/PQu633VXarXnpmWSohQWl0au3SDYIthGpe6N1WerutgviS7quOAv202q80Vr/mfbWpVW/DlX55baDEfw80s3vggZW0VqiyaqN+W/3aap5+rS94KI0Gxwx4LjrTM0HrtwXCmwb8LV+l49GiTYF9y8xDGbfyb+FdddC14Vo3eJj/qWfNPhQYnTGh7is9QUX9dkITD58B7JNPoUugU+JmjgJu4r4F3Nw8Do9+ioCXn62e/zholfVb2/FfABzg9IsF4f8A958ChChJuA+RJQF3ZOxI8+o+A14q29bRgo9cq7zP8filslTbj6X5tR2ET2q31ZF/dBjc8+wu3HvvN+kQWAMf4EPwSXX/jMe92X3S8186CJb+3nPBPWn+wfx+FT0LWpX6XTnMy/iEw3BS41HhoaG1+l3H5R+CFio/YsG9dfYsBgcHdWoJ7s3rU+Z7X9DKu1WpXwWfJe0/FajMj5f3Sfj4LHX6+PufZ3s+K86U7vOszz8FqE2f1Af/EHxWXNwL95b3D72vtErT+v20oLT3U7ffVlCsPgcczKytrOD55593bn1WF/UADuAADuA3CO7PRT2AAziAA/gNARnJ9xrXBvdacGd5DPHQnI+OAyv5AA7gAH4TQBbcf+exwUM7eKd4aG3cXRdVAi3Mo5NHX/M3xOPuYoIDOIADOIAHBO4d0tS5Vixqka8E2yYPfVBX4tFaLGTzOQEecR7tPGLN6wMX9gAO4AAedLAl3jwyPHZ5SNhpuvWugNOv3FQJNVly+tV16/kBHMABHMCDCppilUCTkNNR5nHv5wAGstZa4286Dqy3AziAA/hNgNYEgyy51vdGtq7k4xaarlvHARzAARzAbwq0ZlBbwu4ADuAADuC3GYD/D+h/+HV0Lkm1AAAAAElFTkSuQmCC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ángulo 6"/>
              <p:cNvSpPr/>
              <p:nvPr/>
            </p:nvSpPr>
            <p:spPr>
              <a:xfrm>
                <a:off x="831850" y="2366784"/>
                <a:ext cx="8763000" cy="6415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CO" sz="4400" dirty="0">
                    <a:latin typeface="Georgia" panose="02040502050405020303" pitchFamily="18" charset="0"/>
                  </a:rPr>
                  <a:t>En </a:t>
                </a:r>
                <a:r>
                  <a:rPr lang="es-CO" sz="4400" dirty="0">
                    <a:latin typeface="Georgia" panose="02040502050405020303" pitchFamily="18" charset="0"/>
                  </a:rPr>
                  <a:t>matemáticas una razón es la comparación </a:t>
                </a:r>
                <a:r>
                  <a:rPr lang="es-CO" sz="4400" dirty="0">
                    <a:latin typeface="Georgia" panose="02040502050405020303" pitchFamily="18" charset="0"/>
                  </a:rPr>
                  <a:t>de dos cantidades, por medio de división o cociente (cociente indicado). </a:t>
                </a:r>
                <a:endParaRPr lang="es-CO" sz="4400" dirty="0">
                  <a:latin typeface="Georgia" panose="02040502050405020303" pitchFamily="18" charset="0"/>
                </a:endParaRPr>
              </a:p>
              <a:p>
                <a:pPr algn="just"/>
                <a:r>
                  <a:rPr lang="es-CO" sz="4400" dirty="0">
                    <a:latin typeface="Georgia" panose="02040502050405020303" pitchFamily="18" charset="0"/>
                  </a:rPr>
                  <a:t>La razón entre </a:t>
                </a:r>
                <a14:m>
                  <m:oMath xmlns:m="http://schemas.openxmlformats.org/officeDocument/2006/math">
                    <m:r>
                      <a:rPr lang="es-CO" sz="4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CO" sz="4400" dirty="0">
                    <a:latin typeface="Georgia" panose="02040502050405020303" pitchFamily="18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CO" sz="44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CO" sz="4400" dirty="0">
                    <a:latin typeface="Georgia" panose="02040502050405020303" pitchFamily="18" charset="0"/>
                  </a:rPr>
                  <a:t>, cuando </a:t>
                </a:r>
                <a14:m>
                  <m:oMath xmlns:m="http://schemas.openxmlformats.org/officeDocument/2006/math">
                    <m:r>
                      <a:rPr lang="es-CO" sz="44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CO" sz="4400" dirty="0">
                    <a:latin typeface="Georgia" panose="02040502050405020303" pitchFamily="18" charset="0"/>
                  </a:rPr>
                  <a:t> es un número (magnitud) distinto de cero, se escribe:</a:t>
                </a:r>
                <a:endParaRPr lang="es-CO" sz="4400" dirty="0">
                  <a:latin typeface="Georgia" panose="02040502050405020303" pitchFamily="18" charset="0"/>
                </a:endParaRPr>
              </a:p>
              <a:p>
                <a:pPr algn="just"/>
                <a:endParaRPr lang="es-CO" sz="4400" dirty="0">
                  <a:latin typeface="Georgia" panose="02040502050405020303" pitchFamily="18" charset="0"/>
                </a:endParaRPr>
              </a:p>
              <a:p>
                <a:pPr lvl="1" algn="ctr"/>
                <a14:m>
                  <m:oMath xmlns:m="http://schemas.openxmlformats.org/officeDocument/2006/math">
                    <m:f>
                      <m:fPr>
                        <m:ctrlPr>
                          <a:rPr lang="es-CO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44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s-CO" sz="4400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s-CO" sz="4400" dirty="0">
                    <a:latin typeface="Georgia" panose="02040502050405020303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sz="4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</m:t>
                    </m:r>
                    <m:r>
                      <a:rPr lang="es-MX" sz="4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s-MX" sz="4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sz="4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sz="4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CO" sz="4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CO" sz="4400" dirty="0">
                    <a:latin typeface="Georgia" panose="02040502050405020303" pitchFamily="18" charset="0"/>
                  </a:rPr>
                  <a:t>  y se lee  </a:t>
                </a:r>
                <a14:m>
                  <m:oMath xmlns:m="http://schemas.openxmlformats.org/officeDocument/2006/math">
                    <m:r>
                      <a:rPr lang="es-CO" sz="4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CO" sz="4400" dirty="0">
                    <a:solidFill>
                      <a:srgbClr val="7030A0"/>
                    </a:solidFill>
                    <a:latin typeface="Georgia" panose="02040502050405020303" pitchFamily="18" charset="0"/>
                  </a:rPr>
                  <a:t> es a </a:t>
                </a:r>
                <a14:m>
                  <m:oMath xmlns:m="http://schemas.openxmlformats.org/officeDocument/2006/math">
                    <m:r>
                      <a:rPr lang="es-CO" sz="4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s-CO" sz="4400" dirty="0"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50" y="2366784"/>
                <a:ext cx="8763000" cy="6415218"/>
              </a:xfrm>
              <a:prstGeom prst="rect">
                <a:avLst/>
              </a:prstGeom>
              <a:blipFill rotWithShape="1">
                <a:blip r:embed="rId1"/>
                <a:stretch>
                  <a:fillRect t="-2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850" y="2345003"/>
            <a:ext cx="8236659" cy="64211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CuadroTexto 8"/>
          <p:cNvSpPr txBox="1"/>
          <p:nvPr/>
        </p:nvSpPr>
        <p:spPr>
          <a:xfrm>
            <a:off x="5556250" y="777875"/>
            <a:ext cx="9220200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4800" dirty="0">
                <a:solidFill>
                  <a:schemeClr val="bg1"/>
                </a:solidFill>
              </a:rPr>
              <a:t>¿QUÉ ES UNA RAZÓN? </a:t>
            </a:r>
            <a:endParaRPr lang="es-CO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8147050" y="2462723"/>
            <a:ext cx="10508382" cy="69440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3330875" y="539449"/>
            <a:ext cx="10495579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4400" dirty="0"/>
              <a:t>¿QUÉ ES UNA PROPORCIÓN? </a:t>
            </a:r>
            <a:endParaRPr lang="es-CO" sz="4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/>
              <p:cNvSpPr txBox="1"/>
              <p:nvPr/>
            </p:nvSpPr>
            <p:spPr>
              <a:xfrm>
                <a:off x="608436" y="3442277"/>
                <a:ext cx="7279542" cy="3438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just">
                  <a:defRPr sz="2000">
                    <a:latin typeface="Georgia" panose="02040502050405020303" pitchFamily="18" charset="0"/>
                  </a:defRPr>
                </a:lvl1pPr>
              </a:lstStyle>
              <a:p>
                <a:r>
                  <a:rPr lang="es-CO" sz="3200" dirty="0"/>
                  <a:t>Una proporción es la igualdad entre dos o más razones. Se escribe:</a:t>
                </a:r>
                <a:endParaRPr lang="es-CO" sz="3200" dirty="0"/>
              </a:p>
              <a:p>
                <a:endParaRPr lang="es-CO" sz="32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s-CO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280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s-CO" sz="280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s-CO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280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s-CO" sz="280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s-CO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CO" sz="2800" dirty="0"/>
                  <a:t>   </a:t>
                </a:r>
                <a14:m>
                  <m:oMath xmlns:m="http://schemas.openxmlformats.org/officeDocument/2006/math">
                    <m:r>
                      <a:rPr lang="es-CO" sz="2800" dirty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s-CO" sz="2800" dirty="0"/>
                  <a:t> </a:t>
                </a:r>
                <a14:m>
                  <m:oMath xmlns:m="http://schemas.openxmlformats.org/officeDocument/2006/math">
                    <m:r>
                      <a:rPr lang="es-MX" sz="280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: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: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CO" sz="2800" dirty="0"/>
                  <a:t>     con </a:t>
                </a:r>
                <a14:m>
                  <m:oMath xmlns:m="http://schemas.openxmlformats.org/officeDocument/2006/math">
                    <m:r>
                      <a:rPr lang="es-CO" sz="28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≠</m:t>
                    </m:r>
                    <m:r>
                      <a:rPr lang="es-CO" sz="2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CO" sz="2800" dirty="0"/>
              </a:p>
              <a:p>
                <a:pPr lvl="1"/>
                <a:endParaRPr lang="es-CO" sz="2800" dirty="0"/>
              </a:p>
              <a:p>
                <a:pPr lvl="1"/>
                <a:r>
                  <a:rPr lang="es-CO" sz="2800" dirty="0"/>
                  <a:t>Se lee: </a:t>
                </a:r>
                <a14:m>
                  <m:oMath xmlns:m="http://schemas.openxmlformats.org/officeDocument/2006/math">
                    <m:r>
                      <a:rPr lang="es-CO" sz="2800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CO" sz="2800" dirty="0"/>
                  <a:t> es a </a:t>
                </a:r>
                <a14:m>
                  <m:oMath xmlns:m="http://schemas.openxmlformats.org/officeDocument/2006/math">
                    <m:r>
                      <a:rPr lang="es-CO" sz="2800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CO" sz="2800" dirty="0"/>
                  <a:t> como </a:t>
                </a:r>
                <a14:m>
                  <m:oMath xmlns:m="http://schemas.openxmlformats.org/officeDocument/2006/math">
                    <m:r>
                      <a:rPr lang="es-CO" sz="2800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CO" sz="2800" dirty="0"/>
                  <a:t> es a </a:t>
                </a:r>
                <a14:m>
                  <m:oMath xmlns:m="http://schemas.openxmlformats.org/officeDocument/2006/math">
                    <m:r>
                      <a:rPr lang="es-CO" sz="2800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CO" sz="2800" dirty="0"/>
                  <a:t> </a:t>
                </a:r>
                <a:endParaRPr lang="es-CO" sz="2800" dirty="0"/>
              </a:p>
              <a:p>
                <a:pPr lvl="1"/>
                <a:endParaRPr lang="es-CO" sz="2800" dirty="0"/>
              </a:p>
            </p:txBody>
          </p:sp>
        </mc:Choice>
        <mc:Fallback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6" y="3442277"/>
                <a:ext cx="7279542" cy="3438827"/>
              </a:xfrm>
              <a:prstGeom prst="rect">
                <a:avLst/>
              </a:prstGeom>
              <a:blipFill rotWithShape="1">
                <a:blip r:embed="rId1"/>
                <a:stretch>
                  <a:fillRect l="-1" t="-1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10467729" y="2569303"/>
            <a:ext cx="6717450" cy="9541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dirty="0"/>
              <a:t>Teorema Fundamental de las Proporciones</a:t>
            </a:r>
            <a:endParaRPr lang="es-CO" dirty="0"/>
          </a:p>
        </p:txBody>
      </p:sp>
      <p:sp>
        <p:nvSpPr>
          <p:cNvPr id="6" name="Rectángulo 5"/>
          <p:cNvSpPr/>
          <p:nvPr/>
        </p:nvSpPr>
        <p:spPr>
          <a:xfrm>
            <a:off x="9899650" y="3651417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CO" sz="3200" dirty="0"/>
              <a:t>En una proporción, el producto de los extremos es igual al producto de los medios: </a:t>
            </a:r>
            <a:endParaRPr lang="es-CO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/>
              <p:cNvSpPr txBox="1"/>
              <p:nvPr/>
            </p:nvSpPr>
            <p:spPr>
              <a:xfrm>
                <a:off x="8438717" y="5496140"/>
                <a:ext cx="10372723" cy="1479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just">
                  <a:defRPr sz="2000">
                    <a:latin typeface="Georgia" panose="02040502050405020303" pitchFamily="18" charset="0"/>
                  </a:defRPr>
                </a:lvl1pPr>
                <a:lvl2pPr lvl="1"/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600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MX" sz="3600"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  <m:r>
                        <a:rPr lang="es-MX" sz="3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600">
                              <a:latin typeface="Cambria Math" panose="02040503050406030204" pitchFamily="18" charset="0"/>
                            </a:rPr>
                            <m:t>𝒄</m:t>
                          </m:r>
                        </m:num>
                        <m:den>
                          <m:r>
                            <a:rPr lang="es-MX" sz="3600">
                              <a:latin typeface="Cambria Math" panose="02040503050406030204" pitchFamily="18" charset="0"/>
                            </a:rPr>
                            <m:t>𝒅</m:t>
                          </m:r>
                        </m:den>
                      </m:f>
                      <m:r>
                        <a:rPr lang="es-MX" sz="3600">
                          <a:latin typeface="Cambria Math" panose="02040503050406030204" pitchFamily="18" charset="0"/>
                        </a:rPr>
                        <m:t> ⇒</m:t>
                      </m:r>
                      <m:r>
                        <a:rPr lang="es-MX" sz="360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MX" sz="3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MX" sz="360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s-MX" sz="3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360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MX" sz="3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MX" sz="360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s-MX" sz="360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s-MX" sz="36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>
                          <a:latin typeface="Cambria Math" panose="02040503050406030204" pitchFamily="18" charset="0"/>
                        </a:rPr>
                        <m:t>𝒅𝒐𝒏𝒅𝒆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MX" sz="2800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𝒑𝒂𝒓𝒂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𝒒𝒖𝒆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𝒑𝒖𝒆𝒅𝒂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𝒆𝒙𝒊𝒔𝒕𝒊𝒓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𝒍𝒂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𝒓𝒂𝒛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s-MX" sz="280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717" y="5496140"/>
                <a:ext cx="10372723" cy="1479957"/>
              </a:xfrm>
              <a:prstGeom prst="rect">
                <a:avLst/>
              </a:prstGeom>
              <a:blipFill rotWithShape="1">
                <a:blip r:embed="rId2"/>
                <a:stretch>
                  <a:fillRect l="-2" t="-15" r="2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/>
          <p:cNvSpPr txBox="1"/>
          <p:nvPr/>
        </p:nvSpPr>
        <p:spPr>
          <a:xfrm>
            <a:off x="9366250" y="2475518"/>
            <a:ext cx="3974123" cy="589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552908" y="1069065"/>
            <a:ext cx="3841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2800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s-MX" sz="3600" dirty="0">
                <a:solidFill>
                  <a:schemeClr val="bg1"/>
                </a:solidFill>
              </a:rPr>
              <a:t>Ejemplos:</a:t>
            </a:r>
            <a:endParaRPr lang="en-US" sz="3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/>
              <p:cNvSpPr txBox="1"/>
              <p:nvPr/>
            </p:nvSpPr>
            <p:spPr>
              <a:xfrm>
                <a:off x="1256234" y="1956423"/>
                <a:ext cx="605261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just">
                  <a:defRPr sz="2000">
                    <a:latin typeface="Georgia" panose="02040502050405020303" pitchFamily="18" charset="0"/>
                  </a:defRPr>
                </a:lvl1pPr>
                <a:lvl2pPr lvl="1"/>
              </a:lstStyle>
              <a:p>
                <a:pPr algn="ctr"/>
                <a:r>
                  <a:rPr lang="es-MX" sz="3600" dirty="0"/>
                  <a:t>Encuentre el valor de </a:t>
                </a:r>
                <a14:m>
                  <m:oMath xmlns:m="http://schemas.openxmlformats.org/officeDocument/2006/math">
                    <m:r>
                      <a:rPr lang="es-MX" sz="3600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600" dirty="0"/>
                  <a:t>:</a:t>
                </a:r>
                <a:endParaRPr lang="en-US" sz="3600" dirty="0"/>
              </a:p>
            </p:txBody>
          </p:sp>
        </mc:Choice>
        <mc:Fallback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234" y="1956423"/>
                <a:ext cx="6052615" cy="646331"/>
              </a:xfrm>
              <a:prstGeom prst="rect">
                <a:avLst/>
              </a:prstGeom>
              <a:blipFill rotWithShape="1">
                <a:blip r:embed="rId1"/>
                <a:stretch>
                  <a:fillRect l="-3" t="-96" r="10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/>
              <p:cNvSpPr txBox="1"/>
              <p:nvPr/>
            </p:nvSpPr>
            <p:spPr>
              <a:xfrm>
                <a:off x="1166379" y="2803702"/>
                <a:ext cx="3706960" cy="1027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just">
                  <a:defRPr sz="2000">
                    <a:latin typeface="Georgia" panose="02040502050405020303" pitchFamily="18" charset="0"/>
                  </a:defRPr>
                </a:lvl1pPr>
                <a:lvl2pPr lvl="1"/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20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MX" sz="3200">
                              <a:latin typeface="Cambria Math" panose="02040503050406030204" pitchFamily="18" charset="0"/>
                            </a:rPr>
                            <m:t>63</m:t>
                          </m:r>
                        </m:den>
                      </m:f>
                      <m:r>
                        <a:rPr lang="es-MX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20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MX" sz="320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379" y="2803702"/>
                <a:ext cx="3706960" cy="1027525"/>
              </a:xfrm>
              <a:prstGeom prst="rect">
                <a:avLst/>
              </a:prstGeom>
              <a:blipFill rotWithShape="1">
                <a:blip r:embed="rId2"/>
                <a:stretch>
                  <a:fillRect l="-14" t="-17" r="9" b="2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9671050" y="2876607"/>
                <a:ext cx="4114800" cy="10175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just">
                  <a:defRPr sz="2000">
                    <a:latin typeface="Georgia" panose="02040502050405020303" pitchFamily="18" charset="0"/>
                  </a:defRPr>
                </a:lvl1pPr>
                <a:lvl2pPr lvl="1"/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2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3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320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MX" sz="320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s-MX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32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3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sz="3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320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1050" y="2876607"/>
                <a:ext cx="4114800" cy="1017523"/>
              </a:xfrm>
              <a:prstGeom prst="rect">
                <a:avLst/>
              </a:prstGeom>
              <a:blipFill rotWithShape="1">
                <a:blip r:embed="rId3"/>
                <a:stretch>
                  <a:fillRect t="-6" b="3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956050" y="473075"/>
            <a:ext cx="11388752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pPr defTabSz="1508125" rtl="0"/>
            <a:r>
              <a:rPr lang="es-MX" sz="4000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PROBLEMAS DE APLICACIÓN</a:t>
            </a:r>
            <a:endParaRPr lang="en-US" sz="4000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1"/>
              <p:cNvSpPr>
                <a:spLocks noChangeArrowheads="1"/>
              </p:cNvSpPr>
              <p:nvPr/>
            </p:nvSpPr>
            <p:spPr bwMode="auto">
              <a:xfrm>
                <a:off x="337070" y="1987670"/>
                <a:ext cx="8343380" cy="22159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 b="1" dirty="0" smtClean="0">
                    <a:solidFill>
                      <a:schemeClr val="tx1"/>
                    </a:solidFill>
                    <a:latin typeface="Arial" panose="020B0604020202020204" pitchFamily="34" charset="0"/>
                  </a:rPr>
                  <a:t>Problema 1:  </a:t>
                </a:r>
                <a:r>
                  <a:rPr kumimoji="0" lang="en-US" altLang="en-US" sz="2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Una empresa de transporte cobra un valor fijo de $20.000 por trayecto más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$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500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2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por cada hora adicional de espera. Un cliente pagó un total de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$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42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500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2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por un viaje que incluyó un tiempo de espera. ¿Cuántas horas de espera tuvo el cliente?</a:t>
                </a:r>
                <a:endParaRPr kumimoji="0" lang="en-US" alt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alt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7070" y="1987670"/>
                <a:ext cx="8343380" cy="2215991"/>
              </a:xfrm>
              <a:prstGeom prst="rect">
                <a:avLst/>
              </a:prstGeom>
              <a:blipFill rotWithShape="1">
                <a:blip r:embed="rId1"/>
                <a:stretch>
                  <a:fillRect l="-6" t="-5" b="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280650" y="1987670"/>
            <a:ext cx="834973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Problema 2:</a:t>
            </a: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  Una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fábrica produce cuadernos. Cada cuaderno cuesta $4.000 en materiales y $1.500 en mano de obra. El ingreso total por cuaderno es de $7.000. La empresa desea producir cuadernos sin superar un costo total de $280.000</a:t>
            </a: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. ¿Cuántos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cuadernos como máximo puede producir sin exceder el presupuesto?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37162" y="5806844"/>
            <a:ext cx="9220200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Problema 3</a:t>
            </a: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na empresa de mensajería cobra una tarifa fija por envío más un valor adicional por cada kilogramo de peso del paquete.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Si por un paquete de 2 kg se cobra $28.000 y por un paquete de 5 kg se cobra $46.000, determine el rango de pesos que un cliente puede enviar si desea que el costo sea menor o igual a $50.000.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4"/>
              <p:cNvSpPr>
                <a:spLocks noChangeArrowheads="1"/>
              </p:cNvSpPr>
              <p:nvPr/>
            </p:nvSpPr>
            <p:spPr bwMode="auto">
              <a:xfrm>
                <a:off x="8299450" y="8299767"/>
                <a:ext cx="11353800" cy="23069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 b="1" dirty="0" smtClean="0">
                    <a:solidFill>
                      <a:schemeClr val="tx1"/>
                    </a:solidFill>
                    <a:latin typeface="Arial" panose="020B0604020202020204" pitchFamily="34" charset="0"/>
                  </a:rPr>
                  <a:t>Problema 4</a:t>
                </a:r>
                <a:r>
                  <a:rPr lang="en-US" altLang="en-US" sz="2400" dirty="0" smtClean="0">
                    <a:solidFill>
                      <a:schemeClr val="tx1"/>
                    </a:solidFill>
                    <a:latin typeface="Arial" panose="020B0604020202020204" pitchFamily="34" charset="0"/>
                  </a:rPr>
                  <a:t>: Un fabricante de pequeños electrodomésticos determina que la utilidad semanal P (en dólares), al producir x hornos microondas, se calcula mediante la siguiente fórmula:</a:t>
                </a:r>
                <a:endParaRPr lang="en-US" altLang="en-US" sz="2400" dirty="0" smtClean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brk/>
                        </m:rP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  <m:r>
                        <m:rPr>
                          <m:brk/>
                        </m:rP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𝑥−</m:t>
                      </m:r>
                      <m:r>
                        <m:rPr>
                          <m:brk/>
                        </m:rP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5000</m:t>
                      </m:r>
                      <m:r>
                        <a:rPr lang="es-ES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𝑑𝑜𝑛𝑑𝑒</m:t>
                      </m:r>
                      <m:r>
                        <a:rPr lang="es-ES" alt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2000</m:t>
                      </m:r>
                    </m:oMath>
                  </m:oMathPara>
                </a14:m>
                <a:endParaRPr lang="es-ES" altLang="en-US" sz="2400" dirty="0" smtClean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 dirty="0" smtClean="0">
                    <a:solidFill>
                      <a:schemeClr val="tx1"/>
                    </a:solidFill>
                    <a:latin typeface="Arial" panose="020B0604020202020204" pitchFamily="34" charset="0"/>
                  </a:rPr>
                  <a:t>¿Cuántos 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hornos deben producirse en una semana para que la utilidad generada sea de $1</a:t>
                </a:r>
                <a:r>
                  <a:rPr lang="es-ES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5000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?</a:t>
                </a:r>
                <a:endParaRPr lang="en-US" altLang="en-US" sz="2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99450" y="8299767"/>
                <a:ext cx="11353800" cy="2306955"/>
              </a:xfrm>
              <a:prstGeom prst="rect">
                <a:avLst/>
              </a:prstGeom>
              <a:blipFill rotWithShape="1">
                <a:blip r:embed="rId2"/>
                <a:stretch>
                  <a:fillRect t="-14" b="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19" y="4115313"/>
            <a:ext cx="7211431" cy="171473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8547" y="4311641"/>
            <a:ext cx="3195638" cy="2320787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830" y="5714242"/>
            <a:ext cx="4225542" cy="1685469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6050" y="8490345"/>
            <a:ext cx="4018255" cy="22502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CDE58CE99D8342A8E0214B3B5575A9" ma:contentTypeVersion="11" ma:contentTypeDescription="Crear nuevo documento." ma:contentTypeScope="" ma:versionID="291568386eb012268d74aa0d43a45c1a">
  <xsd:schema xmlns:xsd="http://www.w3.org/2001/XMLSchema" xmlns:xs="http://www.w3.org/2001/XMLSchema" xmlns:p="http://schemas.microsoft.com/office/2006/metadata/properties" xmlns:ns3="8a808648-60b0-4918-966f-b210d93cfb0d" targetNamespace="http://schemas.microsoft.com/office/2006/metadata/properties" ma:root="true" ma:fieldsID="a2bfbbfb6545a576a46cf13cea747d5c" ns3:_="">
    <xsd:import namespace="8a808648-60b0-4918-966f-b210d93cfb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08648-60b0-4918-966f-b210d93c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808648-60b0-4918-966f-b210d93cfb0d" xsi:nil="true"/>
  </documentManagement>
</p:properties>
</file>

<file path=customXml/itemProps1.xml><?xml version="1.0" encoding="utf-8"?>
<ds:datastoreItem xmlns:ds="http://schemas.openxmlformats.org/officeDocument/2006/customXml" ds:itemID="{268C8323-79AA-45A3-8FB6-9E2E0E00D0DD}">
  <ds:schemaRefs/>
</ds:datastoreItem>
</file>

<file path=customXml/itemProps2.xml><?xml version="1.0" encoding="utf-8"?>
<ds:datastoreItem xmlns:ds="http://schemas.openxmlformats.org/officeDocument/2006/customXml" ds:itemID="{0B3644BD-7B65-43D5-AA9A-9EE54A54B55F}">
  <ds:schemaRefs/>
</ds:datastoreItem>
</file>

<file path=customXml/itemProps3.xml><?xml version="1.0" encoding="utf-8"?>
<ds:datastoreItem xmlns:ds="http://schemas.openxmlformats.org/officeDocument/2006/customXml" ds:itemID="{AA327D51-DC68-401A-A781-7AE13751AD8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4296</Words>
  <Application>WPS Presentation</Application>
  <PresentationFormat>Personalizado</PresentationFormat>
  <Paragraphs>162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SimSun</vt:lpstr>
      <vt:lpstr>Wingdings</vt:lpstr>
      <vt:lpstr>Rockwell Extra Bold</vt:lpstr>
      <vt:lpstr>Roboto</vt:lpstr>
      <vt:lpstr>Times New Roman</vt:lpstr>
      <vt:lpstr>Sitka Text</vt:lpstr>
      <vt:lpstr>Georgia</vt:lpstr>
      <vt:lpstr>Cambria Math</vt:lpstr>
      <vt:lpstr>Calibri</vt:lpstr>
      <vt:lpstr>Amasis MT Pro Black</vt:lpstr>
      <vt:lpstr>Segoe Print</vt:lpstr>
      <vt:lpstr>Microsoft YaHei</vt:lpstr>
      <vt:lpstr>Arial Unicode MS</vt:lpstr>
      <vt:lpstr>BatangChe</vt:lpstr>
      <vt:lpstr>Latha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OTROS recursos pptx</dc:title>
  <dc:creator>Maira Alejandra Palacios Arce</dc:creator>
  <cp:lastModifiedBy>Maira Alejandra Palacios Arce</cp:lastModifiedBy>
  <cp:revision>51</cp:revision>
  <dcterms:created xsi:type="dcterms:W3CDTF">2024-11-07T16:52:00Z</dcterms:created>
  <dcterms:modified xsi:type="dcterms:W3CDTF">2025-08-04T14:18:51Z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2024-11-06T19:00:00Z</vt:filetime>
  </property>
  <property fmtid="{D5CDD505-2E9C-101B-9397-08002B2CF9AE}" pid="3" name="Creator">
    <vt:lpwstr>Adobe Illustrator 29.0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2024-11-06T19:00:00Z</vt:filetime>
  </property>
  <property fmtid="{D5CDD505-2E9C-101B-9397-08002B2CF9AE}" pid="6" name="Producer">
    <vt:lpwstr>Adobe PDF library 17.00</vt:lpwstr>
  </property>
  <property fmtid="{D5CDD505-2E9C-101B-9397-08002B2CF9AE}" pid="7" name="ContentTypeId">
    <vt:lpwstr>0x010100AFCDE58CE99D8342A8E0214B3B5575A9</vt:lpwstr>
  </property>
  <property fmtid="{D5CDD505-2E9C-101B-9397-08002B2CF9AE}" pid="8" name="ICV">
    <vt:lpwstr>F8CDE7A32B5B496EA0908B17A4F14238_12</vt:lpwstr>
  </property>
  <property fmtid="{D5CDD505-2E9C-101B-9397-08002B2CF9AE}" pid="9" name="KSOProductBuildVer">
    <vt:lpwstr>1033-12.2.0.21931</vt:lpwstr>
  </property>
</Properties>
</file>
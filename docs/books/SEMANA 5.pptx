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64" r:id="rId5"/>
    <p:sldId id="294" r:id="rId6"/>
    <p:sldId id="310" r:id="rId7"/>
    <p:sldId id="311" r:id="rId8"/>
    <p:sldId id="303" r:id="rId9"/>
    <p:sldId id="314" r:id="rId10"/>
    <p:sldId id="312" r:id="rId11"/>
    <p:sldId id="313" r:id="rId12"/>
    <p:sldId id="315" r:id="rId13"/>
    <p:sldId id="316" r:id="rId14"/>
    <p:sldId id="317" r:id="rId15"/>
    <p:sldId id="318" r:id="rId16"/>
    <p:sldId id="319" r:id="rId17"/>
    <p:sldId id="320" r:id="rId18"/>
    <p:sldId id="321" r:id="rId19"/>
  </p:sldIdLst>
  <p:sldSz cx="20104100" cy="11309350"/>
  <p:notesSz cx="20104100" cy="11309350"/>
  <p:defaultTextStyle>
    <a:defPPr>
      <a:defRPr kern="0"/>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36"/>
    <p:restoredTop sz="94709"/>
  </p:normalViewPr>
  <p:slideViewPr>
    <p:cSldViewPr>
      <p:cViewPr varScale="1">
        <p:scale>
          <a:sx n="36" d="100"/>
          <a:sy n="36" d="100"/>
        </p:scale>
        <p:origin x="120" y="1098"/>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389561A-75C5-A438-9BB0-84BEB3E26B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7"/>
            <a:ext cx="20186650" cy="1135498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EC5E482D-F719-B93C-146E-075116A55649}"/>
              </a:ext>
            </a:extLst>
          </p:cNvPr>
          <p:cNvSpPr/>
          <p:nvPr/>
        </p:nvSpPr>
        <p:spPr>
          <a:xfrm>
            <a:off x="7080850" y="5"/>
            <a:ext cx="13023850" cy="2725420"/>
          </a:xfrm>
          <a:custGeom>
            <a:avLst/>
            <a:gdLst/>
            <a:ahLst/>
            <a:cxnLst/>
            <a:rect l="l" t="t" r="r" b="b"/>
            <a:pathLst>
              <a:path w="13023850" h="2725420">
                <a:moveTo>
                  <a:pt x="13023247" y="0"/>
                </a:moveTo>
                <a:lnTo>
                  <a:pt x="0" y="0"/>
                </a:lnTo>
                <a:lnTo>
                  <a:pt x="0" y="2725047"/>
                </a:lnTo>
                <a:lnTo>
                  <a:pt x="11804666" y="2725047"/>
                </a:lnTo>
                <a:lnTo>
                  <a:pt x="11852516" y="2724125"/>
                </a:lnTo>
                <a:lnTo>
                  <a:pt x="11899898" y="2721381"/>
                </a:lnTo>
                <a:lnTo>
                  <a:pt x="11946779" y="2716849"/>
                </a:lnTo>
                <a:lnTo>
                  <a:pt x="11993125" y="2710563"/>
                </a:lnTo>
                <a:lnTo>
                  <a:pt x="12038902" y="2702557"/>
                </a:lnTo>
                <a:lnTo>
                  <a:pt x="12084076" y="2692864"/>
                </a:lnTo>
                <a:lnTo>
                  <a:pt x="12128614" y="2681519"/>
                </a:lnTo>
                <a:lnTo>
                  <a:pt x="12172481" y="2668555"/>
                </a:lnTo>
                <a:lnTo>
                  <a:pt x="12215644" y="2654006"/>
                </a:lnTo>
                <a:lnTo>
                  <a:pt x="12258069" y="2637906"/>
                </a:lnTo>
                <a:lnTo>
                  <a:pt x="12299721" y="2620290"/>
                </a:lnTo>
                <a:lnTo>
                  <a:pt x="12340568" y="2601190"/>
                </a:lnTo>
                <a:lnTo>
                  <a:pt x="12380575" y="2580641"/>
                </a:lnTo>
                <a:lnTo>
                  <a:pt x="12419708" y="2558676"/>
                </a:lnTo>
                <a:lnTo>
                  <a:pt x="12457934" y="2535330"/>
                </a:lnTo>
                <a:lnTo>
                  <a:pt x="12495218" y="2510636"/>
                </a:lnTo>
                <a:lnTo>
                  <a:pt x="12531527" y="2484628"/>
                </a:lnTo>
                <a:lnTo>
                  <a:pt x="12566827" y="2457340"/>
                </a:lnTo>
                <a:lnTo>
                  <a:pt x="12601084" y="2428805"/>
                </a:lnTo>
                <a:lnTo>
                  <a:pt x="12634264" y="2399059"/>
                </a:lnTo>
                <a:lnTo>
                  <a:pt x="12666334" y="2368134"/>
                </a:lnTo>
                <a:lnTo>
                  <a:pt x="12697259" y="2336065"/>
                </a:lnTo>
                <a:lnTo>
                  <a:pt x="12727005" y="2302885"/>
                </a:lnTo>
                <a:lnTo>
                  <a:pt x="12755539" y="2268628"/>
                </a:lnTo>
                <a:lnTo>
                  <a:pt x="12782827" y="2233328"/>
                </a:lnTo>
                <a:lnTo>
                  <a:pt x="12808835" y="2197019"/>
                </a:lnTo>
                <a:lnTo>
                  <a:pt x="12833529" y="2159734"/>
                </a:lnTo>
                <a:lnTo>
                  <a:pt x="12856875" y="2121509"/>
                </a:lnTo>
                <a:lnTo>
                  <a:pt x="12878840" y="2082375"/>
                </a:lnTo>
                <a:lnTo>
                  <a:pt x="12899389" y="2042369"/>
                </a:lnTo>
                <a:lnTo>
                  <a:pt x="12918489" y="2001522"/>
                </a:lnTo>
                <a:lnTo>
                  <a:pt x="12936106" y="1959869"/>
                </a:lnTo>
                <a:lnTo>
                  <a:pt x="12952206" y="1917445"/>
                </a:lnTo>
                <a:lnTo>
                  <a:pt x="12966754" y="1874282"/>
                </a:lnTo>
                <a:lnTo>
                  <a:pt x="12979718" y="1830414"/>
                </a:lnTo>
                <a:lnTo>
                  <a:pt x="12991063" y="1785877"/>
                </a:lnTo>
                <a:lnTo>
                  <a:pt x="13000756" y="1740702"/>
                </a:lnTo>
                <a:lnTo>
                  <a:pt x="13008763" y="1694925"/>
                </a:lnTo>
                <a:lnTo>
                  <a:pt x="13015049" y="1648579"/>
                </a:lnTo>
                <a:lnTo>
                  <a:pt x="13019581" y="1601698"/>
                </a:lnTo>
                <a:lnTo>
                  <a:pt x="13022325" y="1554316"/>
                </a:lnTo>
                <a:lnTo>
                  <a:pt x="13023247" y="1506467"/>
                </a:lnTo>
                <a:lnTo>
                  <a:pt x="13023247" y="0"/>
                </a:lnTo>
                <a:close/>
              </a:path>
            </a:pathLst>
          </a:custGeom>
          <a:solidFill>
            <a:srgbClr val="FF051E"/>
          </a:solidFill>
        </p:spPr>
        <p:txBody>
          <a:bodyPr wrap="square" lIns="0" tIns="0" rIns="0" bIns="0" rtlCol="0"/>
          <a:lstStyle/>
          <a:p>
            <a:endParaRPr/>
          </a:p>
        </p:txBody>
      </p:sp>
      <p:pic>
        <p:nvPicPr>
          <p:cNvPr id="3" name="Imagen 2">
            <a:extLst>
              <a:ext uri="{FF2B5EF4-FFF2-40B4-BE49-F238E27FC236}">
                <a16:creationId xmlns:a16="http://schemas.microsoft.com/office/drawing/2014/main" id="{D263857B-7F5B-147A-E9FA-539F65C25D71}"/>
              </a:ext>
            </a:extLst>
          </p:cNvPr>
          <p:cNvPicPr>
            <a:picLocks noChangeAspect="1"/>
          </p:cNvPicPr>
          <p:nvPr userDrawn="1"/>
        </p:nvPicPr>
        <p:blipFill>
          <a:blip r:embed="rId2"/>
          <a:stretch>
            <a:fillRect/>
          </a:stretch>
        </p:blipFill>
        <p:spPr>
          <a:xfrm>
            <a:off x="528612" y="1158875"/>
            <a:ext cx="10218978" cy="9624002"/>
          </a:xfrm>
          <a:prstGeom prst="rect">
            <a:avLst/>
          </a:prstGeom>
        </p:spPr>
      </p:pic>
      <p:pic>
        <p:nvPicPr>
          <p:cNvPr id="5" name="Imagen 4">
            <a:extLst>
              <a:ext uri="{FF2B5EF4-FFF2-40B4-BE49-F238E27FC236}">
                <a16:creationId xmlns:a16="http://schemas.microsoft.com/office/drawing/2014/main" id="{5CC4688C-435E-AA60-7F63-BBA53F17804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86250" y="549275"/>
            <a:ext cx="2088572" cy="685800"/>
          </a:xfrm>
          <a:prstGeom prst="rect">
            <a:avLst/>
          </a:prstGeom>
        </p:spPr>
      </p:pic>
    </p:spTree>
    <p:extLst>
      <p:ext uri="{BB962C8B-B14F-4D97-AF65-F5344CB8AC3E}">
        <p14:creationId xmlns:p14="http://schemas.microsoft.com/office/powerpoint/2010/main" val="697220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894951" y="0"/>
            <a:ext cx="14209394" cy="11308715"/>
          </a:xfrm>
          <a:custGeom>
            <a:avLst/>
            <a:gdLst/>
            <a:ahLst/>
            <a:cxnLst/>
            <a:rect l="l" t="t" r="r" b="b"/>
            <a:pathLst>
              <a:path w="14209394" h="11308715">
                <a:moveTo>
                  <a:pt x="14209148" y="0"/>
                </a:moveTo>
                <a:lnTo>
                  <a:pt x="0" y="0"/>
                </a:lnTo>
                <a:lnTo>
                  <a:pt x="0" y="11308556"/>
                </a:lnTo>
                <a:lnTo>
                  <a:pt x="14209148" y="11308556"/>
                </a:lnTo>
                <a:lnTo>
                  <a:pt x="14209148" y="0"/>
                </a:lnTo>
                <a:close/>
              </a:path>
            </a:pathLst>
          </a:custGeom>
          <a:solidFill>
            <a:srgbClr val="F8F4EB"/>
          </a:solidFill>
        </p:spPr>
        <p:txBody>
          <a:bodyPr wrap="square" lIns="0" tIns="0" rIns="0" bIns="0" rtlCol="0"/>
          <a:lstStyle/>
          <a:p>
            <a:endParaRPr/>
          </a:p>
        </p:txBody>
      </p:sp>
      <p:pic>
        <p:nvPicPr>
          <p:cNvPr id="2" name="Imagen 1">
            <a:extLst>
              <a:ext uri="{FF2B5EF4-FFF2-40B4-BE49-F238E27FC236}">
                <a16:creationId xmlns:a16="http://schemas.microsoft.com/office/drawing/2014/main" id="{A91930B7-9C38-5C2D-663B-E2625F67AC7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86250" y="549275"/>
            <a:ext cx="2104726" cy="69110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1308715" cy="11308715"/>
          </a:xfrm>
          <a:custGeom>
            <a:avLst/>
            <a:gdLst/>
            <a:ahLst/>
            <a:cxnLst/>
            <a:rect l="l" t="t" r="r" b="b"/>
            <a:pathLst>
              <a:path w="11308715" h="11308715">
                <a:moveTo>
                  <a:pt x="11308556" y="0"/>
                </a:moveTo>
                <a:lnTo>
                  <a:pt x="0" y="0"/>
                </a:lnTo>
                <a:lnTo>
                  <a:pt x="0" y="11308556"/>
                </a:lnTo>
                <a:lnTo>
                  <a:pt x="11308556" y="11308556"/>
                </a:lnTo>
                <a:lnTo>
                  <a:pt x="11308556" y="0"/>
                </a:lnTo>
                <a:close/>
              </a:path>
            </a:pathLst>
          </a:custGeom>
          <a:solidFill>
            <a:srgbClr val="FF051E"/>
          </a:solidFill>
        </p:spPr>
        <p:txBody>
          <a:bodyPr wrap="square" lIns="0" tIns="0" rIns="0" bIns="0" rtlCol="0"/>
          <a:lstStyle/>
          <a:p>
            <a:endParaRPr/>
          </a:p>
        </p:txBody>
      </p:sp>
      <p:pic>
        <p:nvPicPr>
          <p:cNvPr id="2" name="Imagen 1">
            <a:extLst>
              <a:ext uri="{FF2B5EF4-FFF2-40B4-BE49-F238E27FC236}">
                <a16:creationId xmlns:a16="http://schemas.microsoft.com/office/drawing/2014/main" id="{C78F4E27-A30C-9E6F-A950-F3C285D35B4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86250" y="549275"/>
            <a:ext cx="2104726" cy="69110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75FBBFD-8B9D-A60D-32EE-0466FF9D066A}"/>
              </a:ext>
            </a:extLst>
          </p:cNvPr>
          <p:cNvSpPr/>
          <p:nvPr userDrawn="1"/>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F051E"/>
          </a:solidFill>
        </p:spPr>
        <p:txBody>
          <a:bodyPr wrap="square" lIns="0" tIns="0" rIns="0" bIns="0" rtlCol="0"/>
          <a:lstStyle/>
          <a:p>
            <a:endParaRPr/>
          </a:p>
        </p:txBody>
      </p:sp>
      <p:sp>
        <p:nvSpPr>
          <p:cNvPr id="3" name="object 3">
            <a:extLst>
              <a:ext uri="{FF2B5EF4-FFF2-40B4-BE49-F238E27FC236}">
                <a16:creationId xmlns:a16="http://schemas.microsoft.com/office/drawing/2014/main" id="{EA8C968B-6900-E09C-728E-6CF848948DE2}"/>
              </a:ext>
            </a:extLst>
          </p:cNvPr>
          <p:cNvSpPr/>
          <p:nvPr userDrawn="1"/>
        </p:nvSpPr>
        <p:spPr>
          <a:xfrm>
            <a:off x="2422668" y="1566986"/>
            <a:ext cx="15259050" cy="8174990"/>
          </a:xfrm>
          <a:custGeom>
            <a:avLst/>
            <a:gdLst/>
            <a:ahLst/>
            <a:cxnLst/>
            <a:rect l="l" t="t" r="r" b="b"/>
            <a:pathLst>
              <a:path w="15259050" h="8174990">
                <a:moveTo>
                  <a:pt x="15017165" y="0"/>
                </a:moveTo>
                <a:lnTo>
                  <a:pt x="241594" y="0"/>
                </a:lnTo>
                <a:lnTo>
                  <a:pt x="192901" y="4909"/>
                </a:lnTo>
                <a:lnTo>
                  <a:pt x="147550" y="18988"/>
                </a:lnTo>
                <a:lnTo>
                  <a:pt x="106511" y="41265"/>
                </a:lnTo>
                <a:lnTo>
                  <a:pt x="70757" y="70767"/>
                </a:lnTo>
                <a:lnTo>
                  <a:pt x="41257" y="106522"/>
                </a:lnTo>
                <a:lnTo>
                  <a:pt x="18984" y="147558"/>
                </a:lnTo>
                <a:lnTo>
                  <a:pt x="4907" y="192903"/>
                </a:lnTo>
                <a:lnTo>
                  <a:pt x="0" y="241584"/>
                </a:lnTo>
                <a:lnTo>
                  <a:pt x="0" y="7932994"/>
                </a:lnTo>
                <a:lnTo>
                  <a:pt x="4907" y="7981690"/>
                </a:lnTo>
                <a:lnTo>
                  <a:pt x="18984" y="8027043"/>
                </a:lnTo>
                <a:lnTo>
                  <a:pt x="41257" y="8068081"/>
                </a:lnTo>
                <a:lnTo>
                  <a:pt x="70757" y="8103835"/>
                </a:lnTo>
                <a:lnTo>
                  <a:pt x="106511" y="8133334"/>
                </a:lnTo>
                <a:lnTo>
                  <a:pt x="147550" y="8155606"/>
                </a:lnTo>
                <a:lnTo>
                  <a:pt x="192901" y="8169681"/>
                </a:lnTo>
                <a:lnTo>
                  <a:pt x="241594" y="8174588"/>
                </a:lnTo>
                <a:lnTo>
                  <a:pt x="1968442" y="8174588"/>
                </a:lnTo>
                <a:lnTo>
                  <a:pt x="2017738" y="8172068"/>
                </a:lnTo>
                <a:lnTo>
                  <a:pt x="2066142" y="8164604"/>
                </a:lnTo>
                <a:lnTo>
                  <a:pt x="2113306" y="8152342"/>
                </a:lnTo>
                <a:lnTo>
                  <a:pt x="2158880" y="8135427"/>
                </a:lnTo>
                <a:lnTo>
                  <a:pt x="2202514" y="8114004"/>
                </a:lnTo>
                <a:lnTo>
                  <a:pt x="2243857" y="8088219"/>
                </a:lnTo>
                <a:lnTo>
                  <a:pt x="2282561" y="8058217"/>
                </a:lnTo>
                <a:lnTo>
                  <a:pt x="2318274" y="8024143"/>
                </a:lnTo>
                <a:lnTo>
                  <a:pt x="2351677" y="7989048"/>
                </a:lnTo>
                <a:lnTo>
                  <a:pt x="2385310" y="7954175"/>
                </a:lnTo>
                <a:lnTo>
                  <a:pt x="2419173" y="7919526"/>
                </a:lnTo>
                <a:lnTo>
                  <a:pt x="2453263" y="7885101"/>
                </a:lnTo>
                <a:lnTo>
                  <a:pt x="2487581" y="7850901"/>
                </a:lnTo>
                <a:lnTo>
                  <a:pt x="2522124" y="7816929"/>
                </a:lnTo>
                <a:lnTo>
                  <a:pt x="2556891" y="7783184"/>
                </a:lnTo>
                <a:lnTo>
                  <a:pt x="2591882" y="7749669"/>
                </a:lnTo>
                <a:lnTo>
                  <a:pt x="2627095" y="7716384"/>
                </a:lnTo>
                <a:lnTo>
                  <a:pt x="2662528" y="7683331"/>
                </a:lnTo>
                <a:lnTo>
                  <a:pt x="2698181" y="7650511"/>
                </a:lnTo>
                <a:lnTo>
                  <a:pt x="2734052" y="7617924"/>
                </a:lnTo>
                <a:lnTo>
                  <a:pt x="2770141" y="7585573"/>
                </a:lnTo>
                <a:lnTo>
                  <a:pt x="2806445" y="7553459"/>
                </a:lnTo>
                <a:lnTo>
                  <a:pt x="2842964" y="7521582"/>
                </a:lnTo>
                <a:lnTo>
                  <a:pt x="2879696" y="7489944"/>
                </a:lnTo>
                <a:lnTo>
                  <a:pt x="2916641" y="7458547"/>
                </a:lnTo>
                <a:lnTo>
                  <a:pt x="2953796" y="7427390"/>
                </a:lnTo>
                <a:lnTo>
                  <a:pt x="2991161" y="7396477"/>
                </a:lnTo>
                <a:lnTo>
                  <a:pt x="3028735" y="7365807"/>
                </a:lnTo>
                <a:lnTo>
                  <a:pt x="3066516" y="7335382"/>
                </a:lnTo>
                <a:lnTo>
                  <a:pt x="3104503" y="7305203"/>
                </a:lnTo>
                <a:lnTo>
                  <a:pt x="3142695" y="7275271"/>
                </a:lnTo>
                <a:lnTo>
                  <a:pt x="3181091" y="7245588"/>
                </a:lnTo>
                <a:lnTo>
                  <a:pt x="3219689" y="7216155"/>
                </a:lnTo>
                <a:lnTo>
                  <a:pt x="3258489" y="7186973"/>
                </a:lnTo>
                <a:lnTo>
                  <a:pt x="3297488" y="7158044"/>
                </a:lnTo>
                <a:lnTo>
                  <a:pt x="3336686" y="7129367"/>
                </a:lnTo>
                <a:lnTo>
                  <a:pt x="3376082" y="7100946"/>
                </a:lnTo>
                <a:lnTo>
                  <a:pt x="3415674" y="7072780"/>
                </a:lnTo>
                <a:lnTo>
                  <a:pt x="3455461" y="7044871"/>
                </a:lnTo>
                <a:lnTo>
                  <a:pt x="3495442" y="7017221"/>
                </a:lnTo>
                <a:lnTo>
                  <a:pt x="3535615" y="6989830"/>
                </a:lnTo>
                <a:lnTo>
                  <a:pt x="3575980" y="6962700"/>
                </a:lnTo>
                <a:lnTo>
                  <a:pt x="3616535" y="6935831"/>
                </a:lnTo>
                <a:lnTo>
                  <a:pt x="3657280" y="6909226"/>
                </a:lnTo>
                <a:lnTo>
                  <a:pt x="3698211" y="6882885"/>
                </a:lnTo>
                <a:lnTo>
                  <a:pt x="3739330" y="6856810"/>
                </a:lnTo>
                <a:lnTo>
                  <a:pt x="3780634" y="6831001"/>
                </a:lnTo>
                <a:lnTo>
                  <a:pt x="3822122" y="6805461"/>
                </a:lnTo>
                <a:lnTo>
                  <a:pt x="3863792" y="6780189"/>
                </a:lnTo>
                <a:lnTo>
                  <a:pt x="3905645" y="6755188"/>
                </a:lnTo>
                <a:lnTo>
                  <a:pt x="3947678" y="6730459"/>
                </a:lnTo>
                <a:lnTo>
                  <a:pt x="3989890" y="6706002"/>
                </a:lnTo>
                <a:lnTo>
                  <a:pt x="4032280" y="6681820"/>
                </a:lnTo>
                <a:lnTo>
                  <a:pt x="4074847" y="6657912"/>
                </a:lnTo>
                <a:lnTo>
                  <a:pt x="4117589" y="6634281"/>
                </a:lnTo>
                <a:lnTo>
                  <a:pt x="4160506" y="6610928"/>
                </a:lnTo>
                <a:lnTo>
                  <a:pt x="4203595" y="6587853"/>
                </a:lnTo>
                <a:lnTo>
                  <a:pt x="4246857" y="6565059"/>
                </a:lnTo>
                <a:lnTo>
                  <a:pt x="4290289" y="6542546"/>
                </a:lnTo>
                <a:lnTo>
                  <a:pt x="4333891" y="6520315"/>
                </a:lnTo>
                <a:lnTo>
                  <a:pt x="4377661" y="6498368"/>
                </a:lnTo>
                <a:lnTo>
                  <a:pt x="4421598" y="6476706"/>
                </a:lnTo>
                <a:lnTo>
                  <a:pt x="4465701" y="6455331"/>
                </a:lnTo>
                <a:lnTo>
                  <a:pt x="4509968" y="6434242"/>
                </a:lnTo>
                <a:lnTo>
                  <a:pt x="4554398" y="6413442"/>
                </a:lnTo>
                <a:lnTo>
                  <a:pt x="4598991" y="6392932"/>
                </a:lnTo>
                <a:lnTo>
                  <a:pt x="4643745" y="6372712"/>
                </a:lnTo>
                <a:lnTo>
                  <a:pt x="4688658" y="6352785"/>
                </a:lnTo>
                <a:lnTo>
                  <a:pt x="4733729" y="6333151"/>
                </a:lnTo>
                <a:lnTo>
                  <a:pt x="4778958" y="6313812"/>
                </a:lnTo>
                <a:lnTo>
                  <a:pt x="4824343" y="6294769"/>
                </a:lnTo>
                <a:lnTo>
                  <a:pt x="4869883" y="6276022"/>
                </a:lnTo>
                <a:lnTo>
                  <a:pt x="4915576" y="6257574"/>
                </a:lnTo>
                <a:lnTo>
                  <a:pt x="4961421" y="6239425"/>
                </a:lnTo>
                <a:lnTo>
                  <a:pt x="5007418" y="6221577"/>
                </a:lnTo>
                <a:lnTo>
                  <a:pt x="5053564" y="6204031"/>
                </a:lnTo>
                <a:lnTo>
                  <a:pt x="5099859" y="6186788"/>
                </a:lnTo>
                <a:lnTo>
                  <a:pt x="5146302" y="6169849"/>
                </a:lnTo>
                <a:lnTo>
                  <a:pt x="5192891" y="6153215"/>
                </a:lnTo>
                <a:lnTo>
                  <a:pt x="5239624" y="6136889"/>
                </a:lnTo>
                <a:lnTo>
                  <a:pt x="5286502" y="6120870"/>
                </a:lnTo>
                <a:lnTo>
                  <a:pt x="5333522" y="6105160"/>
                </a:lnTo>
                <a:lnTo>
                  <a:pt x="5380683" y="6089760"/>
                </a:lnTo>
                <a:lnTo>
                  <a:pt x="5427985" y="6074673"/>
                </a:lnTo>
                <a:lnTo>
                  <a:pt x="5475425" y="6059897"/>
                </a:lnTo>
                <a:lnTo>
                  <a:pt x="5523003" y="6045436"/>
                </a:lnTo>
                <a:lnTo>
                  <a:pt x="5570718" y="6031290"/>
                </a:lnTo>
                <a:lnTo>
                  <a:pt x="5618567" y="6017460"/>
                </a:lnTo>
                <a:lnTo>
                  <a:pt x="5666551" y="6003948"/>
                </a:lnTo>
                <a:lnTo>
                  <a:pt x="5714667" y="5990755"/>
                </a:lnTo>
                <a:lnTo>
                  <a:pt x="5762915" y="5977881"/>
                </a:lnTo>
                <a:lnTo>
                  <a:pt x="5811294" y="5965329"/>
                </a:lnTo>
                <a:lnTo>
                  <a:pt x="5859801" y="5953100"/>
                </a:lnTo>
                <a:lnTo>
                  <a:pt x="5908436" y="5941193"/>
                </a:lnTo>
                <a:lnTo>
                  <a:pt x="5957198" y="5929612"/>
                </a:lnTo>
                <a:lnTo>
                  <a:pt x="6006086" y="5918357"/>
                </a:lnTo>
                <a:lnTo>
                  <a:pt x="6055097" y="5907429"/>
                </a:lnTo>
                <a:lnTo>
                  <a:pt x="6104232" y="5896829"/>
                </a:lnTo>
                <a:lnTo>
                  <a:pt x="6153488" y="5886560"/>
                </a:lnTo>
                <a:lnTo>
                  <a:pt x="6202865" y="5876621"/>
                </a:lnTo>
                <a:lnTo>
                  <a:pt x="6252361" y="5867014"/>
                </a:lnTo>
                <a:lnTo>
                  <a:pt x="6301976" y="5857740"/>
                </a:lnTo>
                <a:lnTo>
                  <a:pt x="6351707" y="5848801"/>
                </a:lnTo>
                <a:lnTo>
                  <a:pt x="6401554" y="5840198"/>
                </a:lnTo>
                <a:lnTo>
                  <a:pt x="6451515" y="5831932"/>
                </a:lnTo>
                <a:lnTo>
                  <a:pt x="6501590" y="5824004"/>
                </a:lnTo>
                <a:lnTo>
                  <a:pt x="6551776" y="5816415"/>
                </a:lnTo>
                <a:lnTo>
                  <a:pt x="6602074" y="5809166"/>
                </a:lnTo>
                <a:lnTo>
                  <a:pt x="6652481" y="5802260"/>
                </a:lnTo>
                <a:lnTo>
                  <a:pt x="6702996" y="5795696"/>
                </a:lnTo>
                <a:lnTo>
                  <a:pt x="6753618" y="5789477"/>
                </a:lnTo>
                <a:lnTo>
                  <a:pt x="6804346" y="5783603"/>
                </a:lnTo>
                <a:lnTo>
                  <a:pt x="6855179" y="5778076"/>
                </a:lnTo>
                <a:lnTo>
                  <a:pt x="6906115" y="5772897"/>
                </a:lnTo>
                <a:lnTo>
                  <a:pt x="6957154" y="5768066"/>
                </a:lnTo>
                <a:lnTo>
                  <a:pt x="7008293" y="5763586"/>
                </a:lnTo>
                <a:lnTo>
                  <a:pt x="7059533" y="5759457"/>
                </a:lnTo>
                <a:lnTo>
                  <a:pt x="7110871" y="5755681"/>
                </a:lnTo>
                <a:lnTo>
                  <a:pt x="7162306" y="5752259"/>
                </a:lnTo>
                <a:lnTo>
                  <a:pt x="7213837" y="5749192"/>
                </a:lnTo>
                <a:lnTo>
                  <a:pt x="7265463" y="5746481"/>
                </a:lnTo>
                <a:lnTo>
                  <a:pt x="7317183" y="5744128"/>
                </a:lnTo>
                <a:lnTo>
                  <a:pt x="7368995" y="5742133"/>
                </a:lnTo>
                <a:lnTo>
                  <a:pt x="7420899" y="5740499"/>
                </a:lnTo>
                <a:lnTo>
                  <a:pt x="7472892" y="5739225"/>
                </a:lnTo>
                <a:lnTo>
                  <a:pt x="7524975" y="5738314"/>
                </a:lnTo>
                <a:lnTo>
                  <a:pt x="7577145" y="5737767"/>
                </a:lnTo>
                <a:lnTo>
                  <a:pt x="7629401" y="5737584"/>
                </a:lnTo>
                <a:lnTo>
                  <a:pt x="7681656" y="5737767"/>
                </a:lnTo>
                <a:lnTo>
                  <a:pt x="7733824" y="5738314"/>
                </a:lnTo>
                <a:lnTo>
                  <a:pt x="7785905" y="5739225"/>
                </a:lnTo>
                <a:lnTo>
                  <a:pt x="7837897" y="5740499"/>
                </a:lnTo>
                <a:lnTo>
                  <a:pt x="7889800" y="5742133"/>
                </a:lnTo>
                <a:lnTo>
                  <a:pt x="7941611" y="5744128"/>
                </a:lnTo>
                <a:lnTo>
                  <a:pt x="7993330" y="5746481"/>
                </a:lnTo>
                <a:lnTo>
                  <a:pt x="8044955" y="5749192"/>
                </a:lnTo>
                <a:lnTo>
                  <a:pt x="8096485" y="5752259"/>
                </a:lnTo>
                <a:lnTo>
                  <a:pt x="8147919" y="5755681"/>
                </a:lnTo>
                <a:lnTo>
                  <a:pt x="8199256" y="5759457"/>
                </a:lnTo>
                <a:lnTo>
                  <a:pt x="8250494" y="5763586"/>
                </a:lnTo>
                <a:lnTo>
                  <a:pt x="8301633" y="5768066"/>
                </a:lnTo>
                <a:lnTo>
                  <a:pt x="8352670" y="5772897"/>
                </a:lnTo>
                <a:lnTo>
                  <a:pt x="8403605" y="5778076"/>
                </a:lnTo>
                <a:lnTo>
                  <a:pt x="8454437" y="5783603"/>
                </a:lnTo>
                <a:lnTo>
                  <a:pt x="8505165" y="5789477"/>
                </a:lnTo>
                <a:lnTo>
                  <a:pt x="8555786" y="5795696"/>
                </a:lnTo>
                <a:lnTo>
                  <a:pt x="8606300" y="5802260"/>
                </a:lnTo>
                <a:lnTo>
                  <a:pt x="8656706" y="5809166"/>
                </a:lnTo>
                <a:lnTo>
                  <a:pt x="8707003" y="5816415"/>
                </a:lnTo>
                <a:lnTo>
                  <a:pt x="8757189" y="5824004"/>
                </a:lnTo>
                <a:lnTo>
                  <a:pt x="8807263" y="5831932"/>
                </a:lnTo>
                <a:lnTo>
                  <a:pt x="8857223" y="5840198"/>
                </a:lnTo>
                <a:lnTo>
                  <a:pt x="8907069" y="5848801"/>
                </a:lnTo>
                <a:lnTo>
                  <a:pt x="8956800" y="5857740"/>
                </a:lnTo>
                <a:lnTo>
                  <a:pt x="9006413" y="5867014"/>
                </a:lnTo>
                <a:lnTo>
                  <a:pt x="9055909" y="5876621"/>
                </a:lnTo>
                <a:lnTo>
                  <a:pt x="9105285" y="5886560"/>
                </a:lnTo>
                <a:lnTo>
                  <a:pt x="9154541" y="5896829"/>
                </a:lnTo>
                <a:lnTo>
                  <a:pt x="9203675" y="5907429"/>
                </a:lnTo>
                <a:lnTo>
                  <a:pt x="9252686" y="5918357"/>
                </a:lnTo>
                <a:lnTo>
                  <a:pt x="9301573" y="5929612"/>
                </a:lnTo>
                <a:lnTo>
                  <a:pt x="9350334" y="5941193"/>
                </a:lnTo>
                <a:lnTo>
                  <a:pt x="9398969" y="5953100"/>
                </a:lnTo>
                <a:lnTo>
                  <a:pt x="9447476" y="5965329"/>
                </a:lnTo>
                <a:lnTo>
                  <a:pt x="9495853" y="5977881"/>
                </a:lnTo>
                <a:lnTo>
                  <a:pt x="9544101" y="5990755"/>
                </a:lnTo>
                <a:lnTo>
                  <a:pt x="9592217" y="6003948"/>
                </a:lnTo>
                <a:lnTo>
                  <a:pt x="9640200" y="6017460"/>
                </a:lnTo>
                <a:lnTo>
                  <a:pt x="9688049" y="6031290"/>
                </a:lnTo>
                <a:lnTo>
                  <a:pt x="9735763" y="6045436"/>
                </a:lnTo>
                <a:lnTo>
                  <a:pt x="9783341" y="6059897"/>
                </a:lnTo>
                <a:lnTo>
                  <a:pt x="9830781" y="6074673"/>
                </a:lnTo>
                <a:lnTo>
                  <a:pt x="9878082" y="6089760"/>
                </a:lnTo>
                <a:lnTo>
                  <a:pt x="9925243" y="6105160"/>
                </a:lnTo>
                <a:lnTo>
                  <a:pt x="9972263" y="6120870"/>
                </a:lnTo>
                <a:lnTo>
                  <a:pt x="10019140" y="6136889"/>
                </a:lnTo>
                <a:lnTo>
                  <a:pt x="10065873" y="6153215"/>
                </a:lnTo>
                <a:lnTo>
                  <a:pt x="10112462" y="6169849"/>
                </a:lnTo>
                <a:lnTo>
                  <a:pt x="10158904" y="6186788"/>
                </a:lnTo>
                <a:lnTo>
                  <a:pt x="10205199" y="6204031"/>
                </a:lnTo>
                <a:lnTo>
                  <a:pt x="10251345" y="6221577"/>
                </a:lnTo>
                <a:lnTo>
                  <a:pt x="10297341" y="6239425"/>
                </a:lnTo>
                <a:lnTo>
                  <a:pt x="10343186" y="6257574"/>
                </a:lnTo>
                <a:lnTo>
                  <a:pt x="10388879" y="6276022"/>
                </a:lnTo>
                <a:lnTo>
                  <a:pt x="10434418" y="6294769"/>
                </a:lnTo>
                <a:lnTo>
                  <a:pt x="10479803" y="6313812"/>
                </a:lnTo>
                <a:lnTo>
                  <a:pt x="10525032" y="6333151"/>
                </a:lnTo>
                <a:lnTo>
                  <a:pt x="10570103" y="6352785"/>
                </a:lnTo>
                <a:lnTo>
                  <a:pt x="10615016" y="6372712"/>
                </a:lnTo>
                <a:lnTo>
                  <a:pt x="10659769" y="6392932"/>
                </a:lnTo>
                <a:lnTo>
                  <a:pt x="10704362" y="6413442"/>
                </a:lnTo>
                <a:lnTo>
                  <a:pt x="10748792" y="6434242"/>
                </a:lnTo>
                <a:lnTo>
                  <a:pt x="10793059" y="6455331"/>
                </a:lnTo>
                <a:lnTo>
                  <a:pt x="10837162" y="6476706"/>
                </a:lnTo>
                <a:lnTo>
                  <a:pt x="10881099" y="6498368"/>
                </a:lnTo>
                <a:lnTo>
                  <a:pt x="10924869" y="6520315"/>
                </a:lnTo>
                <a:lnTo>
                  <a:pt x="10968470" y="6542546"/>
                </a:lnTo>
                <a:lnTo>
                  <a:pt x="11011902" y="6565059"/>
                </a:lnTo>
                <a:lnTo>
                  <a:pt x="11055164" y="6587853"/>
                </a:lnTo>
                <a:lnTo>
                  <a:pt x="11098254" y="6610928"/>
                </a:lnTo>
                <a:lnTo>
                  <a:pt x="11141170" y="6634281"/>
                </a:lnTo>
                <a:lnTo>
                  <a:pt x="11183912" y="6657912"/>
                </a:lnTo>
                <a:lnTo>
                  <a:pt x="11226479" y="6681820"/>
                </a:lnTo>
                <a:lnTo>
                  <a:pt x="11268869" y="6706002"/>
                </a:lnTo>
                <a:lnTo>
                  <a:pt x="11311081" y="6730459"/>
                </a:lnTo>
                <a:lnTo>
                  <a:pt x="11353114" y="6755188"/>
                </a:lnTo>
                <a:lnTo>
                  <a:pt x="11394966" y="6780189"/>
                </a:lnTo>
                <a:lnTo>
                  <a:pt x="11436637" y="6805461"/>
                </a:lnTo>
                <a:lnTo>
                  <a:pt x="11478125" y="6831001"/>
                </a:lnTo>
                <a:lnTo>
                  <a:pt x="11519429" y="6856810"/>
                </a:lnTo>
                <a:lnTo>
                  <a:pt x="11560547" y="6882885"/>
                </a:lnTo>
                <a:lnTo>
                  <a:pt x="11601479" y="6909226"/>
                </a:lnTo>
                <a:lnTo>
                  <a:pt x="11642223" y="6935831"/>
                </a:lnTo>
                <a:lnTo>
                  <a:pt x="11682779" y="6962700"/>
                </a:lnTo>
                <a:lnTo>
                  <a:pt x="11723144" y="6989830"/>
                </a:lnTo>
                <a:lnTo>
                  <a:pt x="11763317" y="7017221"/>
                </a:lnTo>
                <a:lnTo>
                  <a:pt x="11803298" y="7044871"/>
                </a:lnTo>
                <a:lnTo>
                  <a:pt x="11843085" y="7072780"/>
                </a:lnTo>
                <a:lnTo>
                  <a:pt x="11882677" y="7100946"/>
                </a:lnTo>
                <a:lnTo>
                  <a:pt x="11922073" y="7129367"/>
                </a:lnTo>
                <a:lnTo>
                  <a:pt x="11961271" y="7158044"/>
                </a:lnTo>
                <a:lnTo>
                  <a:pt x="12000270" y="7186973"/>
                </a:lnTo>
                <a:lnTo>
                  <a:pt x="12039070" y="7216155"/>
                </a:lnTo>
                <a:lnTo>
                  <a:pt x="12077668" y="7245588"/>
                </a:lnTo>
                <a:lnTo>
                  <a:pt x="12116063" y="7275271"/>
                </a:lnTo>
                <a:lnTo>
                  <a:pt x="12154256" y="7305203"/>
                </a:lnTo>
                <a:lnTo>
                  <a:pt x="12192243" y="7335382"/>
                </a:lnTo>
                <a:lnTo>
                  <a:pt x="12230024" y="7365807"/>
                </a:lnTo>
                <a:lnTo>
                  <a:pt x="12267598" y="7396477"/>
                </a:lnTo>
                <a:lnTo>
                  <a:pt x="12304963" y="7427390"/>
                </a:lnTo>
                <a:lnTo>
                  <a:pt x="12342119" y="7458547"/>
                </a:lnTo>
                <a:lnTo>
                  <a:pt x="12379063" y="7489944"/>
                </a:lnTo>
                <a:lnTo>
                  <a:pt x="12415795" y="7521582"/>
                </a:lnTo>
                <a:lnTo>
                  <a:pt x="12452314" y="7553459"/>
                </a:lnTo>
                <a:lnTo>
                  <a:pt x="12488619" y="7585573"/>
                </a:lnTo>
                <a:lnTo>
                  <a:pt x="12524707" y="7617924"/>
                </a:lnTo>
                <a:lnTo>
                  <a:pt x="12560578" y="7650511"/>
                </a:lnTo>
                <a:lnTo>
                  <a:pt x="12596231" y="7683331"/>
                </a:lnTo>
                <a:lnTo>
                  <a:pt x="12631665" y="7716384"/>
                </a:lnTo>
                <a:lnTo>
                  <a:pt x="12666877" y="7749669"/>
                </a:lnTo>
                <a:lnTo>
                  <a:pt x="12701868" y="7783184"/>
                </a:lnTo>
                <a:lnTo>
                  <a:pt x="12736636" y="7816929"/>
                </a:lnTo>
                <a:lnTo>
                  <a:pt x="12771179" y="7850901"/>
                </a:lnTo>
                <a:lnTo>
                  <a:pt x="12805496" y="7885101"/>
                </a:lnTo>
                <a:lnTo>
                  <a:pt x="12839587" y="7919526"/>
                </a:lnTo>
                <a:lnTo>
                  <a:pt x="12873449" y="7954175"/>
                </a:lnTo>
                <a:lnTo>
                  <a:pt x="12907082" y="7989048"/>
                </a:lnTo>
                <a:lnTo>
                  <a:pt x="12940485" y="8024143"/>
                </a:lnTo>
                <a:lnTo>
                  <a:pt x="12976193" y="8058217"/>
                </a:lnTo>
                <a:lnTo>
                  <a:pt x="13014894" y="8088219"/>
                </a:lnTo>
                <a:lnTo>
                  <a:pt x="13056237" y="8114004"/>
                </a:lnTo>
                <a:lnTo>
                  <a:pt x="13099872" y="8135427"/>
                </a:lnTo>
                <a:lnTo>
                  <a:pt x="13145448" y="8152342"/>
                </a:lnTo>
                <a:lnTo>
                  <a:pt x="13192614" y="8164604"/>
                </a:lnTo>
                <a:lnTo>
                  <a:pt x="13241021" y="8172068"/>
                </a:lnTo>
                <a:lnTo>
                  <a:pt x="13290317" y="8174588"/>
                </a:lnTo>
                <a:lnTo>
                  <a:pt x="15017165" y="8174588"/>
                </a:lnTo>
                <a:lnTo>
                  <a:pt x="15065858" y="8169681"/>
                </a:lnTo>
                <a:lnTo>
                  <a:pt x="15111210" y="8155606"/>
                </a:lnTo>
                <a:lnTo>
                  <a:pt x="15152248" y="8133334"/>
                </a:lnTo>
                <a:lnTo>
                  <a:pt x="15188003" y="8103835"/>
                </a:lnTo>
                <a:lnTo>
                  <a:pt x="15217503" y="8068081"/>
                </a:lnTo>
                <a:lnTo>
                  <a:pt x="15239776" y="8027043"/>
                </a:lnTo>
                <a:lnTo>
                  <a:pt x="15253852" y="7981690"/>
                </a:lnTo>
                <a:lnTo>
                  <a:pt x="15258760" y="7932994"/>
                </a:lnTo>
                <a:lnTo>
                  <a:pt x="15258760" y="241584"/>
                </a:lnTo>
                <a:lnTo>
                  <a:pt x="15253852" y="192903"/>
                </a:lnTo>
                <a:lnTo>
                  <a:pt x="15239776" y="147558"/>
                </a:lnTo>
                <a:lnTo>
                  <a:pt x="15217503" y="106522"/>
                </a:lnTo>
                <a:lnTo>
                  <a:pt x="15188003" y="70767"/>
                </a:lnTo>
                <a:lnTo>
                  <a:pt x="15152248" y="41265"/>
                </a:lnTo>
                <a:lnTo>
                  <a:pt x="15111210" y="18988"/>
                </a:lnTo>
                <a:lnTo>
                  <a:pt x="15065858" y="4909"/>
                </a:lnTo>
                <a:lnTo>
                  <a:pt x="15017165" y="0"/>
                </a:lnTo>
                <a:close/>
              </a:path>
            </a:pathLst>
          </a:custGeom>
          <a:solidFill>
            <a:srgbClr val="FCF5EB"/>
          </a:solidFill>
        </p:spPr>
        <p:txBody>
          <a:bodyPr wrap="square" lIns="0" tIns="0" rIns="0" bIns="0" rtlCol="0"/>
          <a:lstStyle/>
          <a:p>
            <a:endParaRPr/>
          </a:p>
        </p:txBody>
      </p:sp>
      <p:pic>
        <p:nvPicPr>
          <p:cNvPr id="4" name="Imagen 3">
            <a:extLst>
              <a:ext uri="{FF2B5EF4-FFF2-40B4-BE49-F238E27FC236}">
                <a16:creationId xmlns:a16="http://schemas.microsoft.com/office/drawing/2014/main" id="{B79B4F45-D38D-274D-5546-722F82FC6E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85250" y="10074275"/>
            <a:ext cx="2133600" cy="70058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EF2B4810-D27F-08E0-675B-A5D389A65BDF}"/>
              </a:ext>
            </a:extLst>
          </p:cNvPr>
          <p:cNvSpPr/>
          <p:nvPr userDrawn="1"/>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EBAD69"/>
          </a:solidFill>
        </p:spPr>
        <p:txBody>
          <a:bodyPr wrap="square" lIns="0" tIns="0" rIns="0" bIns="0" rtlCol="0"/>
          <a:lstStyle/>
          <a:p>
            <a:endParaRPr/>
          </a:p>
        </p:txBody>
      </p:sp>
      <p:sp>
        <p:nvSpPr>
          <p:cNvPr id="6" name="object 3">
            <a:extLst>
              <a:ext uri="{FF2B5EF4-FFF2-40B4-BE49-F238E27FC236}">
                <a16:creationId xmlns:a16="http://schemas.microsoft.com/office/drawing/2014/main" id="{374F20A5-52F5-4DD4-9770-8E43C3C71DA3}"/>
              </a:ext>
            </a:extLst>
          </p:cNvPr>
          <p:cNvSpPr/>
          <p:nvPr userDrawn="1"/>
        </p:nvSpPr>
        <p:spPr>
          <a:xfrm>
            <a:off x="2422668" y="1566986"/>
            <a:ext cx="15259050" cy="8174990"/>
          </a:xfrm>
          <a:custGeom>
            <a:avLst/>
            <a:gdLst/>
            <a:ahLst/>
            <a:cxnLst/>
            <a:rect l="l" t="t" r="r" b="b"/>
            <a:pathLst>
              <a:path w="15259050" h="8174990">
                <a:moveTo>
                  <a:pt x="15017165" y="0"/>
                </a:moveTo>
                <a:lnTo>
                  <a:pt x="241594" y="0"/>
                </a:lnTo>
                <a:lnTo>
                  <a:pt x="192901" y="4909"/>
                </a:lnTo>
                <a:lnTo>
                  <a:pt x="147550" y="18988"/>
                </a:lnTo>
                <a:lnTo>
                  <a:pt x="106511" y="41265"/>
                </a:lnTo>
                <a:lnTo>
                  <a:pt x="70757" y="70767"/>
                </a:lnTo>
                <a:lnTo>
                  <a:pt x="41257" y="106522"/>
                </a:lnTo>
                <a:lnTo>
                  <a:pt x="18984" y="147558"/>
                </a:lnTo>
                <a:lnTo>
                  <a:pt x="4907" y="192903"/>
                </a:lnTo>
                <a:lnTo>
                  <a:pt x="0" y="241584"/>
                </a:lnTo>
                <a:lnTo>
                  <a:pt x="0" y="7932994"/>
                </a:lnTo>
                <a:lnTo>
                  <a:pt x="4907" y="7981690"/>
                </a:lnTo>
                <a:lnTo>
                  <a:pt x="18984" y="8027043"/>
                </a:lnTo>
                <a:lnTo>
                  <a:pt x="41257" y="8068081"/>
                </a:lnTo>
                <a:lnTo>
                  <a:pt x="70757" y="8103835"/>
                </a:lnTo>
                <a:lnTo>
                  <a:pt x="106511" y="8133334"/>
                </a:lnTo>
                <a:lnTo>
                  <a:pt x="147550" y="8155606"/>
                </a:lnTo>
                <a:lnTo>
                  <a:pt x="192901" y="8169681"/>
                </a:lnTo>
                <a:lnTo>
                  <a:pt x="241594" y="8174588"/>
                </a:lnTo>
                <a:lnTo>
                  <a:pt x="1968442" y="8174588"/>
                </a:lnTo>
                <a:lnTo>
                  <a:pt x="2017738" y="8172068"/>
                </a:lnTo>
                <a:lnTo>
                  <a:pt x="2066142" y="8164604"/>
                </a:lnTo>
                <a:lnTo>
                  <a:pt x="2113306" y="8152342"/>
                </a:lnTo>
                <a:lnTo>
                  <a:pt x="2158880" y="8135427"/>
                </a:lnTo>
                <a:lnTo>
                  <a:pt x="2202514" y="8114004"/>
                </a:lnTo>
                <a:lnTo>
                  <a:pt x="2243857" y="8088219"/>
                </a:lnTo>
                <a:lnTo>
                  <a:pt x="2282561" y="8058217"/>
                </a:lnTo>
                <a:lnTo>
                  <a:pt x="2318274" y="8024143"/>
                </a:lnTo>
                <a:lnTo>
                  <a:pt x="2351677" y="7989048"/>
                </a:lnTo>
                <a:lnTo>
                  <a:pt x="2385310" y="7954175"/>
                </a:lnTo>
                <a:lnTo>
                  <a:pt x="2419173" y="7919526"/>
                </a:lnTo>
                <a:lnTo>
                  <a:pt x="2453263" y="7885101"/>
                </a:lnTo>
                <a:lnTo>
                  <a:pt x="2487581" y="7850901"/>
                </a:lnTo>
                <a:lnTo>
                  <a:pt x="2522124" y="7816929"/>
                </a:lnTo>
                <a:lnTo>
                  <a:pt x="2556891" y="7783184"/>
                </a:lnTo>
                <a:lnTo>
                  <a:pt x="2591882" y="7749669"/>
                </a:lnTo>
                <a:lnTo>
                  <a:pt x="2627095" y="7716384"/>
                </a:lnTo>
                <a:lnTo>
                  <a:pt x="2662528" y="7683331"/>
                </a:lnTo>
                <a:lnTo>
                  <a:pt x="2698181" y="7650511"/>
                </a:lnTo>
                <a:lnTo>
                  <a:pt x="2734052" y="7617924"/>
                </a:lnTo>
                <a:lnTo>
                  <a:pt x="2770141" y="7585573"/>
                </a:lnTo>
                <a:lnTo>
                  <a:pt x="2806445" y="7553459"/>
                </a:lnTo>
                <a:lnTo>
                  <a:pt x="2842964" y="7521582"/>
                </a:lnTo>
                <a:lnTo>
                  <a:pt x="2879696" y="7489944"/>
                </a:lnTo>
                <a:lnTo>
                  <a:pt x="2916641" y="7458547"/>
                </a:lnTo>
                <a:lnTo>
                  <a:pt x="2953796" y="7427390"/>
                </a:lnTo>
                <a:lnTo>
                  <a:pt x="2991161" y="7396477"/>
                </a:lnTo>
                <a:lnTo>
                  <a:pt x="3028735" y="7365807"/>
                </a:lnTo>
                <a:lnTo>
                  <a:pt x="3066516" y="7335382"/>
                </a:lnTo>
                <a:lnTo>
                  <a:pt x="3104503" y="7305203"/>
                </a:lnTo>
                <a:lnTo>
                  <a:pt x="3142695" y="7275271"/>
                </a:lnTo>
                <a:lnTo>
                  <a:pt x="3181091" y="7245588"/>
                </a:lnTo>
                <a:lnTo>
                  <a:pt x="3219689" y="7216155"/>
                </a:lnTo>
                <a:lnTo>
                  <a:pt x="3258489" y="7186973"/>
                </a:lnTo>
                <a:lnTo>
                  <a:pt x="3297488" y="7158044"/>
                </a:lnTo>
                <a:lnTo>
                  <a:pt x="3336686" y="7129367"/>
                </a:lnTo>
                <a:lnTo>
                  <a:pt x="3376082" y="7100946"/>
                </a:lnTo>
                <a:lnTo>
                  <a:pt x="3415674" y="7072780"/>
                </a:lnTo>
                <a:lnTo>
                  <a:pt x="3455461" y="7044871"/>
                </a:lnTo>
                <a:lnTo>
                  <a:pt x="3495442" y="7017221"/>
                </a:lnTo>
                <a:lnTo>
                  <a:pt x="3535615" y="6989830"/>
                </a:lnTo>
                <a:lnTo>
                  <a:pt x="3575980" y="6962700"/>
                </a:lnTo>
                <a:lnTo>
                  <a:pt x="3616535" y="6935831"/>
                </a:lnTo>
                <a:lnTo>
                  <a:pt x="3657280" y="6909226"/>
                </a:lnTo>
                <a:lnTo>
                  <a:pt x="3698211" y="6882885"/>
                </a:lnTo>
                <a:lnTo>
                  <a:pt x="3739330" y="6856810"/>
                </a:lnTo>
                <a:lnTo>
                  <a:pt x="3780634" y="6831001"/>
                </a:lnTo>
                <a:lnTo>
                  <a:pt x="3822122" y="6805461"/>
                </a:lnTo>
                <a:lnTo>
                  <a:pt x="3863792" y="6780189"/>
                </a:lnTo>
                <a:lnTo>
                  <a:pt x="3905645" y="6755188"/>
                </a:lnTo>
                <a:lnTo>
                  <a:pt x="3947678" y="6730459"/>
                </a:lnTo>
                <a:lnTo>
                  <a:pt x="3989890" y="6706002"/>
                </a:lnTo>
                <a:lnTo>
                  <a:pt x="4032280" y="6681820"/>
                </a:lnTo>
                <a:lnTo>
                  <a:pt x="4074847" y="6657912"/>
                </a:lnTo>
                <a:lnTo>
                  <a:pt x="4117589" y="6634281"/>
                </a:lnTo>
                <a:lnTo>
                  <a:pt x="4160506" y="6610928"/>
                </a:lnTo>
                <a:lnTo>
                  <a:pt x="4203595" y="6587853"/>
                </a:lnTo>
                <a:lnTo>
                  <a:pt x="4246857" y="6565059"/>
                </a:lnTo>
                <a:lnTo>
                  <a:pt x="4290289" y="6542546"/>
                </a:lnTo>
                <a:lnTo>
                  <a:pt x="4333891" y="6520315"/>
                </a:lnTo>
                <a:lnTo>
                  <a:pt x="4377661" y="6498368"/>
                </a:lnTo>
                <a:lnTo>
                  <a:pt x="4421598" y="6476706"/>
                </a:lnTo>
                <a:lnTo>
                  <a:pt x="4465701" y="6455331"/>
                </a:lnTo>
                <a:lnTo>
                  <a:pt x="4509968" y="6434242"/>
                </a:lnTo>
                <a:lnTo>
                  <a:pt x="4554398" y="6413442"/>
                </a:lnTo>
                <a:lnTo>
                  <a:pt x="4598991" y="6392932"/>
                </a:lnTo>
                <a:lnTo>
                  <a:pt x="4643745" y="6372712"/>
                </a:lnTo>
                <a:lnTo>
                  <a:pt x="4688658" y="6352785"/>
                </a:lnTo>
                <a:lnTo>
                  <a:pt x="4733729" y="6333151"/>
                </a:lnTo>
                <a:lnTo>
                  <a:pt x="4778958" y="6313812"/>
                </a:lnTo>
                <a:lnTo>
                  <a:pt x="4824343" y="6294769"/>
                </a:lnTo>
                <a:lnTo>
                  <a:pt x="4869883" y="6276022"/>
                </a:lnTo>
                <a:lnTo>
                  <a:pt x="4915576" y="6257574"/>
                </a:lnTo>
                <a:lnTo>
                  <a:pt x="4961421" y="6239425"/>
                </a:lnTo>
                <a:lnTo>
                  <a:pt x="5007418" y="6221577"/>
                </a:lnTo>
                <a:lnTo>
                  <a:pt x="5053564" y="6204031"/>
                </a:lnTo>
                <a:lnTo>
                  <a:pt x="5099859" y="6186788"/>
                </a:lnTo>
                <a:lnTo>
                  <a:pt x="5146302" y="6169849"/>
                </a:lnTo>
                <a:lnTo>
                  <a:pt x="5192891" y="6153215"/>
                </a:lnTo>
                <a:lnTo>
                  <a:pt x="5239624" y="6136889"/>
                </a:lnTo>
                <a:lnTo>
                  <a:pt x="5286502" y="6120870"/>
                </a:lnTo>
                <a:lnTo>
                  <a:pt x="5333522" y="6105160"/>
                </a:lnTo>
                <a:lnTo>
                  <a:pt x="5380683" y="6089760"/>
                </a:lnTo>
                <a:lnTo>
                  <a:pt x="5427985" y="6074673"/>
                </a:lnTo>
                <a:lnTo>
                  <a:pt x="5475425" y="6059897"/>
                </a:lnTo>
                <a:lnTo>
                  <a:pt x="5523003" y="6045436"/>
                </a:lnTo>
                <a:lnTo>
                  <a:pt x="5570718" y="6031290"/>
                </a:lnTo>
                <a:lnTo>
                  <a:pt x="5618567" y="6017460"/>
                </a:lnTo>
                <a:lnTo>
                  <a:pt x="5666551" y="6003948"/>
                </a:lnTo>
                <a:lnTo>
                  <a:pt x="5714667" y="5990755"/>
                </a:lnTo>
                <a:lnTo>
                  <a:pt x="5762915" y="5977881"/>
                </a:lnTo>
                <a:lnTo>
                  <a:pt x="5811294" y="5965329"/>
                </a:lnTo>
                <a:lnTo>
                  <a:pt x="5859801" y="5953100"/>
                </a:lnTo>
                <a:lnTo>
                  <a:pt x="5908436" y="5941193"/>
                </a:lnTo>
                <a:lnTo>
                  <a:pt x="5957198" y="5929612"/>
                </a:lnTo>
                <a:lnTo>
                  <a:pt x="6006086" y="5918357"/>
                </a:lnTo>
                <a:lnTo>
                  <a:pt x="6055097" y="5907429"/>
                </a:lnTo>
                <a:lnTo>
                  <a:pt x="6104232" y="5896829"/>
                </a:lnTo>
                <a:lnTo>
                  <a:pt x="6153488" y="5886560"/>
                </a:lnTo>
                <a:lnTo>
                  <a:pt x="6202865" y="5876621"/>
                </a:lnTo>
                <a:lnTo>
                  <a:pt x="6252361" y="5867014"/>
                </a:lnTo>
                <a:lnTo>
                  <a:pt x="6301976" y="5857740"/>
                </a:lnTo>
                <a:lnTo>
                  <a:pt x="6351707" y="5848801"/>
                </a:lnTo>
                <a:lnTo>
                  <a:pt x="6401554" y="5840198"/>
                </a:lnTo>
                <a:lnTo>
                  <a:pt x="6451515" y="5831932"/>
                </a:lnTo>
                <a:lnTo>
                  <a:pt x="6501590" y="5824004"/>
                </a:lnTo>
                <a:lnTo>
                  <a:pt x="6551776" y="5816415"/>
                </a:lnTo>
                <a:lnTo>
                  <a:pt x="6602074" y="5809166"/>
                </a:lnTo>
                <a:lnTo>
                  <a:pt x="6652481" y="5802260"/>
                </a:lnTo>
                <a:lnTo>
                  <a:pt x="6702996" y="5795696"/>
                </a:lnTo>
                <a:lnTo>
                  <a:pt x="6753618" y="5789477"/>
                </a:lnTo>
                <a:lnTo>
                  <a:pt x="6804346" y="5783603"/>
                </a:lnTo>
                <a:lnTo>
                  <a:pt x="6855179" y="5778076"/>
                </a:lnTo>
                <a:lnTo>
                  <a:pt x="6906115" y="5772897"/>
                </a:lnTo>
                <a:lnTo>
                  <a:pt x="6957154" y="5768066"/>
                </a:lnTo>
                <a:lnTo>
                  <a:pt x="7008293" y="5763586"/>
                </a:lnTo>
                <a:lnTo>
                  <a:pt x="7059533" y="5759457"/>
                </a:lnTo>
                <a:lnTo>
                  <a:pt x="7110871" y="5755681"/>
                </a:lnTo>
                <a:lnTo>
                  <a:pt x="7162306" y="5752259"/>
                </a:lnTo>
                <a:lnTo>
                  <a:pt x="7213837" y="5749192"/>
                </a:lnTo>
                <a:lnTo>
                  <a:pt x="7265463" y="5746481"/>
                </a:lnTo>
                <a:lnTo>
                  <a:pt x="7317183" y="5744128"/>
                </a:lnTo>
                <a:lnTo>
                  <a:pt x="7368995" y="5742133"/>
                </a:lnTo>
                <a:lnTo>
                  <a:pt x="7420899" y="5740499"/>
                </a:lnTo>
                <a:lnTo>
                  <a:pt x="7472892" y="5739225"/>
                </a:lnTo>
                <a:lnTo>
                  <a:pt x="7524975" y="5738314"/>
                </a:lnTo>
                <a:lnTo>
                  <a:pt x="7577145" y="5737767"/>
                </a:lnTo>
                <a:lnTo>
                  <a:pt x="7629401" y="5737584"/>
                </a:lnTo>
                <a:lnTo>
                  <a:pt x="7681656" y="5737767"/>
                </a:lnTo>
                <a:lnTo>
                  <a:pt x="7733824" y="5738314"/>
                </a:lnTo>
                <a:lnTo>
                  <a:pt x="7785905" y="5739225"/>
                </a:lnTo>
                <a:lnTo>
                  <a:pt x="7837897" y="5740499"/>
                </a:lnTo>
                <a:lnTo>
                  <a:pt x="7889800" y="5742133"/>
                </a:lnTo>
                <a:lnTo>
                  <a:pt x="7941611" y="5744128"/>
                </a:lnTo>
                <a:lnTo>
                  <a:pt x="7993330" y="5746481"/>
                </a:lnTo>
                <a:lnTo>
                  <a:pt x="8044955" y="5749192"/>
                </a:lnTo>
                <a:lnTo>
                  <a:pt x="8096485" y="5752259"/>
                </a:lnTo>
                <a:lnTo>
                  <a:pt x="8147919" y="5755681"/>
                </a:lnTo>
                <a:lnTo>
                  <a:pt x="8199256" y="5759457"/>
                </a:lnTo>
                <a:lnTo>
                  <a:pt x="8250494" y="5763586"/>
                </a:lnTo>
                <a:lnTo>
                  <a:pt x="8301633" y="5768066"/>
                </a:lnTo>
                <a:lnTo>
                  <a:pt x="8352670" y="5772897"/>
                </a:lnTo>
                <a:lnTo>
                  <a:pt x="8403605" y="5778076"/>
                </a:lnTo>
                <a:lnTo>
                  <a:pt x="8454437" y="5783603"/>
                </a:lnTo>
                <a:lnTo>
                  <a:pt x="8505165" y="5789477"/>
                </a:lnTo>
                <a:lnTo>
                  <a:pt x="8555786" y="5795696"/>
                </a:lnTo>
                <a:lnTo>
                  <a:pt x="8606300" y="5802260"/>
                </a:lnTo>
                <a:lnTo>
                  <a:pt x="8656706" y="5809166"/>
                </a:lnTo>
                <a:lnTo>
                  <a:pt x="8707003" y="5816415"/>
                </a:lnTo>
                <a:lnTo>
                  <a:pt x="8757189" y="5824004"/>
                </a:lnTo>
                <a:lnTo>
                  <a:pt x="8807263" y="5831932"/>
                </a:lnTo>
                <a:lnTo>
                  <a:pt x="8857223" y="5840198"/>
                </a:lnTo>
                <a:lnTo>
                  <a:pt x="8907069" y="5848801"/>
                </a:lnTo>
                <a:lnTo>
                  <a:pt x="8956800" y="5857740"/>
                </a:lnTo>
                <a:lnTo>
                  <a:pt x="9006413" y="5867014"/>
                </a:lnTo>
                <a:lnTo>
                  <a:pt x="9055909" y="5876621"/>
                </a:lnTo>
                <a:lnTo>
                  <a:pt x="9105285" y="5886560"/>
                </a:lnTo>
                <a:lnTo>
                  <a:pt x="9154541" y="5896829"/>
                </a:lnTo>
                <a:lnTo>
                  <a:pt x="9203675" y="5907429"/>
                </a:lnTo>
                <a:lnTo>
                  <a:pt x="9252686" y="5918357"/>
                </a:lnTo>
                <a:lnTo>
                  <a:pt x="9301573" y="5929612"/>
                </a:lnTo>
                <a:lnTo>
                  <a:pt x="9350334" y="5941193"/>
                </a:lnTo>
                <a:lnTo>
                  <a:pt x="9398969" y="5953100"/>
                </a:lnTo>
                <a:lnTo>
                  <a:pt x="9447476" y="5965329"/>
                </a:lnTo>
                <a:lnTo>
                  <a:pt x="9495853" y="5977881"/>
                </a:lnTo>
                <a:lnTo>
                  <a:pt x="9544101" y="5990755"/>
                </a:lnTo>
                <a:lnTo>
                  <a:pt x="9592217" y="6003948"/>
                </a:lnTo>
                <a:lnTo>
                  <a:pt x="9640200" y="6017460"/>
                </a:lnTo>
                <a:lnTo>
                  <a:pt x="9688049" y="6031290"/>
                </a:lnTo>
                <a:lnTo>
                  <a:pt x="9735763" y="6045436"/>
                </a:lnTo>
                <a:lnTo>
                  <a:pt x="9783341" y="6059897"/>
                </a:lnTo>
                <a:lnTo>
                  <a:pt x="9830781" y="6074673"/>
                </a:lnTo>
                <a:lnTo>
                  <a:pt x="9878082" y="6089760"/>
                </a:lnTo>
                <a:lnTo>
                  <a:pt x="9925243" y="6105160"/>
                </a:lnTo>
                <a:lnTo>
                  <a:pt x="9972263" y="6120870"/>
                </a:lnTo>
                <a:lnTo>
                  <a:pt x="10019140" y="6136889"/>
                </a:lnTo>
                <a:lnTo>
                  <a:pt x="10065873" y="6153215"/>
                </a:lnTo>
                <a:lnTo>
                  <a:pt x="10112462" y="6169849"/>
                </a:lnTo>
                <a:lnTo>
                  <a:pt x="10158904" y="6186788"/>
                </a:lnTo>
                <a:lnTo>
                  <a:pt x="10205199" y="6204031"/>
                </a:lnTo>
                <a:lnTo>
                  <a:pt x="10251345" y="6221577"/>
                </a:lnTo>
                <a:lnTo>
                  <a:pt x="10297341" y="6239425"/>
                </a:lnTo>
                <a:lnTo>
                  <a:pt x="10343186" y="6257574"/>
                </a:lnTo>
                <a:lnTo>
                  <a:pt x="10388879" y="6276022"/>
                </a:lnTo>
                <a:lnTo>
                  <a:pt x="10434418" y="6294769"/>
                </a:lnTo>
                <a:lnTo>
                  <a:pt x="10479803" y="6313812"/>
                </a:lnTo>
                <a:lnTo>
                  <a:pt x="10525032" y="6333151"/>
                </a:lnTo>
                <a:lnTo>
                  <a:pt x="10570103" y="6352785"/>
                </a:lnTo>
                <a:lnTo>
                  <a:pt x="10615016" y="6372712"/>
                </a:lnTo>
                <a:lnTo>
                  <a:pt x="10659769" y="6392932"/>
                </a:lnTo>
                <a:lnTo>
                  <a:pt x="10704362" y="6413442"/>
                </a:lnTo>
                <a:lnTo>
                  <a:pt x="10748792" y="6434242"/>
                </a:lnTo>
                <a:lnTo>
                  <a:pt x="10793059" y="6455331"/>
                </a:lnTo>
                <a:lnTo>
                  <a:pt x="10837162" y="6476706"/>
                </a:lnTo>
                <a:lnTo>
                  <a:pt x="10881099" y="6498368"/>
                </a:lnTo>
                <a:lnTo>
                  <a:pt x="10924869" y="6520315"/>
                </a:lnTo>
                <a:lnTo>
                  <a:pt x="10968470" y="6542546"/>
                </a:lnTo>
                <a:lnTo>
                  <a:pt x="11011902" y="6565059"/>
                </a:lnTo>
                <a:lnTo>
                  <a:pt x="11055164" y="6587853"/>
                </a:lnTo>
                <a:lnTo>
                  <a:pt x="11098254" y="6610928"/>
                </a:lnTo>
                <a:lnTo>
                  <a:pt x="11141170" y="6634281"/>
                </a:lnTo>
                <a:lnTo>
                  <a:pt x="11183912" y="6657912"/>
                </a:lnTo>
                <a:lnTo>
                  <a:pt x="11226479" y="6681820"/>
                </a:lnTo>
                <a:lnTo>
                  <a:pt x="11268869" y="6706002"/>
                </a:lnTo>
                <a:lnTo>
                  <a:pt x="11311081" y="6730459"/>
                </a:lnTo>
                <a:lnTo>
                  <a:pt x="11353114" y="6755188"/>
                </a:lnTo>
                <a:lnTo>
                  <a:pt x="11394966" y="6780189"/>
                </a:lnTo>
                <a:lnTo>
                  <a:pt x="11436637" y="6805461"/>
                </a:lnTo>
                <a:lnTo>
                  <a:pt x="11478125" y="6831001"/>
                </a:lnTo>
                <a:lnTo>
                  <a:pt x="11519429" y="6856810"/>
                </a:lnTo>
                <a:lnTo>
                  <a:pt x="11560547" y="6882885"/>
                </a:lnTo>
                <a:lnTo>
                  <a:pt x="11601479" y="6909226"/>
                </a:lnTo>
                <a:lnTo>
                  <a:pt x="11642223" y="6935831"/>
                </a:lnTo>
                <a:lnTo>
                  <a:pt x="11682779" y="6962700"/>
                </a:lnTo>
                <a:lnTo>
                  <a:pt x="11723144" y="6989830"/>
                </a:lnTo>
                <a:lnTo>
                  <a:pt x="11763317" y="7017221"/>
                </a:lnTo>
                <a:lnTo>
                  <a:pt x="11803298" y="7044871"/>
                </a:lnTo>
                <a:lnTo>
                  <a:pt x="11843085" y="7072780"/>
                </a:lnTo>
                <a:lnTo>
                  <a:pt x="11882677" y="7100946"/>
                </a:lnTo>
                <a:lnTo>
                  <a:pt x="11922073" y="7129367"/>
                </a:lnTo>
                <a:lnTo>
                  <a:pt x="11961271" y="7158044"/>
                </a:lnTo>
                <a:lnTo>
                  <a:pt x="12000270" y="7186973"/>
                </a:lnTo>
                <a:lnTo>
                  <a:pt x="12039070" y="7216155"/>
                </a:lnTo>
                <a:lnTo>
                  <a:pt x="12077668" y="7245588"/>
                </a:lnTo>
                <a:lnTo>
                  <a:pt x="12116063" y="7275271"/>
                </a:lnTo>
                <a:lnTo>
                  <a:pt x="12154256" y="7305203"/>
                </a:lnTo>
                <a:lnTo>
                  <a:pt x="12192243" y="7335382"/>
                </a:lnTo>
                <a:lnTo>
                  <a:pt x="12230024" y="7365807"/>
                </a:lnTo>
                <a:lnTo>
                  <a:pt x="12267598" y="7396477"/>
                </a:lnTo>
                <a:lnTo>
                  <a:pt x="12304963" y="7427390"/>
                </a:lnTo>
                <a:lnTo>
                  <a:pt x="12342119" y="7458547"/>
                </a:lnTo>
                <a:lnTo>
                  <a:pt x="12379063" y="7489944"/>
                </a:lnTo>
                <a:lnTo>
                  <a:pt x="12415795" y="7521582"/>
                </a:lnTo>
                <a:lnTo>
                  <a:pt x="12452314" y="7553459"/>
                </a:lnTo>
                <a:lnTo>
                  <a:pt x="12488619" y="7585573"/>
                </a:lnTo>
                <a:lnTo>
                  <a:pt x="12524707" y="7617924"/>
                </a:lnTo>
                <a:lnTo>
                  <a:pt x="12560578" y="7650511"/>
                </a:lnTo>
                <a:lnTo>
                  <a:pt x="12596231" y="7683331"/>
                </a:lnTo>
                <a:lnTo>
                  <a:pt x="12631665" y="7716384"/>
                </a:lnTo>
                <a:lnTo>
                  <a:pt x="12666877" y="7749669"/>
                </a:lnTo>
                <a:lnTo>
                  <a:pt x="12701868" y="7783184"/>
                </a:lnTo>
                <a:lnTo>
                  <a:pt x="12736636" y="7816929"/>
                </a:lnTo>
                <a:lnTo>
                  <a:pt x="12771179" y="7850901"/>
                </a:lnTo>
                <a:lnTo>
                  <a:pt x="12805496" y="7885101"/>
                </a:lnTo>
                <a:lnTo>
                  <a:pt x="12839587" y="7919526"/>
                </a:lnTo>
                <a:lnTo>
                  <a:pt x="12873449" y="7954175"/>
                </a:lnTo>
                <a:lnTo>
                  <a:pt x="12907082" y="7989048"/>
                </a:lnTo>
                <a:lnTo>
                  <a:pt x="12940485" y="8024143"/>
                </a:lnTo>
                <a:lnTo>
                  <a:pt x="12976193" y="8058217"/>
                </a:lnTo>
                <a:lnTo>
                  <a:pt x="13014894" y="8088219"/>
                </a:lnTo>
                <a:lnTo>
                  <a:pt x="13056237" y="8114004"/>
                </a:lnTo>
                <a:lnTo>
                  <a:pt x="13099872" y="8135427"/>
                </a:lnTo>
                <a:lnTo>
                  <a:pt x="13145448" y="8152342"/>
                </a:lnTo>
                <a:lnTo>
                  <a:pt x="13192614" y="8164604"/>
                </a:lnTo>
                <a:lnTo>
                  <a:pt x="13241021" y="8172068"/>
                </a:lnTo>
                <a:lnTo>
                  <a:pt x="13290317" y="8174588"/>
                </a:lnTo>
                <a:lnTo>
                  <a:pt x="15017165" y="8174588"/>
                </a:lnTo>
                <a:lnTo>
                  <a:pt x="15065858" y="8169681"/>
                </a:lnTo>
                <a:lnTo>
                  <a:pt x="15111210" y="8155606"/>
                </a:lnTo>
                <a:lnTo>
                  <a:pt x="15152248" y="8133334"/>
                </a:lnTo>
                <a:lnTo>
                  <a:pt x="15188003" y="8103835"/>
                </a:lnTo>
                <a:lnTo>
                  <a:pt x="15217503" y="8068081"/>
                </a:lnTo>
                <a:lnTo>
                  <a:pt x="15239776" y="8027043"/>
                </a:lnTo>
                <a:lnTo>
                  <a:pt x="15253852" y="7981690"/>
                </a:lnTo>
                <a:lnTo>
                  <a:pt x="15258760" y="7932994"/>
                </a:lnTo>
                <a:lnTo>
                  <a:pt x="15258760" y="241584"/>
                </a:lnTo>
                <a:lnTo>
                  <a:pt x="15253852" y="192903"/>
                </a:lnTo>
                <a:lnTo>
                  <a:pt x="15239776" y="147558"/>
                </a:lnTo>
                <a:lnTo>
                  <a:pt x="15217503" y="106522"/>
                </a:lnTo>
                <a:lnTo>
                  <a:pt x="15188003" y="70767"/>
                </a:lnTo>
                <a:lnTo>
                  <a:pt x="15152248" y="41265"/>
                </a:lnTo>
                <a:lnTo>
                  <a:pt x="15111210" y="18988"/>
                </a:lnTo>
                <a:lnTo>
                  <a:pt x="15065858" y="4909"/>
                </a:lnTo>
                <a:lnTo>
                  <a:pt x="15017165" y="0"/>
                </a:lnTo>
                <a:close/>
              </a:path>
            </a:pathLst>
          </a:custGeom>
          <a:solidFill>
            <a:srgbClr val="FCF5EB"/>
          </a:solidFill>
        </p:spPr>
        <p:txBody>
          <a:bodyPr wrap="square" lIns="0" tIns="0" rIns="0" bIns="0" rtlCol="0"/>
          <a:lstStyle/>
          <a:p>
            <a:endParaRPr/>
          </a:p>
        </p:txBody>
      </p:sp>
      <p:pic>
        <p:nvPicPr>
          <p:cNvPr id="3" name="Imagen 2">
            <a:extLst>
              <a:ext uri="{FF2B5EF4-FFF2-40B4-BE49-F238E27FC236}">
                <a16:creationId xmlns:a16="http://schemas.microsoft.com/office/drawing/2014/main" id="{2F3387D5-A49A-1FBF-34B1-4BE90F9FC5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85250" y="10074275"/>
            <a:ext cx="2133600" cy="70058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Blank">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EB181B7-B39F-29DC-B535-9E0FF177020E}"/>
              </a:ext>
            </a:extLst>
          </p:cNvPr>
          <p:cNvSpPr/>
          <p:nvPr userDrawn="1"/>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D3C5EB"/>
          </a:solidFill>
        </p:spPr>
        <p:txBody>
          <a:bodyPr wrap="square" lIns="0" tIns="0" rIns="0" bIns="0" rtlCol="0"/>
          <a:lstStyle/>
          <a:p>
            <a:endParaRPr/>
          </a:p>
        </p:txBody>
      </p:sp>
      <p:sp>
        <p:nvSpPr>
          <p:cNvPr id="3" name="object 3">
            <a:extLst>
              <a:ext uri="{FF2B5EF4-FFF2-40B4-BE49-F238E27FC236}">
                <a16:creationId xmlns:a16="http://schemas.microsoft.com/office/drawing/2014/main" id="{C0405629-822C-F927-24BD-4A62DDF405D5}"/>
              </a:ext>
            </a:extLst>
          </p:cNvPr>
          <p:cNvSpPr/>
          <p:nvPr userDrawn="1"/>
        </p:nvSpPr>
        <p:spPr>
          <a:xfrm>
            <a:off x="2422668" y="1566986"/>
            <a:ext cx="15259050" cy="8174990"/>
          </a:xfrm>
          <a:custGeom>
            <a:avLst/>
            <a:gdLst/>
            <a:ahLst/>
            <a:cxnLst/>
            <a:rect l="l" t="t" r="r" b="b"/>
            <a:pathLst>
              <a:path w="15259050" h="8174990">
                <a:moveTo>
                  <a:pt x="15017165" y="0"/>
                </a:moveTo>
                <a:lnTo>
                  <a:pt x="241594" y="0"/>
                </a:lnTo>
                <a:lnTo>
                  <a:pt x="192901" y="4909"/>
                </a:lnTo>
                <a:lnTo>
                  <a:pt x="147550" y="18988"/>
                </a:lnTo>
                <a:lnTo>
                  <a:pt x="106511" y="41265"/>
                </a:lnTo>
                <a:lnTo>
                  <a:pt x="70757" y="70767"/>
                </a:lnTo>
                <a:lnTo>
                  <a:pt x="41257" y="106522"/>
                </a:lnTo>
                <a:lnTo>
                  <a:pt x="18984" y="147558"/>
                </a:lnTo>
                <a:lnTo>
                  <a:pt x="4907" y="192903"/>
                </a:lnTo>
                <a:lnTo>
                  <a:pt x="0" y="241584"/>
                </a:lnTo>
                <a:lnTo>
                  <a:pt x="0" y="7932994"/>
                </a:lnTo>
                <a:lnTo>
                  <a:pt x="4907" y="7981690"/>
                </a:lnTo>
                <a:lnTo>
                  <a:pt x="18984" y="8027043"/>
                </a:lnTo>
                <a:lnTo>
                  <a:pt x="41257" y="8068081"/>
                </a:lnTo>
                <a:lnTo>
                  <a:pt x="70757" y="8103835"/>
                </a:lnTo>
                <a:lnTo>
                  <a:pt x="106511" y="8133334"/>
                </a:lnTo>
                <a:lnTo>
                  <a:pt x="147550" y="8155606"/>
                </a:lnTo>
                <a:lnTo>
                  <a:pt x="192901" y="8169681"/>
                </a:lnTo>
                <a:lnTo>
                  <a:pt x="241594" y="8174588"/>
                </a:lnTo>
                <a:lnTo>
                  <a:pt x="1968442" y="8174588"/>
                </a:lnTo>
                <a:lnTo>
                  <a:pt x="2017738" y="8172068"/>
                </a:lnTo>
                <a:lnTo>
                  <a:pt x="2066142" y="8164604"/>
                </a:lnTo>
                <a:lnTo>
                  <a:pt x="2113306" y="8152342"/>
                </a:lnTo>
                <a:lnTo>
                  <a:pt x="2158880" y="8135427"/>
                </a:lnTo>
                <a:lnTo>
                  <a:pt x="2202514" y="8114004"/>
                </a:lnTo>
                <a:lnTo>
                  <a:pt x="2243857" y="8088219"/>
                </a:lnTo>
                <a:lnTo>
                  <a:pt x="2282561" y="8058217"/>
                </a:lnTo>
                <a:lnTo>
                  <a:pt x="2318274" y="8024143"/>
                </a:lnTo>
                <a:lnTo>
                  <a:pt x="2351677" y="7989048"/>
                </a:lnTo>
                <a:lnTo>
                  <a:pt x="2385310" y="7954175"/>
                </a:lnTo>
                <a:lnTo>
                  <a:pt x="2419173" y="7919526"/>
                </a:lnTo>
                <a:lnTo>
                  <a:pt x="2453263" y="7885101"/>
                </a:lnTo>
                <a:lnTo>
                  <a:pt x="2487581" y="7850901"/>
                </a:lnTo>
                <a:lnTo>
                  <a:pt x="2522124" y="7816929"/>
                </a:lnTo>
                <a:lnTo>
                  <a:pt x="2556891" y="7783184"/>
                </a:lnTo>
                <a:lnTo>
                  <a:pt x="2591882" y="7749669"/>
                </a:lnTo>
                <a:lnTo>
                  <a:pt x="2627095" y="7716384"/>
                </a:lnTo>
                <a:lnTo>
                  <a:pt x="2662528" y="7683331"/>
                </a:lnTo>
                <a:lnTo>
                  <a:pt x="2698181" y="7650511"/>
                </a:lnTo>
                <a:lnTo>
                  <a:pt x="2734052" y="7617924"/>
                </a:lnTo>
                <a:lnTo>
                  <a:pt x="2770141" y="7585573"/>
                </a:lnTo>
                <a:lnTo>
                  <a:pt x="2806445" y="7553459"/>
                </a:lnTo>
                <a:lnTo>
                  <a:pt x="2842964" y="7521582"/>
                </a:lnTo>
                <a:lnTo>
                  <a:pt x="2879696" y="7489944"/>
                </a:lnTo>
                <a:lnTo>
                  <a:pt x="2916641" y="7458547"/>
                </a:lnTo>
                <a:lnTo>
                  <a:pt x="2953796" y="7427390"/>
                </a:lnTo>
                <a:lnTo>
                  <a:pt x="2991161" y="7396477"/>
                </a:lnTo>
                <a:lnTo>
                  <a:pt x="3028735" y="7365807"/>
                </a:lnTo>
                <a:lnTo>
                  <a:pt x="3066516" y="7335382"/>
                </a:lnTo>
                <a:lnTo>
                  <a:pt x="3104503" y="7305203"/>
                </a:lnTo>
                <a:lnTo>
                  <a:pt x="3142695" y="7275271"/>
                </a:lnTo>
                <a:lnTo>
                  <a:pt x="3181091" y="7245588"/>
                </a:lnTo>
                <a:lnTo>
                  <a:pt x="3219689" y="7216155"/>
                </a:lnTo>
                <a:lnTo>
                  <a:pt x="3258489" y="7186973"/>
                </a:lnTo>
                <a:lnTo>
                  <a:pt x="3297488" y="7158044"/>
                </a:lnTo>
                <a:lnTo>
                  <a:pt x="3336686" y="7129367"/>
                </a:lnTo>
                <a:lnTo>
                  <a:pt x="3376082" y="7100946"/>
                </a:lnTo>
                <a:lnTo>
                  <a:pt x="3415674" y="7072780"/>
                </a:lnTo>
                <a:lnTo>
                  <a:pt x="3455461" y="7044871"/>
                </a:lnTo>
                <a:lnTo>
                  <a:pt x="3495442" y="7017221"/>
                </a:lnTo>
                <a:lnTo>
                  <a:pt x="3535615" y="6989830"/>
                </a:lnTo>
                <a:lnTo>
                  <a:pt x="3575980" y="6962700"/>
                </a:lnTo>
                <a:lnTo>
                  <a:pt x="3616535" y="6935831"/>
                </a:lnTo>
                <a:lnTo>
                  <a:pt x="3657280" y="6909226"/>
                </a:lnTo>
                <a:lnTo>
                  <a:pt x="3698211" y="6882885"/>
                </a:lnTo>
                <a:lnTo>
                  <a:pt x="3739330" y="6856810"/>
                </a:lnTo>
                <a:lnTo>
                  <a:pt x="3780634" y="6831001"/>
                </a:lnTo>
                <a:lnTo>
                  <a:pt x="3822122" y="6805461"/>
                </a:lnTo>
                <a:lnTo>
                  <a:pt x="3863792" y="6780189"/>
                </a:lnTo>
                <a:lnTo>
                  <a:pt x="3905645" y="6755188"/>
                </a:lnTo>
                <a:lnTo>
                  <a:pt x="3947678" y="6730459"/>
                </a:lnTo>
                <a:lnTo>
                  <a:pt x="3989890" y="6706002"/>
                </a:lnTo>
                <a:lnTo>
                  <a:pt x="4032280" y="6681820"/>
                </a:lnTo>
                <a:lnTo>
                  <a:pt x="4074847" y="6657912"/>
                </a:lnTo>
                <a:lnTo>
                  <a:pt x="4117589" y="6634281"/>
                </a:lnTo>
                <a:lnTo>
                  <a:pt x="4160506" y="6610928"/>
                </a:lnTo>
                <a:lnTo>
                  <a:pt x="4203595" y="6587853"/>
                </a:lnTo>
                <a:lnTo>
                  <a:pt x="4246857" y="6565059"/>
                </a:lnTo>
                <a:lnTo>
                  <a:pt x="4290289" y="6542546"/>
                </a:lnTo>
                <a:lnTo>
                  <a:pt x="4333891" y="6520315"/>
                </a:lnTo>
                <a:lnTo>
                  <a:pt x="4377661" y="6498368"/>
                </a:lnTo>
                <a:lnTo>
                  <a:pt x="4421598" y="6476706"/>
                </a:lnTo>
                <a:lnTo>
                  <a:pt x="4465701" y="6455331"/>
                </a:lnTo>
                <a:lnTo>
                  <a:pt x="4509968" y="6434242"/>
                </a:lnTo>
                <a:lnTo>
                  <a:pt x="4554398" y="6413442"/>
                </a:lnTo>
                <a:lnTo>
                  <a:pt x="4598991" y="6392932"/>
                </a:lnTo>
                <a:lnTo>
                  <a:pt x="4643745" y="6372712"/>
                </a:lnTo>
                <a:lnTo>
                  <a:pt x="4688658" y="6352785"/>
                </a:lnTo>
                <a:lnTo>
                  <a:pt x="4733729" y="6333151"/>
                </a:lnTo>
                <a:lnTo>
                  <a:pt x="4778958" y="6313812"/>
                </a:lnTo>
                <a:lnTo>
                  <a:pt x="4824343" y="6294769"/>
                </a:lnTo>
                <a:lnTo>
                  <a:pt x="4869883" y="6276022"/>
                </a:lnTo>
                <a:lnTo>
                  <a:pt x="4915576" y="6257574"/>
                </a:lnTo>
                <a:lnTo>
                  <a:pt x="4961421" y="6239425"/>
                </a:lnTo>
                <a:lnTo>
                  <a:pt x="5007418" y="6221577"/>
                </a:lnTo>
                <a:lnTo>
                  <a:pt x="5053564" y="6204031"/>
                </a:lnTo>
                <a:lnTo>
                  <a:pt x="5099859" y="6186788"/>
                </a:lnTo>
                <a:lnTo>
                  <a:pt x="5146302" y="6169849"/>
                </a:lnTo>
                <a:lnTo>
                  <a:pt x="5192891" y="6153215"/>
                </a:lnTo>
                <a:lnTo>
                  <a:pt x="5239624" y="6136889"/>
                </a:lnTo>
                <a:lnTo>
                  <a:pt x="5286502" y="6120870"/>
                </a:lnTo>
                <a:lnTo>
                  <a:pt x="5333522" y="6105160"/>
                </a:lnTo>
                <a:lnTo>
                  <a:pt x="5380683" y="6089760"/>
                </a:lnTo>
                <a:lnTo>
                  <a:pt x="5427985" y="6074673"/>
                </a:lnTo>
                <a:lnTo>
                  <a:pt x="5475425" y="6059897"/>
                </a:lnTo>
                <a:lnTo>
                  <a:pt x="5523003" y="6045436"/>
                </a:lnTo>
                <a:lnTo>
                  <a:pt x="5570718" y="6031290"/>
                </a:lnTo>
                <a:lnTo>
                  <a:pt x="5618567" y="6017460"/>
                </a:lnTo>
                <a:lnTo>
                  <a:pt x="5666551" y="6003948"/>
                </a:lnTo>
                <a:lnTo>
                  <a:pt x="5714667" y="5990755"/>
                </a:lnTo>
                <a:lnTo>
                  <a:pt x="5762915" y="5977881"/>
                </a:lnTo>
                <a:lnTo>
                  <a:pt x="5811294" y="5965329"/>
                </a:lnTo>
                <a:lnTo>
                  <a:pt x="5859801" y="5953100"/>
                </a:lnTo>
                <a:lnTo>
                  <a:pt x="5908436" y="5941193"/>
                </a:lnTo>
                <a:lnTo>
                  <a:pt x="5957198" y="5929612"/>
                </a:lnTo>
                <a:lnTo>
                  <a:pt x="6006086" y="5918357"/>
                </a:lnTo>
                <a:lnTo>
                  <a:pt x="6055097" y="5907429"/>
                </a:lnTo>
                <a:lnTo>
                  <a:pt x="6104232" y="5896829"/>
                </a:lnTo>
                <a:lnTo>
                  <a:pt x="6153488" y="5886560"/>
                </a:lnTo>
                <a:lnTo>
                  <a:pt x="6202865" y="5876621"/>
                </a:lnTo>
                <a:lnTo>
                  <a:pt x="6252361" y="5867014"/>
                </a:lnTo>
                <a:lnTo>
                  <a:pt x="6301976" y="5857740"/>
                </a:lnTo>
                <a:lnTo>
                  <a:pt x="6351707" y="5848801"/>
                </a:lnTo>
                <a:lnTo>
                  <a:pt x="6401554" y="5840198"/>
                </a:lnTo>
                <a:lnTo>
                  <a:pt x="6451515" y="5831932"/>
                </a:lnTo>
                <a:lnTo>
                  <a:pt x="6501590" y="5824004"/>
                </a:lnTo>
                <a:lnTo>
                  <a:pt x="6551776" y="5816415"/>
                </a:lnTo>
                <a:lnTo>
                  <a:pt x="6602074" y="5809166"/>
                </a:lnTo>
                <a:lnTo>
                  <a:pt x="6652481" y="5802260"/>
                </a:lnTo>
                <a:lnTo>
                  <a:pt x="6702996" y="5795696"/>
                </a:lnTo>
                <a:lnTo>
                  <a:pt x="6753618" y="5789477"/>
                </a:lnTo>
                <a:lnTo>
                  <a:pt x="6804346" y="5783603"/>
                </a:lnTo>
                <a:lnTo>
                  <a:pt x="6855179" y="5778076"/>
                </a:lnTo>
                <a:lnTo>
                  <a:pt x="6906115" y="5772897"/>
                </a:lnTo>
                <a:lnTo>
                  <a:pt x="6957154" y="5768066"/>
                </a:lnTo>
                <a:lnTo>
                  <a:pt x="7008293" y="5763586"/>
                </a:lnTo>
                <a:lnTo>
                  <a:pt x="7059533" y="5759457"/>
                </a:lnTo>
                <a:lnTo>
                  <a:pt x="7110871" y="5755681"/>
                </a:lnTo>
                <a:lnTo>
                  <a:pt x="7162306" y="5752259"/>
                </a:lnTo>
                <a:lnTo>
                  <a:pt x="7213837" y="5749192"/>
                </a:lnTo>
                <a:lnTo>
                  <a:pt x="7265463" y="5746481"/>
                </a:lnTo>
                <a:lnTo>
                  <a:pt x="7317183" y="5744128"/>
                </a:lnTo>
                <a:lnTo>
                  <a:pt x="7368995" y="5742133"/>
                </a:lnTo>
                <a:lnTo>
                  <a:pt x="7420899" y="5740499"/>
                </a:lnTo>
                <a:lnTo>
                  <a:pt x="7472892" y="5739225"/>
                </a:lnTo>
                <a:lnTo>
                  <a:pt x="7524975" y="5738314"/>
                </a:lnTo>
                <a:lnTo>
                  <a:pt x="7577145" y="5737767"/>
                </a:lnTo>
                <a:lnTo>
                  <a:pt x="7629401" y="5737584"/>
                </a:lnTo>
                <a:lnTo>
                  <a:pt x="7681656" y="5737767"/>
                </a:lnTo>
                <a:lnTo>
                  <a:pt x="7733824" y="5738314"/>
                </a:lnTo>
                <a:lnTo>
                  <a:pt x="7785905" y="5739225"/>
                </a:lnTo>
                <a:lnTo>
                  <a:pt x="7837897" y="5740499"/>
                </a:lnTo>
                <a:lnTo>
                  <a:pt x="7889800" y="5742133"/>
                </a:lnTo>
                <a:lnTo>
                  <a:pt x="7941611" y="5744128"/>
                </a:lnTo>
                <a:lnTo>
                  <a:pt x="7993330" y="5746481"/>
                </a:lnTo>
                <a:lnTo>
                  <a:pt x="8044955" y="5749192"/>
                </a:lnTo>
                <a:lnTo>
                  <a:pt x="8096485" y="5752259"/>
                </a:lnTo>
                <a:lnTo>
                  <a:pt x="8147919" y="5755681"/>
                </a:lnTo>
                <a:lnTo>
                  <a:pt x="8199256" y="5759457"/>
                </a:lnTo>
                <a:lnTo>
                  <a:pt x="8250494" y="5763586"/>
                </a:lnTo>
                <a:lnTo>
                  <a:pt x="8301633" y="5768066"/>
                </a:lnTo>
                <a:lnTo>
                  <a:pt x="8352670" y="5772897"/>
                </a:lnTo>
                <a:lnTo>
                  <a:pt x="8403605" y="5778076"/>
                </a:lnTo>
                <a:lnTo>
                  <a:pt x="8454437" y="5783603"/>
                </a:lnTo>
                <a:lnTo>
                  <a:pt x="8505165" y="5789477"/>
                </a:lnTo>
                <a:lnTo>
                  <a:pt x="8555786" y="5795696"/>
                </a:lnTo>
                <a:lnTo>
                  <a:pt x="8606300" y="5802260"/>
                </a:lnTo>
                <a:lnTo>
                  <a:pt x="8656706" y="5809166"/>
                </a:lnTo>
                <a:lnTo>
                  <a:pt x="8707003" y="5816415"/>
                </a:lnTo>
                <a:lnTo>
                  <a:pt x="8757189" y="5824004"/>
                </a:lnTo>
                <a:lnTo>
                  <a:pt x="8807263" y="5831932"/>
                </a:lnTo>
                <a:lnTo>
                  <a:pt x="8857223" y="5840198"/>
                </a:lnTo>
                <a:lnTo>
                  <a:pt x="8907069" y="5848801"/>
                </a:lnTo>
                <a:lnTo>
                  <a:pt x="8956800" y="5857740"/>
                </a:lnTo>
                <a:lnTo>
                  <a:pt x="9006413" y="5867014"/>
                </a:lnTo>
                <a:lnTo>
                  <a:pt x="9055909" y="5876621"/>
                </a:lnTo>
                <a:lnTo>
                  <a:pt x="9105285" y="5886560"/>
                </a:lnTo>
                <a:lnTo>
                  <a:pt x="9154541" y="5896829"/>
                </a:lnTo>
                <a:lnTo>
                  <a:pt x="9203675" y="5907429"/>
                </a:lnTo>
                <a:lnTo>
                  <a:pt x="9252686" y="5918357"/>
                </a:lnTo>
                <a:lnTo>
                  <a:pt x="9301573" y="5929612"/>
                </a:lnTo>
                <a:lnTo>
                  <a:pt x="9350334" y="5941193"/>
                </a:lnTo>
                <a:lnTo>
                  <a:pt x="9398969" y="5953100"/>
                </a:lnTo>
                <a:lnTo>
                  <a:pt x="9447476" y="5965329"/>
                </a:lnTo>
                <a:lnTo>
                  <a:pt x="9495853" y="5977881"/>
                </a:lnTo>
                <a:lnTo>
                  <a:pt x="9544101" y="5990755"/>
                </a:lnTo>
                <a:lnTo>
                  <a:pt x="9592217" y="6003948"/>
                </a:lnTo>
                <a:lnTo>
                  <a:pt x="9640200" y="6017460"/>
                </a:lnTo>
                <a:lnTo>
                  <a:pt x="9688049" y="6031290"/>
                </a:lnTo>
                <a:lnTo>
                  <a:pt x="9735763" y="6045436"/>
                </a:lnTo>
                <a:lnTo>
                  <a:pt x="9783341" y="6059897"/>
                </a:lnTo>
                <a:lnTo>
                  <a:pt x="9830781" y="6074673"/>
                </a:lnTo>
                <a:lnTo>
                  <a:pt x="9878082" y="6089760"/>
                </a:lnTo>
                <a:lnTo>
                  <a:pt x="9925243" y="6105160"/>
                </a:lnTo>
                <a:lnTo>
                  <a:pt x="9972263" y="6120870"/>
                </a:lnTo>
                <a:lnTo>
                  <a:pt x="10019140" y="6136889"/>
                </a:lnTo>
                <a:lnTo>
                  <a:pt x="10065873" y="6153215"/>
                </a:lnTo>
                <a:lnTo>
                  <a:pt x="10112462" y="6169849"/>
                </a:lnTo>
                <a:lnTo>
                  <a:pt x="10158904" y="6186788"/>
                </a:lnTo>
                <a:lnTo>
                  <a:pt x="10205199" y="6204031"/>
                </a:lnTo>
                <a:lnTo>
                  <a:pt x="10251345" y="6221577"/>
                </a:lnTo>
                <a:lnTo>
                  <a:pt x="10297341" y="6239425"/>
                </a:lnTo>
                <a:lnTo>
                  <a:pt x="10343186" y="6257574"/>
                </a:lnTo>
                <a:lnTo>
                  <a:pt x="10388879" y="6276022"/>
                </a:lnTo>
                <a:lnTo>
                  <a:pt x="10434418" y="6294769"/>
                </a:lnTo>
                <a:lnTo>
                  <a:pt x="10479803" y="6313812"/>
                </a:lnTo>
                <a:lnTo>
                  <a:pt x="10525032" y="6333151"/>
                </a:lnTo>
                <a:lnTo>
                  <a:pt x="10570103" y="6352785"/>
                </a:lnTo>
                <a:lnTo>
                  <a:pt x="10615016" y="6372712"/>
                </a:lnTo>
                <a:lnTo>
                  <a:pt x="10659769" y="6392932"/>
                </a:lnTo>
                <a:lnTo>
                  <a:pt x="10704362" y="6413442"/>
                </a:lnTo>
                <a:lnTo>
                  <a:pt x="10748792" y="6434242"/>
                </a:lnTo>
                <a:lnTo>
                  <a:pt x="10793059" y="6455331"/>
                </a:lnTo>
                <a:lnTo>
                  <a:pt x="10837162" y="6476706"/>
                </a:lnTo>
                <a:lnTo>
                  <a:pt x="10881099" y="6498368"/>
                </a:lnTo>
                <a:lnTo>
                  <a:pt x="10924869" y="6520315"/>
                </a:lnTo>
                <a:lnTo>
                  <a:pt x="10968470" y="6542546"/>
                </a:lnTo>
                <a:lnTo>
                  <a:pt x="11011902" y="6565059"/>
                </a:lnTo>
                <a:lnTo>
                  <a:pt x="11055164" y="6587853"/>
                </a:lnTo>
                <a:lnTo>
                  <a:pt x="11098254" y="6610928"/>
                </a:lnTo>
                <a:lnTo>
                  <a:pt x="11141170" y="6634281"/>
                </a:lnTo>
                <a:lnTo>
                  <a:pt x="11183912" y="6657912"/>
                </a:lnTo>
                <a:lnTo>
                  <a:pt x="11226479" y="6681820"/>
                </a:lnTo>
                <a:lnTo>
                  <a:pt x="11268869" y="6706002"/>
                </a:lnTo>
                <a:lnTo>
                  <a:pt x="11311081" y="6730459"/>
                </a:lnTo>
                <a:lnTo>
                  <a:pt x="11353114" y="6755188"/>
                </a:lnTo>
                <a:lnTo>
                  <a:pt x="11394966" y="6780189"/>
                </a:lnTo>
                <a:lnTo>
                  <a:pt x="11436637" y="6805461"/>
                </a:lnTo>
                <a:lnTo>
                  <a:pt x="11478125" y="6831001"/>
                </a:lnTo>
                <a:lnTo>
                  <a:pt x="11519429" y="6856810"/>
                </a:lnTo>
                <a:lnTo>
                  <a:pt x="11560547" y="6882885"/>
                </a:lnTo>
                <a:lnTo>
                  <a:pt x="11601479" y="6909226"/>
                </a:lnTo>
                <a:lnTo>
                  <a:pt x="11642223" y="6935831"/>
                </a:lnTo>
                <a:lnTo>
                  <a:pt x="11682779" y="6962700"/>
                </a:lnTo>
                <a:lnTo>
                  <a:pt x="11723144" y="6989830"/>
                </a:lnTo>
                <a:lnTo>
                  <a:pt x="11763317" y="7017221"/>
                </a:lnTo>
                <a:lnTo>
                  <a:pt x="11803298" y="7044871"/>
                </a:lnTo>
                <a:lnTo>
                  <a:pt x="11843085" y="7072780"/>
                </a:lnTo>
                <a:lnTo>
                  <a:pt x="11882677" y="7100946"/>
                </a:lnTo>
                <a:lnTo>
                  <a:pt x="11922073" y="7129367"/>
                </a:lnTo>
                <a:lnTo>
                  <a:pt x="11961271" y="7158044"/>
                </a:lnTo>
                <a:lnTo>
                  <a:pt x="12000270" y="7186973"/>
                </a:lnTo>
                <a:lnTo>
                  <a:pt x="12039070" y="7216155"/>
                </a:lnTo>
                <a:lnTo>
                  <a:pt x="12077668" y="7245588"/>
                </a:lnTo>
                <a:lnTo>
                  <a:pt x="12116063" y="7275271"/>
                </a:lnTo>
                <a:lnTo>
                  <a:pt x="12154256" y="7305203"/>
                </a:lnTo>
                <a:lnTo>
                  <a:pt x="12192243" y="7335382"/>
                </a:lnTo>
                <a:lnTo>
                  <a:pt x="12230024" y="7365807"/>
                </a:lnTo>
                <a:lnTo>
                  <a:pt x="12267598" y="7396477"/>
                </a:lnTo>
                <a:lnTo>
                  <a:pt x="12304963" y="7427390"/>
                </a:lnTo>
                <a:lnTo>
                  <a:pt x="12342119" y="7458547"/>
                </a:lnTo>
                <a:lnTo>
                  <a:pt x="12379063" y="7489944"/>
                </a:lnTo>
                <a:lnTo>
                  <a:pt x="12415795" y="7521582"/>
                </a:lnTo>
                <a:lnTo>
                  <a:pt x="12452314" y="7553459"/>
                </a:lnTo>
                <a:lnTo>
                  <a:pt x="12488619" y="7585573"/>
                </a:lnTo>
                <a:lnTo>
                  <a:pt x="12524707" y="7617924"/>
                </a:lnTo>
                <a:lnTo>
                  <a:pt x="12560578" y="7650511"/>
                </a:lnTo>
                <a:lnTo>
                  <a:pt x="12596231" y="7683331"/>
                </a:lnTo>
                <a:lnTo>
                  <a:pt x="12631665" y="7716384"/>
                </a:lnTo>
                <a:lnTo>
                  <a:pt x="12666877" y="7749669"/>
                </a:lnTo>
                <a:lnTo>
                  <a:pt x="12701868" y="7783184"/>
                </a:lnTo>
                <a:lnTo>
                  <a:pt x="12736636" y="7816929"/>
                </a:lnTo>
                <a:lnTo>
                  <a:pt x="12771179" y="7850901"/>
                </a:lnTo>
                <a:lnTo>
                  <a:pt x="12805496" y="7885101"/>
                </a:lnTo>
                <a:lnTo>
                  <a:pt x="12839587" y="7919526"/>
                </a:lnTo>
                <a:lnTo>
                  <a:pt x="12873449" y="7954175"/>
                </a:lnTo>
                <a:lnTo>
                  <a:pt x="12907082" y="7989048"/>
                </a:lnTo>
                <a:lnTo>
                  <a:pt x="12940485" y="8024143"/>
                </a:lnTo>
                <a:lnTo>
                  <a:pt x="12976193" y="8058217"/>
                </a:lnTo>
                <a:lnTo>
                  <a:pt x="13014894" y="8088219"/>
                </a:lnTo>
                <a:lnTo>
                  <a:pt x="13056237" y="8114004"/>
                </a:lnTo>
                <a:lnTo>
                  <a:pt x="13099872" y="8135427"/>
                </a:lnTo>
                <a:lnTo>
                  <a:pt x="13145448" y="8152342"/>
                </a:lnTo>
                <a:lnTo>
                  <a:pt x="13192614" y="8164604"/>
                </a:lnTo>
                <a:lnTo>
                  <a:pt x="13241021" y="8172068"/>
                </a:lnTo>
                <a:lnTo>
                  <a:pt x="13290317" y="8174588"/>
                </a:lnTo>
                <a:lnTo>
                  <a:pt x="15017165" y="8174588"/>
                </a:lnTo>
                <a:lnTo>
                  <a:pt x="15065858" y="8169681"/>
                </a:lnTo>
                <a:lnTo>
                  <a:pt x="15111210" y="8155606"/>
                </a:lnTo>
                <a:lnTo>
                  <a:pt x="15152248" y="8133334"/>
                </a:lnTo>
                <a:lnTo>
                  <a:pt x="15188003" y="8103835"/>
                </a:lnTo>
                <a:lnTo>
                  <a:pt x="15217503" y="8068081"/>
                </a:lnTo>
                <a:lnTo>
                  <a:pt x="15239776" y="8027043"/>
                </a:lnTo>
                <a:lnTo>
                  <a:pt x="15253852" y="7981690"/>
                </a:lnTo>
                <a:lnTo>
                  <a:pt x="15258760" y="7932994"/>
                </a:lnTo>
                <a:lnTo>
                  <a:pt x="15258760" y="241584"/>
                </a:lnTo>
                <a:lnTo>
                  <a:pt x="15253852" y="192903"/>
                </a:lnTo>
                <a:lnTo>
                  <a:pt x="15239776" y="147558"/>
                </a:lnTo>
                <a:lnTo>
                  <a:pt x="15217503" y="106522"/>
                </a:lnTo>
                <a:lnTo>
                  <a:pt x="15188003" y="70767"/>
                </a:lnTo>
                <a:lnTo>
                  <a:pt x="15152248" y="41265"/>
                </a:lnTo>
                <a:lnTo>
                  <a:pt x="15111210" y="18988"/>
                </a:lnTo>
                <a:lnTo>
                  <a:pt x="15065858" y="4909"/>
                </a:lnTo>
                <a:lnTo>
                  <a:pt x="15017165" y="0"/>
                </a:lnTo>
                <a:close/>
              </a:path>
            </a:pathLst>
          </a:custGeom>
          <a:solidFill>
            <a:srgbClr val="FCF5EB"/>
          </a:solidFill>
        </p:spPr>
        <p:txBody>
          <a:bodyPr wrap="square" lIns="0" tIns="0" rIns="0" bIns="0" rtlCol="0"/>
          <a:lstStyle/>
          <a:p>
            <a:endParaRPr/>
          </a:p>
        </p:txBody>
      </p:sp>
      <p:pic>
        <p:nvPicPr>
          <p:cNvPr id="4" name="Imagen 3">
            <a:extLst>
              <a:ext uri="{FF2B5EF4-FFF2-40B4-BE49-F238E27FC236}">
                <a16:creationId xmlns:a16="http://schemas.microsoft.com/office/drawing/2014/main" id="{7F91B221-6367-4694-A4D3-D53A7B00117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85250" y="10074275"/>
            <a:ext cx="2133600" cy="700585"/>
          </a:xfrm>
          <a:prstGeom prst="rect">
            <a:avLst/>
          </a:prstGeom>
        </p:spPr>
      </p:pic>
    </p:spTree>
    <p:extLst>
      <p:ext uri="{BB962C8B-B14F-4D97-AF65-F5344CB8AC3E}">
        <p14:creationId xmlns:p14="http://schemas.microsoft.com/office/powerpoint/2010/main" val="1633615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2_Blank">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EF966DF-49B0-7B68-7000-BF5DF1EE111E}"/>
              </a:ext>
            </a:extLst>
          </p:cNvPr>
          <p:cNvSpPr/>
          <p:nvPr userDrawn="1"/>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E1EBE4"/>
          </a:solidFill>
        </p:spPr>
        <p:txBody>
          <a:bodyPr wrap="square" lIns="0" tIns="0" rIns="0" bIns="0" rtlCol="0"/>
          <a:lstStyle/>
          <a:p>
            <a:endParaRPr/>
          </a:p>
        </p:txBody>
      </p:sp>
      <p:sp>
        <p:nvSpPr>
          <p:cNvPr id="5" name="object 3">
            <a:extLst>
              <a:ext uri="{FF2B5EF4-FFF2-40B4-BE49-F238E27FC236}">
                <a16:creationId xmlns:a16="http://schemas.microsoft.com/office/drawing/2014/main" id="{CB042B35-C874-136A-B17C-304D839CDE28}"/>
              </a:ext>
            </a:extLst>
          </p:cNvPr>
          <p:cNvSpPr/>
          <p:nvPr userDrawn="1"/>
        </p:nvSpPr>
        <p:spPr>
          <a:xfrm>
            <a:off x="2422668" y="1566986"/>
            <a:ext cx="15259050" cy="8174990"/>
          </a:xfrm>
          <a:custGeom>
            <a:avLst/>
            <a:gdLst/>
            <a:ahLst/>
            <a:cxnLst/>
            <a:rect l="l" t="t" r="r" b="b"/>
            <a:pathLst>
              <a:path w="15259050" h="8174990">
                <a:moveTo>
                  <a:pt x="15017165" y="0"/>
                </a:moveTo>
                <a:lnTo>
                  <a:pt x="241594" y="0"/>
                </a:lnTo>
                <a:lnTo>
                  <a:pt x="192901" y="4909"/>
                </a:lnTo>
                <a:lnTo>
                  <a:pt x="147550" y="18988"/>
                </a:lnTo>
                <a:lnTo>
                  <a:pt x="106511" y="41265"/>
                </a:lnTo>
                <a:lnTo>
                  <a:pt x="70757" y="70767"/>
                </a:lnTo>
                <a:lnTo>
                  <a:pt x="41257" y="106522"/>
                </a:lnTo>
                <a:lnTo>
                  <a:pt x="18984" y="147558"/>
                </a:lnTo>
                <a:lnTo>
                  <a:pt x="4907" y="192903"/>
                </a:lnTo>
                <a:lnTo>
                  <a:pt x="0" y="241584"/>
                </a:lnTo>
                <a:lnTo>
                  <a:pt x="0" y="7932994"/>
                </a:lnTo>
                <a:lnTo>
                  <a:pt x="4907" y="7981690"/>
                </a:lnTo>
                <a:lnTo>
                  <a:pt x="18984" y="8027043"/>
                </a:lnTo>
                <a:lnTo>
                  <a:pt x="41257" y="8068081"/>
                </a:lnTo>
                <a:lnTo>
                  <a:pt x="70757" y="8103835"/>
                </a:lnTo>
                <a:lnTo>
                  <a:pt x="106511" y="8133334"/>
                </a:lnTo>
                <a:lnTo>
                  <a:pt x="147550" y="8155606"/>
                </a:lnTo>
                <a:lnTo>
                  <a:pt x="192901" y="8169681"/>
                </a:lnTo>
                <a:lnTo>
                  <a:pt x="241594" y="8174588"/>
                </a:lnTo>
                <a:lnTo>
                  <a:pt x="1968442" y="8174588"/>
                </a:lnTo>
                <a:lnTo>
                  <a:pt x="2017738" y="8172068"/>
                </a:lnTo>
                <a:lnTo>
                  <a:pt x="2066142" y="8164604"/>
                </a:lnTo>
                <a:lnTo>
                  <a:pt x="2113306" y="8152342"/>
                </a:lnTo>
                <a:lnTo>
                  <a:pt x="2158880" y="8135427"/>
                </a:lnTo>
                <a:lnTo>
                  <a:pt x="2202514" y="8114004"/>
                </a:lnTo>
                <a:lnTo>
                  <a:pt x="2243857" y="8088219"/>
                </a:lnTo>
                <a:lnTo>
                  <a:pt x="2282561" y="8058217"/>
                </a:lnTo>
                <a:lnTo>
                  <a:pt x="2318274" y="8024143"/>
                </a:lnTo>
                <a:lnTo>
                  <a:pt x="2351677" y="7989048"/>
                </a:lnTo>
                <a:lnTo>
                  <a:pt x="2385310" y="7954175"/>
                </a:lnTo>
                <a:lnTo>
                  <a:pt x="2419173" y="7919526"/>
                </a:lnTo>
                <a:lnTo>
                  <a:pt x="2453263" y="7885101"/>
                </a:lnTo>
                <a:lnTo>
                  <a:pt x="2487581" y="7850901"/>
                </a:lnTo>
                <a:lnTo>
                  <a:pt x="2522124" y="7816929"/>
                </a:lnTo>
                <a:lnTo>
                  <a:pt x="2556891" y="7783184"/>
                </a:lnTo>
                <a:lnTo>
                  <a:pt x="2591882" y="7749669"/>
                </a:lnTo>
                <a:lnTo>
                  <a:pt x="2627095" y="7716384"/>
                </a:lnTo>
                <a:lnTo>
                  <a:pt x="2662528" y="7683331"/>
                </a:lnTo>
                <a:lnTo>
                  <a:pt x="2698181" y="7650511"/>
                </a:lnTo>
                <a:lnTo>
                  <a:pt x="2734052" y="7617924"/>
                </a:lnTo>
                <a:lnTo>
                  <a:pt x="2770141" y="7585573"/>
                </a:lnTo>
                <a:lnTo>
                  <a:pt x="2806445" y="7553459"/>
                </a:lnTo>
                <a:lnTo>
                  <a:pt x="2842964" y="7521582"/>
                </a:lnTo>
                <a:lnTo>
                  <a:pt x="2879696" y="7489944"/>
                </a:lnTo>
                <a:lnTo>
                  <a:pt x="2916641" y="7458547"/>
                </a:lnTo>
                <a:lnTo>
                  <a:pt x="2953796" y="7427390"/>
                </a:lnTo>
                <a:lnTo>
                  <a:pt x="2991161" y="7396477"/>
                </a:lnTo>
                <a:lnTo>
                  <a:pt x="3028735" y="7365807"/>
                </a:lnTo>
                <a:lnTo>
                  <a:pt x="3066516" y="7335382"/>
                </a:lnTo>
                <a:lnTo>
                  <a:pt x="3104503" y="7305203"/>
                </a:lnTo>
                <a:lnTo>
                  <a:pt x="3142695" y="7275271"/>
                </a:lnTo>
                <a:lnTo>
                  <a:pt x="3181091" y="7245588"/>
                </a:lnTo>
                <a:lnTo>
                  <a:pt x="3219689" y="7216155"/>
                </a:lnTo>
                <a:lnTo>
                  <a:pt x="3258489" y="7186973"/>
                </a:lnTo>
                <a:lnTo>
                  <a:pt x="3297488" y="7158044"/>
                </a:lnTo>
                <a:lnTo>
                  <a:pt x="3336686" y="7129367"/>
                </a:lnTo>
                <a:lnTo>
                  <a:pt x="3376082" y="7100946"/>
                </a:lnTo>
                <a:lnTo>
                  <a:pt x="3415674" y="7072780"/>
                </a:lnTo>
                <a:lnTo>
                  <a:pt x="3455461" y="7044871"/>
                </a:lnTo>
                <a:lnTo>
                  <a:pt x="3495442" y="7017221"/>
                </a:lnTo>
                <a:lnTo>
                  <a:pt x="3535615" y="6989830"/>
                </a:lnTo>
                <a:lnTo>
                  <a:pt x="3575980" y="6962700"/>
                </a:lnTo>
                <a:lnTo>
                  <a:pt x="3616535" y="6935831"/>
                </a:lnTo>
                <a:lnTo>
                  <a:pt x="3657280" y="6909226"/>
                </a:lnTo>
                <a:lnTo>
                  <a:pt x="3698211" y="6882885"/>
                </a:lnTo>
                <a:lnTo>
                  <a:pt x="3739330" y="6856810"/>
                </a:lnTo>
                <a:lnTo>
                  <a:pt x="3780634" y="6831001"/>
                </a:lnTo>
                <a:lnTo>
                  <a:pt x="3822122" y="6805461"/>
                </a:lnTo>
                <a:lnTo>
                  <a:pt x="3863792" y="6780189"/>
                </a:lnTo>
                <a:lnTo>
                  <a:pt x="3905645" y="6755188"/>
                </a:lnTo>
                <a:lnTo>
                  <a:pt x="3947678" y="6730459"/>
                </a:lnTo>
                <a:lnTo>
                  <a:pt x="3989890" y="6706002"/>
                </a:lnTo>
                <a:lnTo>
                  <a:pt x="4032280" y="6681820"/>
                </a:lnTo>
                <a:lnTo>
                  <a:pt x="4074847" y="6657912"/>
                </a:lnTo>
                <a:lnTo>
                  <a:pt x="4117589" y="6634281"/>
                </a:lnTo>
                <a:lnTo>
                  <a:pt x="4160506" y="6610928"/>
                </a:lnTo>
                <a:lnTo>
                  <a:pt x="4203595" y="6587853"/>
                </a:lnTo>
                <a:lnTo>
                  <a:pt x="4246857" y="6565059"/>
                </a:lnTo>
                <a:lnTo>
                  <a:pt x="4290289" y="6542546"/>
                </a:lnTo>
                <a:lnTo>
                  <a:pt x="4333891" y="6520315"/>
                </a:lnTo>
                <a:lnTo>
                  <a:pt x="4377661" y="6498368"/>
                </a:lnTo>
                <a:lnTo>
                  <a:pt x="4421598" y="6476706"/>
                </a:lnTo>
                <a:lnTo>
                  <a:pt x="4465701" y="6455331"/>
                </a:lnTo>
                <a:lnTo>
                  <a:pt x="4509968" y="6434242"/>
                </a:lnTo>
                <a:lnTo>
                  <a:pt x="4554398" y="6413442"/>
                </a:lnTo>
                <a:lnTo>
                  <a:pt x="4598991" y="6392932"/>
                </a:lnTo>
                <a:lnTo>
                  <a:pt x="4643745" y="6372712"/>
                </a:lnTo>
                <a:lnTo>
                  <a:pt x="4688658" y="6352785"/>
                </a:lnTo>
                <a:lnTo>
                  <a:pt x="4733729" y="6333151"/>
                </a:lnTo>
                <a:lnTo>
                  <a:pt x="4778958" y="6313812"/>
                </a:lnTo>
                <a:lnTo>
                  <a:pt x="4824343" y="6294769"/>
                </a:lnTo>
                <a:lnTo>
                  <a:pt x="4869883" y="6276022"/>
                </a:lnTo>
                <a:lnTo>
                  <a:pt x="4915576" y="6257574"/>
                </a:lnTo>
                <a:lnTo>
                  <a:pt x="4961421" y="6239425"/>
                </a:lnTo>
                <a:lnTo>
                  <a:pt x="5007418" y="6221577"/>
                </a:lnTo>
                <a:lnTo>
                  <a:pt x="5053564" y="6204031"/>
                </a:lnTo>
                <a:lnTo>
                  <a:pt x="5099859" y="6186788"/>
                </a:lnTo>
                <a:lnTo>
                  <a:pt x="5146302" y="6169849"/>
                </a:lnTo>
                <a:lnTo>
                  <a:pt x="5192891" y="6153215"/>
                </a:lnTo>
                <a:lnTo>
                  <a:pt x="5239624" y="6136889"/>
                </a:lnTo>
                <a:lnTo>
                  <a:pt x="5286502" y="6120870"/>
                </a:lnTo>
                <a:lnTo>
                  <a:pt x="5333522" y="6105160"/>
                </a:lnTo>
                <a:lnTo>
                  <a:pt x="5380683" y="6089760"/>
                </a:lnTo>
                <a:lnTo>
                  <a:pt x="5427985" y="6074673"/>
                </a:lnTo>
                <a:lnTo>
                  <a:pt x="5475425" y="6059897"/>
                </a:lnTo>
                <a:lnTo>
                  <a:pt x="5523003" y="6045436"/>
                </a:lnTo>
                <a:lnTo>
                  <a:pt x="5570718" y="6031290"/>
                </a:lnTo>
                <a:lnTo>
                  <a:pt x="5618567" y="6017460"/>
                </a:lnTo>
                <a:lnTo>
                  <a:pt x="5666551" y="6003948"/>
                </a:lnTo>
                <a:lnTo>
                  <a:pt x="5714667" y="5990755"/>
                </a:lnTo>
                <a:lnTo>
                  <a:pt x="5762915" y="5977881"/>
                </a:lnTo>
                <a:lnTo>
                  <a:pt x="5811294" y="5965329"/>
                </a:lnTo>
                <a:lnTo>
                  <a:pt x="5859801" y="5953100"/>
                </a:lnTo>
                <a:lnTo>
                  <a:pt x="5908436" y="5941193"/>
                </a:lnTo>
                <a:lnTo>
                  <a:pt x="5957198" y="5929612"/>
                </a:lnTo>
                <a:lnTo>
                  <a:pt x="6006086" y="5918357"/>
                </a:lnTo>
                <a:lnTo>
                  <a:pt x="6055097" y="5907429"/>
                </a:lnTo>
                <a:lnTo>
                  <a:pt x="6104232" y="5896829"/>
                </a:lnTo>
                <a:lnTo>
                  <a:pt x="6153488" y="5886560"/>
                </a:lnTo>
                <a:lnTo>
                  <a:pt x="6202865" y="5876621"/>
                </a:lnTo>
                <a:lnTo>
                  <a:pt x="6252361" y="5867014"/>
                </a:lnTo>
                <a:lnTo>
                  <a:pt x="6301976" y="5857740"/>
                </a:lnTo>
                <a:lnTo>
                  <a:pt x="6351707" y="5848801"/>
                </a:lnTo>
                <a:lnTo>
                  <a:pt x="6401554" y="5840198"/>
                </a:lnTo>
                <a:lnTo>
                  <a:pt x="6451515" y="5831932"/>
                </a:lnTo>
                <a:lnTo>
                  <a:pt x="6501590" y="5824004"/>
                </a:lnTo>
                <a:lnTo>
                  <a:pt x="6551776" y="5816415"/>
                </a:lnTo>
                <a:lnTo>
                  <a:pt x="6602074" y="5809166"/>
                </a:lnTo>
                <a:lnTo>
                  <a:pt x="6652481" y="5802260"/>
                </a:lnTo>
                <a:lnTo>
                  <a:pt x="6702996" y="5795696"/>
                </a:lnTo>
                <a:lnTo>
                  <a:pt x="6753618" y="5789477"/>
                </a:lnTo>
                <a:lnTo>
                  <a:pt x="6804346" y="5783603"/>
                </a:lnTo>
                <a:lnTo>
                  <a:pt x="6855179" y="5778076"/>
                </a:lnTo>
                <a:lnTo>
                  <a:pt x="6906115" y="5772897"/>
                </a:lnTo>
                <a:lnTo>
                  <a:pt x="6957154" y="5768066"/>
                </a:lnTo>
                <a:lnTo>
                  <a:pt x="7008293" y="5763586"/>
                </a:lnTo>
                <a:lnTo>
                  <a:pt x="7059533" y="5759457"/>
                </a:lnTo>
                <a:lnTo>
                  <a:pt x="7110871" y="5755681"/>
                </a:lnTo>
                <a:lnTo>
                  <a:pt x="7162306" y="5752259"/>
                </a:lnTo>
                <a:lnTo>
                  <a:pt x="7213837" y="5749192"/>
                </a:lnTo>
                <a:lnTo>
                  <a:pt x="7265463" y="5746481"/>
                </a:lnTo>
                <a:lnTo>
                  <a:pt x="7317183" y="5744128"/>
                </a:lnTo>
                <a:lnTo>
                  <a:pt x="7368995" y="5742133"/>
                </a:lnTo>
                <a:lnTo>
                  <a:pt x="7420899" y="5740499"/>
                </a:lnTo>
                <a:lnTo>
                  <a:pt x="7472892" y="5739225"/>
                </a:lnTo>
                <a:lnTo>
                  <a:pt x="7524975" y="5738314"/>
                </a:lnTo>
                <a:lnTo>
                  <a:pt x="7577145" y="5737767"/>
                </a:lnTo>
                <a:lnTo>
                  <a:pt x="7629401" y="5737584"/>
                </a:lnTo>
                <a:lnTo>
                  <a:pt x="7681656" y="5737767"/>
                </a:lnTo>
                <a:lnTo>
                  <a:pt x="7733824" y="5738314"/>
                </a:lnTo>
                <a:lnTo>
                  <a:pt x="7785905" y="5739225"/>
                </a:lnTo>
                <a:lnTo>
                  <a:pt x="7837897" y="5740499"/>
                </a:lnTo>
                <a:lnTo>
                  <a:pt x="7889800" y="5742133"/>
                </a:lnTo>
                <a:lnTo>
                  <a:pt x="7941611" y="5744128"/>
                </a:lnTo>
                <a:lnTo>
                  <a:pt x="7993330" y="5746481"/>
                </a:lnTo>
                <a:lnTo>
                  <a:pt x="8044955" y="5749192"/>
                </a:lnTo>
                <a:lnTo>
                  <a:pt x="8096485" y="5752259"/>
                </a:lnTo>
                <a:lnTo>
                  <a:pt x="8147919" y="5755681"/>
                </a:lnTo>
                <a:lnTo>
                  <a:pt x="8199256" y="5759457"/>
                </a:lnTo>
                <a:lnTo>
                  <a:pt x="8250494" y="5763586"/>
                </a:lnTo>
                <a:lnTo>
                  <a:pt x="8301633" y="5768066"/>
                </a:lnTo>
                <a:lnTo>
                  <a:pt x="8352670" y="5772897"/>
                </a:lnTo>
                <a:lnTo>
                  <a:pt x="8403605" y="5778076"/>
                </a:lnTo>
                <a:lnTo>
                  <a:pt x="8454437" y="5783603"/>
                </a:lnTo>
                <a:lnTo>
                  <a:pt x="8505165" y="5789477"/>
                </a:lnTo>
                <a:lnTo>
                  <a:pt x="8555786" y="5795696"/>
                </a:lnTo>
                <a:lnTo>
                  <a:pt x="8606300" y="5802260"/>
                </a:lnTo>
                <a:lnTo>
                  <a:pt x="8656706" y="5809166"/>
                </a:lnTo>
                <a:lnTo>
                  <a:pt x="8707003" y="5816415"/>
                </a:lnTo>
                <a:lnTo>
                  <a:pt x="8757189" y="5824004"/>
                </a:lnTo>
                <a:lnTo>
                  <a:pt x="8807263" y="5831932"/>
                </a:lnTo>
                <a:lnTo>
                  <a:pt x="8857223" y="5840198"/>
                </a:lnTo>
                <a:lnTo>
                  <a:pt x="8907069" y="5848801"/>
                </a:lnTo>
                <a:lnTo>
                  <a:pt x="8956800" y="5857740"/>
                </a:lnTo>
                <a:lnTo>
                  <a:pt x="9006413" y="5867014"/>
                </a:lnTo>
                <a:lnTo>
                  <a:pt x="9055909" y="5876621"/>
                </a:lnTo>
                <a:lnTo>
                  <a:pt x="9105285" y="5886560"/>
                </a:lnTo>
                <a:lnTo>
                  <a:pt x="9154541" y="5896829"/>
                </a:lnTo>
                <a:lnTo>
                  <a:pt x="9203675" y="5907429"/>
                </a:lnTo>
                <a:lnTo>
                  <a:pt x="9252686" y="5918357"/>
                </a:lnTo>
                <a:lnTo>
                  <a:pt x="9301573" y="5929612"/>
                </a:lnTo>
                <a:lnTo>
                  <a:pt x="9350334" y="5941193"/>
                </a:lnTo>
                <a:lnTo>
                  <a:pt x="9398969" y="5953100"/>
                </a:lnTo>
                <a:lnTo>
                  <a:pt x="9447476" y="5965329"/>
                </a:lnTo>
                <a:lnTo>
                  <a:pt x="9495853" y="5977881"/>
                </a:lnTo>
                <a:lnTo>
                  <a:pt x="9544101" y="5990755"/>
                </a:lnTo>
                <a:lnTo>
                  <a:pt x="9592217" y="6003948"/>
                </a:lnTo>
                <a:lnTo>
                  <a:pt x="9640200" y="6017460"/>
                </a:lnTo>
                <a:lnTo>
                  <a:pt x="9688049" y="6031290"/>
                </a:lnTo>
                <a:lnTo>
                  <a:pt x="9735763" y="6045436"/>
                </a:lnTo>
                <a:lnTo>
                  <a:pt x="9783341" y="6059897"/>
                </a:lnTo>
                <a:lnTo>
                  <a:pt x="9830781" y="6074673"/>
                </a:lnTo>
                <a:lnTo>
                  <a:pt x="9878082" y="6089760"/>
                </a:lnTo>
                <a:lnTo>
                  <a:pt x="9925243" y="6105160"/>
                </a:lnTo>
                <a:lnTo>
                  <a:pt x="9972263" y="6120870"/>
                </a:lnTo>
                <a:lnTo>
                  <a:pt x="10019140" y="6136889"/>
                </a:lnTo>
                <a:lnTo>
                  <a:pt x="10065873" y="6153215"/>
                </a:lnTo>
                <a:lnTo>
                  <a:pt x="10112462" y="6169849"/>
                </a:lnTo>
                <a:lnTo>
                  <a:pt x="10158904" y="6186788"/>
                </a:lnTo>
                <a:lnTo>
                  <a:pt x="10205199" y="6204031"/>
                </a:lnTo>
                <a:lnTo>
                  <a:pt x="10251345" y="6221577"/>
                </a:lnTo>
                <a:lnTo>
                  <a:pt x="10297341" y="6239425"/>
                </a:lnTo>
                <a:lnTo>
                  <a:pt x="10343186" y="6257574"/>
                </a:lnTo>
                <a:lnTo>
                  <a:pt x="10388879" y="6276022"/>
                </a:lnTo>
                <a:lnTo>
                  <a:pt x="10434418" y="6294769"/>
                </a:lnTo>
                <a:lnTo>
                  <a:pt x="10479803" y="6313812"/>
                </a:lnTo>
                <a:lnTo>
                  <a:pt x="10525032" y="6333151"/>
                </a:lnTo>
                <a:lnTo>
                  <a:pt x="10570103" y="6352785"/>
                </a:lnTo>
                <a:lnTo>
                  <a:pt x="10615016" y="6372712"/>
                </a:lnTo>
                <a:lnTo>
                  <a:pt x="10659769" y="6392932"/>
                </a:lnTo>
                <a:lnTo>
                  <a:pt x="10704362" y="6413442"/>
                </a:lnTo>
                <a:lnTo>
                  <a:pt x="10748792" y="6434242"/>
                </a:lnTo>
                <a:lnTo>
                  <a:pt x="10793059" y="6455331"/>
                </a:lnTo>
                <a:lnTo>
                  <a:pt x="10837162" y="6476706"/>
                </a:lnTo>
                <a:lnTo>
                  <a:pt x="10881099" y="6498368"/>
                </a:lnTo>
                <a:lnTo>
                  <a:pt x="10924869" y="6520315"/>
                </a:lnTo>
                <a:lnTo>
                  <a:pt x="10968470" y="6542546"/>
                </a:lnTo>
                <a:lnTo>
                  <a:pt x="11011902" y="6565059"/>
                </a:lnTo>
                <a:lnTo>
                  <a:pt x="11055164" y="6587853"/>
                </a:lnTo>
                <a:lnTo>
                  <a:pt x="11098254" y="6610928"/>
                </a:lnTo>
                <a:lnTo>
                  <a:pt x="11141170" y="6634281"/>
                </a:lnTo>
                <a:lnTo>
                  <a:pt x="11183912" y="6657912"/>
                </a:lnTo>
                <a:lnTo>
                  <a:pt x="11226479" y="6681820"/>
                </a:lnTo>
                <a:lnTo>
                  <a:pt x="11268869" y="6706002"/>
                </a:lnTo>
                <a:lnTo>
                  <a:pt x="11311081" y="6730459"/>
                </a:lnTo>
                <a:lnTo>
                  <a:pt x="11353114" y="6755188"/>
                </a:lnTo>
                <a:lnTo>
                  <a:pt x="11394966" y="6780189"/>
                </a:lnTo>
                <a:lnTo>
                  <a:pt x="11436637" y="6805461"/>
                </a:lnTo>
                <a:lnTo>
                  <a:pt x="11478125" y="6831001"/>
                </a:lnTo>
                <a:lnTo>
                  <a:pt x="11519429" y="6856810"/>
                </a:lnTo>
                <a:lnTo>
                  <a:pt x="11560547" y="6882885"/>
                </a:lnTo>
                <a:lnTo>
                  <a:pt x="11601479" y="6909226"/>
                </a:lnTo>
                <a:lnTo>
                  <a:pt x="11642223" y="6935831"/>
                </a:lnTo>
                <a:lnTo>
                  <a:pt x="11682779" y="6962700"/>
                </a:lnTo>
                <a:lnTo>
                  <a:pt x="11723144" y="6989830"/>
                </a:lnTo>
                <a:lnTo>
                  <a:pt x="11763317" y="7017221"/>
                </a:lnTo>
                <a:lnTo>
                  <a:pt x="11803298" y="7044871"/>
                </a:lnTo>
                <a:lnTo>
                  <a:pt x="11843085" y="7072780"/>
                </a:lnTo>
                <a:lnTo>
                  <a:pt x="11882677" y="7100946"/>
                </a:lnTo>
                <a:lnTo>
                  <a:pt x="11922073" y="7129367"/>
                </a:lnTo>
                <a:lnTo>
                  <a:pt x="11961271" y="7158044"/>
                </a:lnTo>
                <a:lnTo>
                  <a:pt x="12000270" y="7186973"/>
                </a:lnTo>
                <a:lnTo>
                  <a:pt x="12039070" y="7216155"/>
                </a:lnTo>
                <a:lnTo>
                  <a:pt x="12077668" y="7245588"/>
                </a:lnTo>
                <a:lnTo>
                  <a:pt x="12116063" y="7275271"/>
                </a:lnTo>
                <a:lnTo>
                  <a:pt x="12154256" y="7305203"/>
                </a:lnTo>
                <a:lnTo>
                  <a:pt x="12192243" y="7335382"/>
                </a:lnTo>
                <a:lnTo>
                  <a:pt x="12230024" y="7365807"/>
                </a:lnTo>
                <a:lnTo>
                  <a:pt x="12267598" y="7396477"/>
                </a:lnTo>
                <a:lnTo>
                  <a:pt x="12304963" y="7427390"/>
                </a:lnTo>
                <a:lnTo>
                  <a:pt x="12342119" y="7458547"/>
                </a:lnTo>
                <a:lnTo>
                  <a:pt x="12379063" y="7489944"/>
                </a:lnTo>
                <a:lnTo>
                  <a:pt x="12415795" y="7521582"/>
                </a:lnTo>
                <a:lnTo>
                  <a:pt x="12452314" y="7553459"/>
                </a:lnTo>
                <a:lnTo>
                  <a:pt x="12488619" y="7585573"/>
                </a:lnTo>
                <a:lnTo>
                  <a:pt x="12524707" y="7617924"/>
                </a:lnTo>
                <a:lnTo>
                  <a:pt x="12560578" y="7650511"/>
                </a:lnTo>
                <a:lnTo>
                  <a:pt x="12596231" y="7683331"/>
                </a:lnTo>
                <a:lnTo>
                  <a:pt x="12631665" y="7716384"/>
                </a:lnTo>
                <a:lnTo>
                  <a:pt x="12666877" y="7749669"/>
                </a:lnTo>
                <a:lnTo>
                  <a:pt x="12701868" y="7783184"/>
                </a:lnTo>
                <a:lnTo>
                  <a:pt x="12736636" y="7816929"/>
                </a:lnTo>
                <a:lnTo>
                  <a:pt x="12771179" y="7850901"/>
                </a:lnTo>
                <a:lnTo>
                  <a:pt x="12805496" y="7885101"/>
                </a:lnTo>
                <a:lnTo>
                  <a:pt x="12839587" y="7919526"/>
                </a:lnTo>
                <a:lnTo>
                  <a:pt x="12873449" y="7954175"/>
                </a:lnTo>
                <a:lnTo>
                  <a:pt x="12907082" y="7989048"/>
                </a:lnTo>
                <a:lnTo>
                  <a:pt x="12940485" y="8024143"/>
                </a:lnTo>
                <a:lnTo>
                  <a:pt x="12976193" y="8058217"/>
                </a:lnTo>
                <a:lnTo>
                  <a:pt x="13014894" y="8088219"/>
                </a:lnTo>
                <a:lnTo>
                  <a:pt x="13056237" y="8114004"/>
                </a:lnTo>
                <a:lnTo>
                  <a:pt x="13099872" y="8135427"/>
                </a:lnTo>
                <a:lnTo>
                  <a:pt x="13145448" y="8152342"/>
                </a:lnTo>
                <a:lnTo>
                  <a:pt x="13192614" y="8164604"/>
                </a:lnTo>
                <a:lnTo>
                  <a:pt x="13241021" y="8172068"/>
                </a:lnTo>
                <a:lnTo>
                  <a:pt x="13290317" y="8174588"/>
                </a:lnTo>
                <a:lnTo>
                  <a:pt x="15017165" y="8174588"/>
                </a:lnTo>
                <a:lnTo>
                  <a:pt x="15065858" y="8169681"/>
                </a:lnTo>
                <a:lnTo>
                  <a:pt x="15111210" y="8155606"/>
                </a:lnTo>
                <a:lnTo>
                  <a:pt x="15152248" y="8133334"/>
                </a:lnTo>
                <a:lnTo>
                  <a:pt x="15188003" y="8103835"/>
                </a:lnTo>
                <a:lnTo>
                  <a:pt x="15217503" y="8068081"/>
                </a:lnTo>
                <a:lnTo>
                  <a:pt x="15239776" y="8027043"/>
                </a:lnTo>
                <a:lnTo>
                  <a:pt x="15253852" y="7981690"/>
                </a:lnTo>
                <a:lnTo>
                  <a:pt x="15258760" y="7932994"/>
                </a:lnTo>
                <a:lnTo>
                  <a:pt x="15258760" y="241584"/>
                </a:lnTo>
                <a:lnTo>
                  <a:pt x="15253852" y="192903"/>
                </a:lnTo>
                <a:lnTo>
                  <a:pt x="15239776" y="147558"/>
                </a:lnTo>
                <a:lnTo>
                  <a:pt x="15217503" y="106522"/>
                </a:lnTo>
                <a:lnTo>
                  <a:pt x="15188003" y="70767"/>
                </a:lnTo>
                <a:lnTo>
                  <a:pt x="15152248" y="41265"/>
                </a:lnTo>
                <a:lnTo>
                  <a:pt x="15111210" y="18988"/>
                </a:lnTo>
                <a:lnTo>
                  <a:pt x="15065858" y="4909"/>
                </a:lnTo>
                <a:lnTo>
                  <a:pt x="15017165" y="0"/>
                </a:lnTo>
                <a:close/>
              </a:path>
            </a:pathLst>
          </a:custGeom>
          <a:solidFill>
            <a:srgbClr val="FCF5EB"/>
          </a:solidFill>
        </p:spPr>
        <p:txBody>
          <a:bodyPr wrap="square" lIns="0" tIns="0" rIns="0" bIns="0" rtlCol="0"/>
          <a:lstStyle/>
          <a:p>
            <a:endParaRPr/>
          </a:p>
        </p:txBody>
      </p:sp>
      <p:pic>
        <p:nvPicPr>
          <p:cNvPr id="2" name="Imagen 1">
            <a:extLst>
              <a:ext uri="{FF2B5EF4-FFF2-40B4-BE49-F238E27FC236}">
                <a16:creationId xmlns:a16="http://schemas.microsoft.com/office/drawing/2014/main" id="{BC070EC6-3944-52FF-4319-00DC2B30E0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85250" y="10074275"/>
            <a:ext cx="2133600" cy="700585"/>
          </a:xfrm>
          <a:prstGeom prst="rect">
            <a:avLst/>
          </a:prstGeom>
        </p:spPr>
      </p:pic>
    </p:spTree>
    <p:extLst>
      <p:ext uri="{BB962C8B-B14F-4D97-AF65-F5344CB8AC3E}">
        <p14:creationId xmlns:p14="http://schemas.microsoft.com/office/powerpoint/2010/main" val="4080338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3_Blank">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5DEBD430-8494-9D92-E55A-A006C2237126}"/>
              </a:ext>
            </a:extLst>
          </p:cNvPr>
          <p:cNvSpPr/>
          <p:nvPr/>
        </p:nvSpPr>
        <p:spPr>
          <a:xfrm>
            <a:off x="-2" y="0"/>
            <a:ext cx="20104100" cy="1831975"/>
          </a:xfrm>
          <a:custGeom>
            <a:avLst/>
            <a:gdLst/>
            <a:ahLst/>
            <a:cxnLst/>
            <a:rect l="l" t="t" r="r" b="b"/>
            <a:pathLst>
              <a:path w="20104100" h="1831975">
                <a:moveTo>
                  <a:pt x="20104099" y="0"/>
                </a:moveTo>
                <a:lnTo>
                  <a:pt x="0" y="0"/>
                </a:lnTo>
                <a:lnTo>
                  <a:pt x="0" y="1831755"/>
                </a:lnTo>
                <a:lnTo>
                  <a:pt x="18885519" y="1831755"/>
                </a:lnTo>
                <a:lnTo>
                  <a:pt x="18933368" y="1830833"/>
                </a:lnTo>
                <a:lnTo>
                  <a:pt x="18980750" y="1828089"/>
                </a:lnTo>
                <a:lnTo>
                  <a:pt x="19027631" y="1823557"/>
                </a:lnTo>
                <a:lnTo>
                  <a:pt x="19073977" y="1817271"/>
                </a:lnTo>
                <a:lnTo>
                  <a:pt x="19119754" y="1809265"/>
                </a:lnTo>
                <a:lnTo>
                  <a:pt x="19164929" y="1799572"/>
                </a:lnTo>
                <a:lnTo>
                  <a:pt x="19209466" y="1788227"/>
                </a:lnTo>
                <a:lnTo>
                  <a:pt x="19253334" y="1775263"/>
                </a:lnTo>
                <a:lnTo>
                  <a:pt x="19296497" y="1760714"/>
                </a:lnTo>
                <a:lnTo>
                  <a:pt x="19338921" y="1744614"/>
                </a:lnTo>
                <a:lnTo>
                  <a:pt x="19380574" y="1726998"/>
                </a:lnTo>
                <a:lnTo>
                  <a:pt x="19421421" y="1707898"/>
                </a:lnTo>
                <a:lnTo>
                  <a:pt x="19461427" y="1687348"/>
                </a:lnTo>
                <a:lnTo>
                  <a:pt x="19500561" y="1665384"/>
                </a:lnTo>
                <a:lnTo>
                  <a:pt x="19538786" y="1642037"/>
                </a:lnTo>
                <a:lnTo>
                  <a:pt x="19576071" y="1617343"/>
                </a:lnTo>
                <a:lnTo>
                  <a:pt x="19612380" y="1591335"/>
                </a:lnTo>
                <a:lnTo>
                  <a:pt x="19647680" y="1564047"/>
                </a:lnTo>
                <a:lnTo>
                  <a:pt x="19681937" y="1535513"/>
                </a:lnTo>
                <a:lnTo>
                  <a:pt x="19715117" y="1505767"/>
                </a:lnTo>
                <a:lnTo>
                  <a:pt x="19747186" y="1474842"/>
                </a:lnTo>
                <a:lnTo>
                  <a:pt x="19778111" y="1442773"/>
                </a:lnTo>
                <a:lnTo>
                  <a:pt x="19807857" y="1409592"/>
                </a:lnTo>
                <a:lnTo>
                  <a:pt x="19836392" y="1375336"/>
                </a:lnTo>
                <a:lnTo>
                  <a:pt x="19863680" y="1340036"/>
                </a:lnTo>
                <a:lnTo>
                  <a:pt x="19889688" y="1303727"/>
                </a:lnTo>
                <a:lnTo>
                  <a:pt x="19914382" y="1266442"/>
                </a:lnTo>
                <a:lnTo>
                  <a:pt x="19937728" y="1228217"/>
                </a:lnTo>
                <a:lnTo>
                  <a:pt x="19959693" y="1189083"/>
                </a:lnTo>
                <a:lnTo>
                  <a:pt x="19980242" y="1149076"/>
                </a:lnTo>
                <a:lnTo>
                  <a:pt x="19999342" y="1108230"/>
                </a:lnTo>
                <a:lnTo>
                  <a:pt x="20016958" y="1066577"/>
                </a:lnTo>
                <a:lnTo>
                  <a:pt x="20033058" y="1024152"/>
                </a:lnTo>
                <a:lnTo>
                  <a:pt x="20047607" y="980990"/>
                </a:lnTo>
                <a:lnTo>
                  <a:pt x="20060571" y="937122"/>
                </a:lnTo>
                <a:lnTo>
                  <a:pt x="20071916" y="892585"/>
                </a:lnTo>
                <a:lnTo>
                  <a:pt x="20081609" y="847410"/>
                </a:lnTo>
                <a:lnTo>
                  <a:pt x="20089615" y="801633"/>
                </a:lnTo>
                <a:lnTo>
                  <a:pt x="20095901" y="755287"/>
                </a:lnTo>
                <a:lnTo>
                  <a:pt x="20100433" y="708406"/>
                </a:lnTo>
                <a:lnTo>
                  <a:pt x="20103177" y="661024"/>
                </a:lnTo>
                <a:lnTo>
                  <a:pt x="20104099" y="613175"/>
                </a:lnTo>
                <a:lnTo>
                  <a:pt x="20104099" y="0"/>
                </a:lnTo>
                <a:close/>
              </a:path>
            </a:pathLst>
          </a:custGeom>
          <a:solidFill>
            <a:srgbClr val="FF051E"/>
          </a:solidFill>
        </p:spPr>
        <p:txBody>
          <a:bodyPr wrap="square" lIns="0" tIns="0" rIns="0" bIns="0" rtlCol="0"/>
          <a:lstStyle/>
          <a:p>
            <a:endParaRPr/>
          </a:p>
        </p:txBody>
      </p:sp>
      <p:pic>
        <p:nvPicPr>
          <p:cNvPr id="4" name="Imagen 3">
            <a:extLst>
              <a:ext uri="{FF2B5EF4-FFF2-40B4-BE49-F238E27FC236}">
                <a16:creationId xmlns:a16="http://schemas.microsoft.com/office/drawing/2014/main" id="{F2A436CE-D75D-AEE7-F474-1353DD22346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86250" y="549275"/>
            <a:ext cx="2088572" cy="685800"/>
          </a:xfrm>
          <a:prstGeom prst="rect">
            <a:avLst/>
          </a:prstGeom>
        </p:spPr>
      </p:pic>
    </p:spTree>
    <p:extLst>
      <p:ext uri="{BB962C8B-B14F-4D97-AF65-F5344CB8AC3E}">
        <p14:creationId xmlns:p14="http://schemas.microsoft.com/office/powerpoint/2010/main" val="1213178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4_Blank">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55B2940-E47F-E285-A95F-0F84736467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97"/>
            <a:ext cx="20347521" cy="11445478"/>
          </a:xfrm>
          <a:prstGeom prst="rect">
            <a:avLst/>
          </a:prstGeom>
        </p:spPr>
      </p:pic>
    </p:spTree>
    <p:extLst>
      <p:ext uri="{BB962C8B-B14F-4D97-AF65-F5344CB8AC3E}">
        <p14:creationId xmlns:p14="http://schemas.microsoft.com/office/powerpoint/2010/main" val="4209338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9" r:id="rId2"/>
    <p:sldLayoutId id="2147483662" r:id="rId3"/>
    <p:sldLayoutId id="2147483663" r:id="rId4"/>
    <p:sldLayoutId id="2147483664" r:id="rId5"/>
    <p:sldLayoutId id="2147483665" r:id="rId6"/>
    <p:sldLayoutId id="2147483666" r:id="rId7"/>
    <p:sldLayoutId id="2147483667" r:id="rId8"/>
    <p:sldLayoutId id="2147483668" r:id="rId9"/>
    <p:sldLayoutId id="2147483670" r:id="rId10"/>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eogebra.org/m/tayhwa8g" TargetMode="Externa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 Id="rId5" Type="http://schemas.openxmlformats.org/officeDocument/2006/relationships/image" Target="../media/image14.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emf"/></Relationships>
</file>

<file path=ppt/slides/_rels/slide7.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20.png"/><Relationship Id="rId1" Type="http://schemas.openxmlformats.org/officeDocument/2006/relationships/slideLayout" Target="../slideLayouts/slideLayout9.xml"/><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E56C6D1-0E3F-0C43-BB0F-988973017F01}"/>
              </a:ext>
            </a:extLst>
          </p:cNvPr>
          <p:cNvSpPr txBox="1"/>
          <p:nvPr/>
        </p:nvSpPr>
        <p:spPr>
          <a:xfrm>
            <a:off x="1822450" y="2835275"/>
            <a:ext cx="16078200" cy="4708981"/>
          </a:xfrm>
          <a:prstGeom prst="rect">
            <a:avLst/>
          </a:prstGeom>
          <a:noFill/>
        </p:spPr>
        <p:txBody>
          <a:bodyPr wrap="square" rtlCol="0">
            <a:spAutoFit/>
          </a:bodyPr>
          <a:lstStyle/>
          <a:p>
            <a:pPr algn="ctr"/>
            <a:r>
              <a:rPr lang="es-CO" sz="6000" b="1" dirty="0" smtClean="0">
                <a:solidFill>
                  <a:srgbClr val="FF0000"/>
                </a:solidFill>
                <a:latin typeface="Rockwell Extra Bold" panose="02060903040505020403" pitchFamily="18" charset="0"/>
                <a:ea typeface="Roboto" panose="02000000000000000000" pitchFamily="2" charset="0"/>
              </a:rPr>
              <a:t>Matemáticas Fundamentales</a:t>
            </a:r>
          </a:p>
          <a:p>
            <a:pPr algn="ctr"/>
            <a:endParaRPr lang="es-CO" sz="6000" b="1" dirty="0">
              <a:solidFill>
                <a:srgbClr val="FF0000"/>
              </a:solidFill>
              <a:latin typeface="Rockwell Extra Bold" panose="02060903040505020403" pitchFamily="18" charset="0"/>
              <a:ea typeface="Roboto" panose="02000000000000000000" pitchFamily="2" charset="0"/>
            </a:endParaRPr>
          </a:p>
          <a:p>
            <a:pPr algn="ctr"/>
            <a:r>
              <a:rPr lang="es-CO" sz="6000" b="1" smtClean="0">
                <a:solidFill>
                  <a:srgbClr val="FF0000"/>
                </a:solidFill>
                <a:latin typeface="Rockwell Extra Bold" panose="02060903040505020403" pitchFamily="18" charset="0"/>
                <a:ea typeface="Roboto" panose="02000000000000000000" pitchFamily="2" charset="0"/>
              </a:rPr>
              <a:t>Semana </a:t>
            </a:r>
            <a:r>
              <a:rPr lang="es-CO" sz="6000" b="1" smtClean="0">
                <a:solidFill>
                  <a:srgbClr val="FF0000"/>
                </a:solidFill>
                <a:latin typeface="Rockwell Extra Bold" panose="02060903040505020403" pitchFamily="18" charset="0"/>
                <a:ea typeface="Roboto" panose="02000000000000000000" pitchFamily="2" charset="0"/>
              </a:rPr>
              <a:t>5: </a:t>
            </a:r>
            <a:r>
              <a:rPr lang="es-CO" sz="6000" b="1" dirty="0" smtClean="0">
                <a:solidFill>
                  <a:srgbClr val="FF0000"/>
                </a:solidFill>
                <a:latin typeface="Rockwell Extra Bold" panose="02060903040505020403" pitchFamily="18" charset="0"/>
                <a:ea typeface="Roboto" panose="02000000000000000000" pitchFamily="2" charset="0"/>
              </a:rPr>
              <a:t>Sistema de coordenadas rectangulares, círculo y gráficas.</a:t>
            </a:r>
            <a:endParaRPr lang="es-MX" sz="3600" b="1" dirty="0">
              <a:solidFill>
                <a:srgbClr val="FF0000"/>
              </a:solidFill>
              <a:latin typeface="Sitka Text" panose="02000505000000020004" pitchFamily="2" charset="0"/>
              <a:ea typeface="Roboto" panose="02000000000000000000" pitchFamily="2" charset="0"/>
            </a:endParaRPr>
          </a:p>
        </p:txBody>
      </p:sp>
    </p:spTree>
    <p:extLst>
      <p:ext uri="{BB962C8B-B14F-4D97-AF65-F5344CB8AC3E}">
        <p14:creationId xmlns:p14="http://schemas.microsoft.com/office/powerpoint/2010/main" val="948847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58C7C993-E3B8-4312-970A-52162783CD2B}"/>
              </a:ext>
            </a:extLst>
          </p:cNvPr>
          <p:cNvSpPr/>
          <p:nvPr/>
        </p:nvSpPr>
        <p:spPr>
          <a:xfrm>
            <a:off x="3727450" y="777875"/>
            <a:ext cx="11506200" cy="707886"/>
          </a:xfrm>
          <a:prstGeom prst="rect">
            <a:avLst/>
          </a:prstGeom>
        </p:spPr>
        <p:txBody>
          <a:bodyPr wrap="square">
            <a:spAutoFit/>
          </a:bodyPr>
          <a:lstStyle/>
          <a:p>
            <a:pPr algn="ctr"/>
            <a:r>
              <a:rPr lang="es-CO" sz="4000" b="1" dirty="0" smtClean="0">
                <a:ln w="22225">
                  <a:solidFill>
                    <a:schemeClr val="bg1"/>
                  </a:solidFill>
                  <a:prstDash val="solid"/>
                </a:ln>
                <a:solidFill>
                  <a:schemeClr val="bg1"/>
                </a:solidFill>
              </a:rPr>
              <a:t>SISTEMA DE COORDENADAS CARTESIANAS</a:t>
            </a:r>
            <a:endParaRPr lang="es-CO" sz="4000" b="1" dirty="0">
              <a:ln w="22225">
                <a:solidFill>
                  <a:schemeClr val="bg1"/>
                </a:solidFill>
                <a:prstDash val="solid"/>
              </a:ln>
              <a:solidFill>
                <a:schemeClr val="bg1"/>
              </a:solidFill>
            </a:endParaRPr>
          </a:p>
        </p:txBody>
      </p:sp>
      <p:pic>
        <p:nvPicPr>
          <p:cNvPr id="2" name="Imagen 1"/>
          <p:cNvPicPr>
            <a:picLocks noChangeAspect="1"/>
          </p:cNvPicPr>
          <p:nvPr/>
        </p:nvPicPr>
        <p:blipFill>
          <a:blip r:embed="rId2"/>
          <a:stretch>
            <a:fillRect/>
          </a:stretch>
        </p:blipFill>
        <p:spPr>
          <a:xfrm>
            <a:off x="222250" y="5502275"/>
            <a:ext cx="9767988" cy="4234081"/>
          </a:xfrm>
          <a:prstGeom prst="rect">
            <a:avLst/>
          </a:prstGeom>
        </p:spPr>
      </p:pic>
      <p:sp>
        <p:nvSpPr>
          <p:cNvPr id="3" name="Rectángulo 2"/>
          <p:cNvSpPr/>
          <p:nvPr/>
        </p:nvSpPr>
        <p:spPr>
          <a:xfrm>
            <a:off x="1020372" y="2446088"/>
            <a:ext cx="8117278" cy="2677656"/>
          </a:xfrm>
          <a:prstGeom prst="rect">
            <a:avLst/>
          </a:prstGeom>
        </p:spPr>
        <p:txBody>
          <a:bodyPr wrap="square">
            <a:spAutoFit/>
          </a:bodyPr>
          <a:lstStyle/>
          <a:p>
            <a:pPr algn="just"/>
            <a:r>
              <a:rPr lang="es-CO" sz="2400" dirty="0">
                <a:latin typeface="Georgia" panose="02040502050405020303" pitchFamily="18" charset="0"/>
              </a:rPr>
              <a:t>Cualquier punto P del plano coordenado puede ser localizado por un par ordenado de </a:t>
            </a:r>
            <a:r>
              <a:rPr lang="es-CO" sz="2400" dirty="0" smtClean="0">
                <a:latin typeface="Georgia" panose="02040502050405020303" pitchFamily="18" charset="0"/>
              </a:rPr>
              <a:t>números </a:t>
            </a:r>
            <a:r>
              <a:rPr lang="es-CO" sz="2400" dirty="0">
                <a:latin typeface="Georgia" panose="02040502050405020303" pitchFamily="18" charset="0"/>
              </a:rPr>
              <a:t>(a, b), como se muestra en la </a:t>
            </a:r>
            <a:r>
              <a:rPr lang="es-CO" sz="2400" dirty="0" smtClean="0">
                <a:latin typeface="Georgia" panose="02040502050405020303" pitchFamily="18" charset="0"/>
              </a:rPr>
              <a:t>imagen. El </a:t>
            </a:r>
            <a:r>
              <a:rPr lang="es-CO" sz="2400" dirty="0">
                <a:latin typeface="Georgia" panose="02040502050405020303" pitchFamily="18" charset="0"/>
              </a:rPr>
              <a:t>primer número a se llama coordenada </a:t>
            </a:r>
            <a:r>
              <a:rPr lang="es-CO" sz="2400" dirty="0" smtClean="0">
                <a:latin typeface="Georgia" panose="02040502050405020303" pitchFamily="18" charset="0"/>
              </a:rPr>
              <a:t>x </a:t>
            </a:r>
            <a:r>
              <a:rPr lang="es-CO" sz="2400" dirty="0">
                <a:latin typeface="Georgia" panose="02040502050405020303" pitchFamily="18" charset="0"/>
              </a:rPr>
              <a:t>de P; el segundo número b se llama coordenada y de P. Podemos considerar las </a:t>
            </a:r>
            <a:r>
              <a:rPr lang="es-CO" sz="2400" dirty="0" smtClean="0">
                <a:latin typeface="Georgia" panose="02040502050405020303" pitchFamily="18" charset="0"/>
              </a:rPr>
              <a:t>coordenadas </a:t>
            </a:r>
            <a:r>
              <a:rPr lang="es-CO" sz="2400" dirty="0">
                <a:latin typeface="Georgia" panose="02040502050405020303" pitchFamily="18" charset="0"/>
              </a:rPr>
              <a:t>de P como su “dirección”, porque </a:t>
            </a:r>
            <a:r>
              <a:rPr lang="es-CO" sz="2400" dirty="0" smtClean="0">
                <a:latin typeface="Georgia" panose="02040502050405020303" pitchFamily="18" charset="0"/>
              </a:rPr>
              <a:t>especifican </a:t>
            </a:r>
            <a:r>
              <a:rPr lang="es-CO" sz="2400" dirty="0">
                <a:latin typeface="Georgia" panose="02040502050405020303" pitchFamily="18" charset="0"/>
              </a:rPr>
              <a:t>su ubicación en el plano</a:t>
            </a:r>
            <a:r>
              <a:rPr lang="es-CO" sz="1600" dirty="0" smtClean="0">
                <a:solidFill>
                  <a:srgbClr val="231F20"/>
                </a:solidFill>
                <a:effectLst/>
                <a:latin typeface="Times-Roman"/>
              </a:rPr>
              <a:t>.</a:t>
            </a:r>
            <a:endParaRPr lang="es-419" sz="1600" dirty="0"/>
          </a:p>
        </p:txBody>
      </p:sp>
      <p:pic>
        <p:nvPicPr>
          <p:cNvPr id="4" name="Imagen 3"/>
          <p:cNvPicPr>
            <a:picLocks noChangeAspect="1"/>
          </p:cNvPicPr>
          <p:nvPr/>
        </p:nvPicPr>
        <p:blipFill>
          <a:blip r:embed="rId3"/>
          <a:stretch>
            <a:fillRect/>
          </a:stretch>
        </p:blipFill>
        <p:spPr>
          <a:xfrm>
            <a:off x="9442450" y="2515554"/>
            <a:ext cx="10134600" cy="1014998"/>
          </a:xfrm>
          <a:prstGeom prst="rect">
            <a:avLst/>
          </a:prstGeom>
        </p:spPr>
      </p:pic>
      <p:pic>
        <p:nvPicPr>
          <p:cNvPr id="5" name="Imagen 4"/>
          <p:cNvPicPr>
            <a:picLocks noChangeAspect="1"/>
          </p:cNvPicPr>
          <p:nvPr/>
        </p:nvPicPr>
        <p:blipFill rotWithShape="1">
          <a:blip r:embed="rId4"/>
          <a:srcRect l="10030" r="6142"/>
          <a:stretch/>
        </p:blipFill>
        <p:spPr>
          <a:xfrm>
            <a:off x="9594850" y="4054475"/>
            <a:ext cx="10120398" cy="3978960"/>
          </a:xfrm>
          <a:prstGeom prst="rect">
            <a:avLst/>
          </a:prstGeom>
        </p:spPr>
      </p:pic>
    </p:spTree>
    <p:extLst>
      <p:ext uri="{BB962C8B-B14F-4D97-AF65-F5344CB8AC3E}">
        <p14:creationId xmlns:p14="http://schemas.microsoft.com/office/powerpoint/2010/main" val="3801075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07161" y="320675"/>
            <a:ext cx="11038599" cy="1323439"/>
          </a:xfrm>
          <a:prstGeom prst="rect">
            <a:avLst/>
          </a:prstGeom>
        </p:spPr>
        <p:txBody>
          <a:bodyPr wrap="none">
            <a:spAutoFit/>
          </a:bodyPr>
          <a:lstStyle/>
          <a:p>
            <a:pPr algn="ctr"/>
            <a:r>
              <a:rPr lang="es-CO" sz="4000" b="1" dirty="0">
                <a:ln w="22225">
                  <a:solidFill>
                    <a:schemeClr val="bg1"/>
                  </a:solidFill>
                  <a:prstDash val="solid"/>
                </a:ln>
                <a:solidFill>
                  <a:schemeClr val="bg1"/>
                </a:solidFill>
              </a:rPr>
              <a:t>Actividad </a:t>
            </a:r>
            <a:r>
              <a:rPr lang="es-CO" sz="4000" b="1" dirty="0" smtClean="0">
                <a:ln w="22225">
                  <a:solidFill>
                    <a:schemeClr val="bg1"/>
                  </a:solidFill>
                  <a:prstDash val="solid"/>
                </a:ln>
                <a:solidFill>
                  <a:schemeClr val="bg1"/>
                </a:solidFill>
              </a:rPr>
              <a:t>Interactiva con </a:t>
            </a:r>
            <a:r>
              <a:rPr lang="es-CO" sz="4000" b="1" dirty="0" err="1" smtClean="0">
                <a:ln w="22225">
                  <a:solidFill>
                    <a:schemeClr val="bg1"/>
                  </a:solidFill>
                  <a:prstDash val="solid"/>
                </a:ln>
                <a:solidFill>
                  <a:schemeClr val="bg1"/>
                </a:solidFill>
              </a:rPr>
              <a:t>Geogebra</a:t>
            </a:r>
            <a:endParaRPr lang="es-CO" sz="4000" b="1" dirty="0" smtClean="0">
              <a:ln w="22225">
                <a:solidFill>
                  <a:schemeClr val="bg1"/>
                </a:solidFill>
                <a:prstDash val="solid"/>
              </a:ln>
              <a:solidFill>
                <a:schemeClr val="bg1"/>
              </a:solidFill>
            </a:endParaRPr>
          </a:p>
          <a:p>
            <a:pPr algn="ctr"/>
            <a:r>
              <a:rPr lang="es-CO" sz="4000" b="1" dirty="0" smtClean="0">
                <a:ln w="22225">
                  <a:solidFill>
                    <a:schemeClr val="bg1"/>
                  </a:solidFill>
                  <a:prstDash val="solid"/>
                </a:ln>
                <a:solidFill>
                  <a:schemeClr val="bg1"/>
                </a:solidFill>
              </a:rPr>
              <a:t>Ubicación </a:t>
            </a:r>
            <a:r>
              <a:rPr lang="es-CO" sz="4000" b="1" dirty="0">
                <a:ln w="22225">
                  <a:solidFill>
                    <a:schemeClr val="bg1"/>
                  </a:solidFill>
                  <a:prstDash val="solid"/>
                </a:ln>
                <a:solidFill>
                  <a:schemeClr val="bg1"/>
                </a:solidFill>
              </a:rPr>
              <a:t>de puntos en el plano cartesiano</a:t>
            </a:r>
          </a:p>
        </p:txBody>
      </p:sp>
      <p:pic>
        <p:nvPicPr>
          <p:cNvPr id="3" name="Imagen 2">
            <a:hlinkClick r:id="rId2"/>
          </p:cNvPr>
          <p:cNvPicPr>
            <a:picLocks noChangeAspect="1"/>
          </p:cNvPicPr>
          <p:nvPr/>
        </p:nvPicPr>
        <p:blipFill>
          <a:blip r:embed="rId3"/>
          <a:stretch>
            <a:fillRect/>
          </a:stretch>
        </p:blipFill>
        <p:spPr>
          <a:xfrm>
            <a:off x="3207161" y="3216275"/>
            <a:ext cx="11611777" cy="6872588"/>
          </a:xfrm>
          <a:prstGeom prst="rect">
            <a:avLst/>
          </a:prstGeom>
        </p:spPr>
      </p:pic>
      <p:sp>
        <p:nvSpPr>
          <p:cNvPr id="4" name="Rectángulo 3"/>
          <p:cNvSpPr/>
          <p:nvPr/>
        </p:nvSpPr>
        <p:spPr>
          <a:xfrm>
            <a:off x="5937250" y="2606675"/>
            <a:ext cx="7175362" cy="584775"/>
          </a:xfrm>
          <a:prstGeom prst="rect">
            <a:avLst/>
          </a:prstGeom>
        </p:spPr>
        <p:txBody>
          <a:bodyPr wrap="none">
            <a:spAutoFit/>
          </a:bodyPr>
          <a:lstStyle/>
          <a:p>
            <a:r>
              <a:rPr lang="es-419" sz="3200" dirty="0" smtClean="0"/>
              <a:t>https://www.geogebra.org/m/tayhwa8g</a:t>
            </a:r>
            <a:endParaRPr lang="es-419" sz="3200" dirty="0"/>
          </a:p>
        </p:txBody>
      </p:sp>
    </p:spTree>
    <p:extLst>
      <p:ext uri="{BB962C8B-B14F-4D97-AF65-F5344CB8AC3E}">
        <p14:creationId xmlns:p14="http://schemas.microsoft.com/office/powerpoint/2010/main" val="670640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8C7C993-E3B8-4312-970A-52162783CD2B}"/>
              </a:ext>
            </a:extLst>
          </p:cNvPr>
          <p:cNvSpPr/>
          <p:nvPr/>
        </p:nvSpPr>
        <p:spPr>
          <a:xfrm>
            <a:off x="3727450" y="777875"/>
            <a:ext cx="11506200" cy="707886"/>
          </a:xfrm>
          <a:prstGeom prst="rect">
            <a:avLst/>
          </a:prstGeom>
        </p:spPr>
        <p:txBody>
          <a:bodyPr wrap="square">
            <a:spAutoFit/>
          </a:bodyPr>
          <a:lstStyle/>
          <a:p>
            <a:pPr algn="ctr"/>
            <a:r>
              <a:rPr lang="es-CO" sz="4000" b="1" dirty="0" smtClean="0">
                <a:ln w="22225">
                  <a:solidFill>
                    <a:schemeClr val="bg1"/>
                  </a:solidFill>
                  <a:prstDash val="solid"/>
                </a:ln>
                <a:solidFill>
                  <a:schemeClr val="bg1"/>
                </a:solidFill>
              </a:rPr>
              <a:t>EJEMPLO </a:t>
            </a:r>
            <a:endParaRPr lang="es-CO" sz="4000" b="1" dirty="0">
              <a:ln w="22225">
                <a:solidFill>
                  <a:schemeClr val="bg1"/>
                </a:solidFill>
                <a:prstDash val="solid"/>
              </a:ln>
              <a:solidFill>
                <a:schemeClr val="bg1"/>
              </a:solidFill>
            </a:endParaRPr>
          </a:p>
        </p:txBody>
      </p:sp>
      <mc:AlternateContent xmlns:mc="http://schemas.openxmlformats.org/markup-compatibility/2006" xmlns:a14="http://schemas.microsoft.com/office/drawing/2010/main">
        <mc:Choice Requires="a14">
          <p:sp>
            <p:nvSpPr>
              <p:cNvPr id="3" name="Rectángulo 2"/>
              <p:cNvSpPr/>
              <p:nvPr/>
            </p:nvSpPr>
            <p:spPr>
              <a:xfrm>
                <a:off x="679450" y="2378075"/>
                <a:ext cx="8117278" cy="1384995"/>
              </a:xfrm>
              <a:prstGeom prst="rect">
                <a:avLst/>
              </a:prstGeom>
            </p:spPr>
            <p:txBody>
              <a:bodyPr wrap="square">
                <a:spAutoFit/>
              </a:bodyPr>
              <a:lstStyle/>
              <a:p>
                <a:pPr algn="just"/>
                <a:r>
                  <a:rPr lang="es-CO" sz="2800" dirty="0" smtClean="0">
                    <a:latin typeface="Georgia" panose="02040502050405020303" pitchFamily="18" charset="0"/>
                  </a:rPr>
                  <a:t>Trazar el conjunto de puntos (</a:t>
                </a:r>
                <a:r>
                  <a:rPr lang="es-CO" sz="2800" dirty="0" err="1" smtClean="0">
                    <a:latin typeface="Georgia" panose="02040502050405020303" pitchFamily="18" charset="0"/>
                  </a:rPr>
                  <a:t>x,y</a:t>
                </a:r>
                <a:r>
                  <a:rPr lang="es-CO" sz="2800" dirty="0" smtClean="0">
                    <a:latin typeface="Georgia" panose="02040502050405020303" pitchFamily="18" charset="0"/>
                  </a:rPr>
                  <a:t>) en el plano </a:t>
                </a:r>
                <a:r>
                  <a:rPr lang="es-CO" sz="2800" dirty="0" err="1" smtClean="0">
                    <a:latin typeface="Georgia" panose="02040502050405020303" pitchFamily="18" charset="0"/>
                  </a:rPr>
                  <a:t>xy</a:t>
                </a:r>
                <a:r>
                  <a:rPr lang="es-CO" sz="2800" dirty="0" smtClean="0">
                    <a:latin typeface="Georgia" panose="02040502050405020303" pitchFamily="18" charset="0"/>
                  </a:rPr>
                  <a:t> cuyas coordenadas satisfacen </a:t>
                </a:r>
                <a14:m>
                  <m:oMath xmlns:m="http://schemas.openxmlformats.org/officeDocument/2006/math">
                    <m:r>
                      <a:rPr lang="es-ES" sz="2800" b="0" i="1" smtClean="0">
                        <a:latin typeface="Cambria Math" panose="02040503050406030204" pitchFamily="18" charset="0"/>
                      </a:rPr>
                      <m:t>0≤</m:t>
                    </m:r>
                    <m:r>
                      <a:rPr lang="es-ES" sz="2800" b="0" i="1" smtClean="0">
                        <a:latin typeface="Cambria Math" panose="02040503050406030204" pitchFamily="18" charset="0"/>
                      </a:rPr>
                      <m:t>𝑥</m:t>
                    </m:r>
                    <m:r>
                      <a:rPr lang="es-ES" sz="2800" b="0" i="1" smtClean="0">
                        <a:latin typeface="Cambria Math" panose="02040503050406030204" pitchFamily="18" charset="0"/>
                      </a:rPr>
                      <m:t>≤2</m:t>
                    </m:r>
                  </m:oMath>
                </a14:m>
                <a:r>
                  <a:rPr lang="es-419" dirty="0" smtClean="0"/>
                  <a:t> </a:t>
                </a:r>
                <a:r>
                  <a:rPr lang="es-419" sz="2800" dirty="0">
                    <a:latin typeface="Georgia" panose="02040502050405020303" pitchFamily="18" charset="0"/>
                  </a:rPr>
                  <a:t>y también que </a:t>
                </a:r>
                <a14:m>
                  <m:oMath xmlns:m="http://schemas.openxmlformats.org/officeDocument/2006/math">
                    <m:d>
                      <m:dPr>
                        <m:begChr m:val="|"/>
                        <m:endChr m:val="|"/>
                        <m:ctrlPr>
                          <a:rPr lang="es-419" sz="2800" i="1">
                            <a:latin typeface="Cambria Math" panose="02040503050406030204" pitchFamily="18" charset="0"/>
                          </a:rPr>
                        </m:ctrlPr>
                      </m:dPr>
                      <m:e>
                        <m:r>
                          <a:rPr lang="es-ES" sz="2800">
                            <a:latin typeface="Cambria Math" panose="02040503050406030204" pitchFamily="18" charset="0"/>
                          </a:rPr>
                          <m:t>𝑦</m:t>
                        </m:r>
                      </m:e>
                    </m:d>
                    <m:r>
                      <a:rPr lang="es-ES" sz="2800">
                        <a:latin typeface="Cambria Math" panose="02040503050406030204" pitchFamily="18" charset="0"/>
                      </a:rPr>
                      <m:t>=1</m:t>
                    </m:r>
                  </m:oMath>
                </a14:m>
                <a:endParaRPr lang="es-419" sz="2800" dirty="0">
                  <a:latin typeface="Georgia" panose="02040502050405020303" pitchFamily="18" charset="0"/>
                </a:endParaRPr>
              </a:p>
            </p:txBody>
          </p:sp>
        </mc:Choice>
        <mc:Fallback xmlns="">
          <p:sp>
            <p:nvSpPr>
              <p:cNvPr id="3" name="Rectángulo 2"/>
              <p:cNvSpPr>
                <a:spLocks noRot="1" noChangeAspect="1" noMove="1" noResize="1" noEditPoints="1" noAdjustHandles="1" noChangeArrowheads="1" noChangeShapeType="1" noTextEdit="1"/>
              </p:cNvSpPr>
              <p:nvPr/>
            </p:nvSpPr>
            <p:spPr>
              <a:xfrm>
                <a:off x="679450" y="2378075"/>
                <a:ext cx="8117278" cy="1384995"/>
              </a:xfrm>
              <a:prstGeom prst="rect">
                <a:avLst/>
              </a:prstGeom>
              <a:blipFill>
                <a:blip r:embed="rId2"/>
                <a:stretch>
                  <a:fillRect l="-1502" t="-4405" r="-1577" b="-11454"/>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9480550" y="2378075"/>
                <a:ext cx="8117278" cy="2677656"/>
              </a:xfrm>
              <a:prstGeom prst="rect">
                <a:avLst/>
              </a:prstGeom>
            </p:spPr>
            <p:txBody>
              <a:bodyPr wrap="square">
                <a:spAutoFit/>
              </a:bodyPr>
              <a:lstStyle/>
              <a:p>
                <a:pPr algn="just"/>
                <a:r>
                  <a:rPr lang="es-CO" sz="2800" dirty="0" smtClean="0">
                    <a:latin typeface="Georgia" panose="02040502050405020303" pitchFamily="18" charset="0"/>
                  </a:rPr>
                  <a:t>Trazar el conjunto de puntos (</a:t>
                </a:r>
                <a:r>
                  <a:rPr lang="es-CO" sz="2800" dirty="0" err="1" smtClean="0">
                    <a:latin typeface="Georgia" panose="02040502050405020303" pitchFamily="18" charset="0"/>
                  </a:rPr>
                  <a:t>x,y</a:t>
                </a:r>
                <a:r>
                  <a:rPr lang="es-CO" sz="2800" dirty="0" smtClean="0">
                    <a:latin typeface="Georgia" panose="02040502050405020303" pitchFamily="18" charset="0"/>
                  </a:rPr>
                  <a:t>) en el plano </a:t>
                </a:r>
                <a:r>
                  <a:rPr lang="es-CO" sz="2800" dirty="0" err="1" smtClean="0">
                    <a:latin typeface="Georgia" panose="02040502050405020303" pitchFamily="18" charset="0"/>
                  </a:rPr>
                  <a:t>xy</a:t>
                </a:r>
                <a:r>
                  <a:rPr lang="es-CO" sz="2800" dirty="0" smtClean="0">
                    <a:latin typeface="Georgia" panose="02040502050405020303" pitchFamily="18" charset="0"/>
                  </a:rPr>
                  <a:t> cuyas coordenadas satisfacen cada una de las siguientes condiciones </a:t>
                </a:r>
              </a:p>
              <a:p>
                <a:pPr marL="457200" indent="-457200" algn="just">
                  <a:buAutoNum type="alphaLcPeriod"/>
                </a:pPr>
                <a14:m>
                  <m:oMath xmlns:m="http://schemas.openxmlformats.org/officeDocument/2006/math">
                    <m:r>
                      <a:rPr lang="es-ES" sz="2800" b="0" i="1" smtClean="0">
                        <a:latin typeface="Cambria Math" panose="02040503050406030204" pitchFamily="18" charset="0"/>
                      </a:rPr>
                      <m:t>𝑥𝑦</m:t>
                    </m:r>
                    <m:r>
                      <a:rPr lang="es-ES" sz="2800" b="0" i="1" smtClean="0">
                        <a:latin typeface="Cambria Math" panose="02040503050406030204" pitchFamily="18" charset="0"/>
                      </a:rPr>
                      <m:t>&lt;0</m:t>
                    </m:r>
                  </m:oMath>
                </a14:m>
                <a:endParaRPr lang="es-ES" sz="2800" b="0" dirty="0" smtClean="0">
                  <a:latin typeface="Georgia" panose="02040502050405020303" pitchFamily="18" charset="0"/>
                </a:endParaRPr>
              </a:p>
              <a:p>
                <a:pPr marL="457200" indent="-457200" algn="just">
                  <a:buAutoNum type="alphaLcPeriod"/>
                </a:pPr>
                <a14:m>
                  <m:oMath xmlns:m="http://schemas.openxmlformats.org/officeDocument/2006/math">
                    <m:d>
                      <m:dPr>
                        <m:begChr m:val="|"/>
                        <m:endChr m:val="|"/>
                        <m:ctrlPr>
                          <a:rPr lang="es-419" sz="2800" i="1" smtClean="0">
                            <a:latin typeface="Cambria Math" panose="02040503050406030204" pitchFamily="18" charset="0"/>
                          </a:rPr>
                        </m:ctrlPr>
                      </m:dPr>
                      <m:e>
                        <m:r>
                          <a:rPr lang="es-ES" sz="2800">
                            <a:latin typeface="Cambria Math" panose="02040503050406030204" pitchFamily="18" charset="0"/>
                          </a:rPr>
                          <m:t>𝑦</m:t>
                        </m:r>
                      </m:e>
                    </m:d>
                    <m:r>
                      <a:rPr lang="es-ES" sz="2800" b="0" i="0" smtClean="0">
                        <a:latin typeface="Cambria Math" panose="02040503050406030204" pitchFamily="18" charset="0"/>
                      </a:rPr>
                      <m:t>≥2</m:t>
                    </m:r>
                  </m:oMath>
                </a14:m>
                <a:endParaRPr lang="es-ES" sz="2800" b="0" dirty="0" smtClean="0">
                  <a:latin typeface="Georgia" panose="02040502050405020303" pitchFamily="18" charset="0"/>
                </a:endParaRPr>
              </a:p>
              <a:p>
                <a:pPr marL="457200" indent="-457200" algn="just">
                  <a:buAutoNum type="alphaLcPeriod"/>
                </a:pPr>
                <a:endParaRPr lang="es-419" sz="2800" dirty="0">
                  <a:latin typeface="Georgia" panose="02040502050405020303" pitchFamily="18" charset="0"/>
                </a:endParaRPr>
              </a:p>
            </p:txBody>
          </p:sp>
        </mc:Choice>
        <mc:Fallback xmlns="">
          <p:sp>
            <p:nvSpPr>
              <p:cNvPr id="4" name="Rectángulo 3"/>
              <p:cNvSpPr>
                <a:spLocks noRot="1" noChangeAspect="1" noMove="1" noResize="1" noEditPoints="1" noAdjustHandles="1" noChangeArrowheads="1" noChangeShapeType="1" noTextEdit="1"/>
              </p:cNvSpPr>
              <p:nvPr/>
            </p:nvSpPr>
            <p:spPr>
              <a:xfrm>
                <a:off x="9480550" y="2378075"/>
                <a:ext cx="8117278" cy="2677656"/>
              </a:xfrm>
              <a:prstGeom prst="rect">
                <a:avLst/>
              </a:prstGeom>
              <a:blipFill>
                <a:blip r:embed="rId3"/>
                <a:stretch>
                  <a:fillRect l="-1502" t="-2278" r="-1577"/>
                </a:stretch>
              </a:blipFill>
            </p:spPr>
            <p:txBody>
              <a:bodyPr/>
              <a:lstStyle/>
              <a:p>
                <a:r>
                  <a:rPr lang="es-419">
                    <a:noFill/>
                  </a:rPr>
                  <a:t> </a:t>
                </a:r>
              </a:p>
            </p:txBody>
          </p:sp>
        </mc:Fallback>
      </mc:AlternateContent>
    </p:spTree>
    <p:extLst>
      <p:ext uri="{BB962C8B-B14F-4D97-AF65-F5344CB8AC3E}">
        <p14:creationId xmlns:p14="http://schemas.microsoft.com/office/powerpoint/2010/main" val="1909133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8C7C993-E3B8-4312-970A-52162783CD2B}"/>
              </a:ext>
            </a:extLst>
          </p:cNvPr>
          <p:cNvSpPr/>
          <p:nvPr/>
        </p:nvSpPr>
        <p:spPr>
          <a:xfrm>
            <a:off x="5480050" y="930275"/>
            <a:ext cx="6748051" cy="707886"/>
          </a:xfrm>
          <a:prstGeom prst="rect">
            <a:avLst/>
          </a:prstGeom>
        </p:spPr>
        <p:txBody>
          <a:bodyPr wrap="square">
            <a:spAutoFit/>
          </a:bodyPr>
          <a:lstStyle/>
          <a:p>
            <a:pPr algn="ctr"/>
            <a:r>
              <a:rPr lang="es-CO" sz="4000" b="1" dirty="0" smtClean="0">
                <a:ln w="22225">
                  <a:solidFill>
                    <a:schemeClr val="bg1"/>
                  </a:solidFill>
                  <a:prstDash val="solid"/>
                </a:ln>
                <a:solidFill>
                  <a:schemeClr val="bg1"/>
                </a:solidFill>
              </a:rPr>
              <a:t>CÍRCULOS Y GRÁFICAS </a:t>
            </a:r>
            <a:endParaRPr lang="es-CO" sz="4000" b="1" dirty="0">
              <a:ln w="22225">
                <a:solidFill>
                  <a:schemeClr val="bg1"/>
                </a:solidFill>
                <a:prstDash val="solid"/>
              </a:ln>
              <a:solidFill>
                <a:schemeClr val="bg1"/>
              </a:solidFill>
            </a:endParaRPr>
          </a:p>
        </p:txBody>
      </p:sp>
      <mc:AlternateContent xmlns:mc="http://schemas.openxmlformats.org/markup-compatibility/2006">
        <mc:Choice xmlns:a14="http://schemas.microsoft.com/office/drawing/2010/main" Requires="a14">
          <p:sp>
            <p:nvSpPr>
              <p:cNvPr id="2" name="Rectángulo 1"/>
              <p:cNvSpPr/>
              <p:nvPr/>
            </p:nvSpPr>
            <p:spPr>
              <a:xfrm>
                <a:off x="450850" y="1654036"/>
                <a:ext cx="19411809" cy="3970318"/>
              </a:xfrm>
              <a:prstGeom prst="rect">
                <a:avLst/>
              </a:prstGeom>
            </p:spPr>
            <p:txBody>
              <a:bodyPr wrap="square">
                <a:spAutoFit/>
              </a:bodyPr>
              <a:lstStyle/>
              <a:p>
                <a:pPr algn="just"/>
                <a:r>
                  <a:rPr lang="es-CO" sz="3600" dirty="0">
                    <a:latin typeface="Georgia" panose="02040502050405020303" pitchFamily="18" charset="0"/>
                  </a:rPr>
                  <a:t>Una ecuación con dos variables (como x y y) es una expresión matemática que afirma que dos cantidades que involucran estas variables son iguales. Este tipo de ecuaciones es común en ciencias, ingeniería y comercio porque ayudan a describir relaciones y comunicar información.</a:t>
                </a:r>
              </a:p>
              <a:p>
                <a:pPr algn="just"/>
                <a:r>
                  <a:rPr lang="es-CO" sz="3600" dirty="0">
                    <a:latin typeface="Georgia" panose="02040502050405020303" pitchFamily="18" charset="0"/>
                  </a:rPr>
                  <a:t>Por ejemplo, la ecuación </a:t>
                </a:r>
                <a14:m>
                  <m:oMath xmlns:m="http://schemas.openxmlformats.org/officeDocument/2006/math">
                    <m:r>
                      <a:rPr lang="es-CO" sz="3600" dirty="0">
                        <a:latin typeface="Cambria Math" panose="02040503050406030204" pitchFamily="18" charset="0"/>
                      </a:rPr>
                      <m:t>𝑠</m:t>
                    </m:r>
                    <m:r>
                      <a:rPr lang="es-CO" sz="3600" dirty="0">
                        <a:latin typeface="Cambria Math" panose="02040503050406030204" pitchFamily="18" charset="0"/>
                      </a:rPr>
                      <m:t>=16</m:t>
                    </m:r>
                    <m:sSup>
                      <m:sSupPr>
                        <m:ctrlPr>
                          <a:rPr lang="es-ES" sz="3600" i="1" dirty="0">
                            <a:latin typeface="Cambria Math" panose="02040503050406030204" pitchFamily="18" charset="0"/>
                          </a:rPr>
                        </m:ctrlPr>
                      </m:sSupPr>
                      <m:e>
                        <m:r>
                          <a:rPr lang="es-CO" sz="3600" dirty="0">
                            <a:latin typeface="Cambria Math" panose="02040503050406030204" pitchFamily="18" charset="0"/>
                          </a:rPr>
                          <m:t>𝑡</m:t>
                        </m:r>
                      </m:e>
                      <m:sup>
                        <m:r>
                          <a:rPr lang="es-CO" sz="3600" dirty="0">
                            <a:latin typeface="Cambria Math" panose="02040503050406030204" pitchFamily="18" charset="0"/>
                          </a:rPr>
                          <m:t>2</m:t>
                        </m:r>
                      </m:sup>
                    </m:sSup>
                  </m:oMath>
                </a14:m>
                <a:r>
                  <a:rPr lang="es-CO" sz="3600" dirty="0">
                    <a:latin typeface="Georgia" panose="02040502050405020303" pitchFamily="18" charset="0"/>
                  </a:rPr>
                  <a:t> describe cómo cambia la distancia en función del tiempo para un objeto en caída libre.</a:t>
                </a:r>
              </a:p>
              <a:p>
                <a:pPr algn="just"/>
                <a:r>
                  <a:rPr lang="es-CO" sz="3600" dirty="0">
                    <a:latin typeface="Georgia" panose="02040502050405020303" pitchFamily="18" charset="0"/>
                  </a:rPr>
                  <a:t>Existen diferentes tipos de ecuaciones con dos variables, como:</a:t>
                </a:r>
              </a:p>
              <a:p>
                <a:pPr algn="just"/>
                <a:endParaRPr lang="es-CO" sz="3600" dirty="0">
                  <a:latin typeface="Georgia" panose="02040502050405020303" pitchFamily="18" charset="0"/>
                </a:endParaRPr>
              </a:p>
            </p:txBody>
          </p:sp>
        </mc:Choice>
        <mc:Fallback>
          <p:sp>
            <p:nvSpPr>
              <p:cNvPr id="2" name="Rectángulo 1"/>
              <p:cNvSpPr>
                <a:spLocks noRot="1" noChangeAspect="1" noMove="1" noResize="1" noEditPoints="1" noAdjustHandles="1" noChangeArrowheads="1" noChangeShapeType="1" noTextEdit="1"/>
              </p:cNvSpPr>
              <p:nvPr/>
            </p:nvSpPr>
            <p:spPr>
              <a:xfrm>
                <a:off x="450850" y="1654036"/>
                <a:ext cx="19411809" cy="3970318"/>
              </a:xfrm>
              <a:prstGeom prst="rect">
                <a:avLst/>
              </a:prstGeom>
              <a:blipFill>
                <a:blip r:embed="rId2"/>
                <a:stretch>
                  <a:fillRect l="-974" t="-2301" r="-942"/>
                </a:stretch>
              </a:blipFill>
            </p:spPr>
            <p:txBody>
              <a:bodyPr/>
              <a:lstStyle/>
              <a:p>
                <a:r>
                  <a:rPr lang="es-419">
                    <a:noFill/>
                  </a:rPr>
                  <a:t> </a:t>
                </a:r>
              </a:p>
            </p:txBody>
          </p:sp>
        </mc:Fallback>
      </mc:AlternateContent>
      <p:pic>
        <p:nvPicPr>
          <p:cNvPr id="3" name="Imagen 2"/>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11069972" y="5861051"/>
            <a:ext cx="8792687" cy="3706335"/>
          </a:xfrm>
          <a:prstGeom prst="rect">
            <a:avLst/>
          </a:prstGeom>
        </p:spPr>
      </p:pic>
      <mc:AlternateContent xmlns:mc="http://schemas.openxmlformats.org/markup-compatibility/2006">
        <mc:Choice xmlns:a14="http://schemas.microsoft.com/office/drawing/2010/main" Requires="a14">
          <p:sp>
            <p:nvSpPr>
              <p:cNvPr id="4" name="Rectángulo 3"/>
              <p:cNvSpPr/>
              <p:nvPr/>
            </p:nvSpPr>
            <p:spPr>
              <a:xfrm>
                <a:off x="1136650" y="5563264"/>
                <a:ext cx="10074964" cy="4524315"/>
              </a:xfrm>
              <a:prstGeom prst="rect">
                <a:avLst/>
              </a:prstGeom>
            </p:spPr>
            <p:txBody>
              <a:bodyPr wrap="square">
                <a:spAutoFit/>
              </a:bodyPr>
              <a:lstStyle/>
              <a:p>
                <a:pPr algn="l"/>
                <a:r>
                  <a:rPr lang="es-CO" sz="3600" dirty="0" smtClean="0">
                    <a:latin typeface="Georgia" panose="02040502050405020303" pitchFamily="18" charset="0"/>
                  </a:rPr>
                  <a:t>Solución de una ecuación con dos variables</a:t>
                </a:r>
              </a:p>
              <a:p>
                <a:pPr algn="l"/>
                <a:r>
                  <a:rPr lang="es-CO" sz="3600" dirty="0">
                    <a:latin typeface="Georgia" panose="02040502050405020303" pitchFamily="18" charset="0"/>
                  </a:rPr>
                  <a:t>Una solución es un par ordenado (</a:t>
                </a:r>
                <a:r>
                  <a:rPr lang="es-CO" sz="3600" dirty="0" err="1">
                    <a:latin typeface="Georgia" panose="02040502050405020303" pitchFamily="18" charset="0"/>
                  </a:rPr>
                  <a:t>a,b</a:t>
                </a:r>
                <a:r>
                  <a:rPr lang="es-CO" sz="3600" dirty="0">
                    <a:latin typeface="Georgia" panose="02040502050405020303" pitchFamily="18" charset="0"/>
                  </a:rPr>
                  <a:t>) que hace verdadera la ecuación </a:t>
                </a:r>
                <a:r>
                  <a:rPr lang="es-CO" sz="3600" dirty="0" smtClean="0">
                    <a:latin typeface="Georgia" panose="02040502050405020303" pitchFamily="18" charset="0"/>
                  </a:rPr>
                  <a:t>al sustituir </a:t>
                </a:r>
                <a14:m>
                  <m:oMath xmlns:m="http://schemas.openxmlformats.org/officeDocument/2006/math">
                    <m:r>
                      <a:rPr lang="es-CO" sz="3600" i="1" dirty="0" smtClean="0">
                        <a:latin typeface="Cambria Math" panose="02040503050406030204" pitchFamily="18" charset="0"/>
                      </a:rPr>
                      <m:t>𝑥</m:t>
                    </m:r>
                    <m:r>
                      <a:rPr lang="es-CO" sz="3600" i="1" dirty="0" smtClean="0">
                        <a:latin typeface="Cambria Math" panose="02040503050406030204" pitchFamily="18" charset="0"/>
                      </a:rPr>
                      <m:t>=</m:t>
                    </m:r>
                    <m:r>
                      <a:rPr lang="es-CO" sz="3600" i="1" dirty="0" smtClean="0">
                        <a:latin typeface="Cambria Math" panose="02040503050406030204" pitchFamily="18" charset="0"/>
                      </a:rPr>
                      <m:t>𝑎</m:t>
                    </m:r>
                    <m:r>
                      <a:rPr lang="es-CO" sz="3600" i="1" dirty="0" smtClean="0">
                        <a:latin typeface="Cambria Math" panose="02040503050406030204" pitchFamily="18" charset="0"/>
                      </a:rPr>
                      <m:t> </m:t>
                    </m:r>
                    <m:r>
                      <a:rPr lang="es-CO" sz="3600" i="1" dirty="0" smtClean="0">
                        <a:latin typeface="Cambria Math" panose="02040503050406030204" pitchFamily="18" charset="0"/>
                      </a:rPr>
                      <m:t>𝑦</m:t>
                    </m:r>
                    <m:r>
                      <a:rPr lang="es-CO" sz="3600" i="1" dirty="0" smtClean="0">
                        <a:latin typeface="Cambria Math" panose="02040503050406030204" pitchFamily="18" charset="0"/>
                      </a:rPr>
                      <m:t> </m:t>
                    </m:r>
                    <m:r>
                      <a:rPr lang="es-CO" sz="3600" i="1" dirty="0" smtClean="0">
                        <a:latin typeface="Cambria Math" panose="02040503050406030204" pitchFamily="18" charset="0"/>
                      </a:rPr>
                      <m:t>𝑦</m:t>
                    </m:r>
                    <m:r>
                      <a:rPr lang="es-CO" sz="3600" i="1" dirty="0" smtClean="0">
                        <a:latin typeface="Cambria Math" panose="02040503050406030204" pitchFamily="18" charset="0"/>
                      </a:rPr>
                      <m:t>=</m:t>
                    </m:r>
                    <m:r>
                      <a:rPr lang="es-CO" sz="3600" i="1" dirty="0" smtClean="0">
                        <a:latin typeface="Cambria Math" panose="02040503050406030204" pitchFamily="18" charset="0"/>
                      </a:rPr>
                      <m:t>𝑏</m:t>
                    </m:r>
                  </m:oMath>
                </a14:m>
                <a:r>
                  <a:rPr lang="es-CO" sz="3600" dirty="0">
                    <a:latin typeface="Georgia" panose="02040502050405020303" pitchFamily="18" charset="0"/>
                  </a:rPr>
                  <a:t>.</a:t>
                </a:r>
                <a:br>
                  <a:rPr lang="es-CO" sz="3600" dirty="0">
                    <a:latin typeface="Georgia" panose="02040502050405020303" pitchFamily="18" charset="0"/>
                  </a:rPr>
                </a:br>
                <a:r>
                  <a:rPr lang="es-CO" sz="3600" dirty="0">
                    <a:latin typeface="Georgia" panose="02040502050405020303" pitchFamily="18" charset="0"/>
                  </a:rPr>
                  <a:t>Por ejemplo, </a:t>
                </a:r>
                <a14:m>
                  <m:oMath xmlns:m="http://schemas.openxmlformats.org/officeDocument/2006/math">
                    <m:r>
                      <a:rPr lang="es-CO" sz="3600" i="1" dirty="0" smtClean="0">
                        <a:latin typeface="Cambria Math" panose="02040503050406030204" pitchFamily="18" charset="0"/>
                      </a:rPr>
                      <m:t>(−2,4)</m:t>
                    </m:r>
                  </m:oMath>
                </a14:m>
                <a:r>
                  <a:rPr lang="es-CO" sz="3600" dirty="0">
                    <a:latin typeface="Georgia" panose="02040502050405020303" pitchFamily="18" charset="0"/>
                  </a:rPr>
                  <a:t> es solución de </a:t>
                </a:r>
                <a14:m>
                  <m:oMath xmlns:m="http://schemas.openxmlformats.org/officeDocument/2006/math">
                    <m:r>
                      <a:rPr lang="es-ES" sz="3600">
                        <a:latin typeface="Cambria Math" panose="02040503050406030204" pitchFamily="18" charset="0"/>
                      </a:rPr>
                      <m:t>𝑦</m:t>
                    </m:r>
                    <m:r>
                      <a:rPr lang="es-ES" sz="3600">
                        <a:latin typeface="Cambria Math" panose="02040503050406030204" pitchFamily="18" charset="0"/>
                      </a:rPr>
                      <m:t>=</m:t>
                    </m:r>
                    <m:sSup>
                      <m:sSupPr>
                        <m:ctrlPr>
                          <a:rPr lang="es-ES" sz="3600" i="1">
                            <a:latin typeface="Cambria Math" panose="02040503050406030204" pitchFamily="18" charset="0"/>
                          </a:rPr>
                        </m:ctrlPr>
                      </m:sSupPr>
                      <m:e>
                        <m:r>
                          <a:rPr lang="es-ES" sz="3600">
                            <a:latin typeface="Cambria Math" panose="02040503050406030204" pitchFamily="18" charset="0"/>
                          </a:rPr>
                          <m:t>𝑥</m:t>
                        </m:r>
                      </m:e>
                      <m:sup>
                        <m:r>
                          <a:rPr lang="es-ES" sz="3600">
                            <a:latin typeface="Cambria Math" panose="02040503050406030204" pitchFamily="18" charset="0"/>
                          </a:rPr>
                          <m:t>2</m:t>
                        </m:r>
                      </m:sup>
                    </m:sSup>
                  </m:oMath>
                </a14:m>
                <a:r>
                  <a:rPr lang="es-CO" sz="3600" dirty="0">
                    <a:latin typeface="Georgia" panose="02040502050405020303" pitchFamily="18" charset="0"/>
                  </a:rPr>
                  <a:t>, porque al reemplazar:</a:t>
                </a:r>
                <a14:m>
                  <m:oMath xmlns:m="http://schemas.openxmlformats.org/officeDocument/2006/math">
                    <m:r>
                      <a:rPr lang="es-ES" sz="3600" b="0" i="0" dirty="0" smtClean="0">
                        <a:latin typeface="Cambria Math" panose="02040503050406030204" pitchFamily="18" charset="0"/>
                      </a:rPr>
                      <m:t>  </m:t>
                    </m:r>
                    <m:r>
                      <a:rPr lang="es-CO" sz="3600" dirty="0">
                        <a:latin typeface="Cambria Math" panose="02040503050406030204" pitchFamily="18" charset="0"/>
                      </a:rPr>
                      <m:t>4=</m:t>
                    </m:r>
                    <m:sSup>
                      <m:sSupPr>
                        <m:ctrlPr>
                          <a:rPr lang="es-CO" sz="3600" i="1" dirty="0">
                            <a:latin typeface="Cambria Math" panose="02040503050406030204" pitchFamily="18" charset="0"/>
                          </a:rPr>
                        </m:ctrlPr>
                      </m:sSupPr>
                      <m:e>
                        <m:d>
                          <m:dPr>
                            <m:ctrlPr>
                              <a:rPr lang="es-CO" sz="3600" i="1" dirty="0">
                                <a:latin typeface="Cambria Math" panose="02040503050406030204" pitchFamily="18" charset="0"/>
                              </a:rPr>
                            </m:ctrlPr>
                          </m:dPr>
                          <m:e>
                            <m:r>
                              <a:rPr lang="es-CO" sz="3600" dirty="0">
                                <a:latin typeface="Cambria Math" panose="02040503050406030204" pitchFamily="18" charset="0"/>
                              </a:rPr>
                              <m:t>−2</m:t>
                            </m:r>
                          </m:e>
                        </m:d>
                      </m:e>
                      <m:sup>
                        <m:r>
                          <a:rPr lang="es-CO" sz="3600" dirty="0">
                            <a:latin typeface="Cambria Math" panose="02040503050406030204" pitchFamily="18" charset="0"/>
                          </a:rPr>
                          <m:t>2</m:t>
                        </m:r>
                      </m:sup>
                    </m:sSup>
                  </m:oMath>
                </a14:m>
                <a:r>
                  <a:rPr lang="es-CO" sz="3600" dirty="0">
                    <a:latin typeface="Georgia" panose="02040502050405020303" pitchFamily="18" charset="0"/>
                  </a:rPr>
                  <a:t>, lo cual es correcto.</a:t>
                </a:r>
              </a:p>
              <a:p>
                <a:pPr algn="l"/>
                <a:r>
                  <a:rPr lang="es-CO" sz="3600" dirty="0">
                    <a:latin typeface="Georgia" panose="02040502050405020303" pitchFamily="18" charset="0"/>
                  </a:rPr>
                  <a:t>El conjunto de todas las soluciones se llama conjunto solución</a:t>
                </a:r>
                <a:r>
                  <a:rPr lang="es-CO" sz="2800" dirty="0" smtClean="0"/>
                  <a:t>.</a:t>
                </a:r>
                <a:endParaRPr lang="es-CO" sz="2800" dirty="0"/>
              </a:p>
            </p:txBody>
          </p:sp>
        </mc:Choice>
        <mc:Fallback>
          <p:sp>
            <p:nvSpPr>
              <p:cNvPr id="4" name="Rectángulo 3"/>
              <p:cNvSpPr>
                <a:spLocks noRot="1" noChangeAspect="1" noMove="1" noResize="1" noEditPoints="1" noAdjustHandles="1" noChangeArrowheads="1" noChangeShapeType="1" noTextEdit="1"/>
              </p:cNvSpPr>
              <p:nvPr/>
            </p:nvSpPr>
            <p:spPr>
              <a:xfrm>
                <a:off x="1136650" y="5563264"/>
                <a:ext cx="10074964" cy="4524315"/>
              </a:xfrm>
              <a:prstGeom prst="rect">
                <a:avLst/>
              </a:prstGeom>
              <a:blipFill>
                <a:blip r:embed="rId5"/>
                <a:stretch>
                  <a:fillRect l="-1815" t="-2156" b="-4178"/>
                </a:stretch>
              </a:blipFill>
            </p:spPr>
            <p:txBody>
              <a:bodyPr/>
              <a:lstStyle/>
              <a:p>
                <a:r>
                  <a:rPr lang="es-419">
                    <a:noFill/>
                  </a:rPr>
                  <a:t> </a:t>
                </a:r>
              </a:p>
            </p:txBody>
          </p:sp>
        </mc:Fallback>
      </mc:AlternateContent>
    </p:spTree>
    <p:extLst>
      <p:ext uri="{BB962C8B-B14F-4D97-AF65-F5344CB8AC3E}">
        <p14:creationId xmlns:p14="http://schemas.microsoft.com/office/powerpoint/2010/main" val="3297678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duotone>
              <a:schemeClr val="accent2">
                <a:shade val="45000"/>
                <a:satMod val="135000"/>
              </a:schemeClr>
              <a:prstClr val="white"/>
            </a:duotone>
          </a:blip>
          <a:stretch>
            <a:fillRect/>
          </a:stretch>
        </p:blipFill>
        <p:spPr>
          <a:xfrm>
            <a:off x="322080" y="1108933"/>
            <a:ext cx="10415770" cy="2350640"/>
          </a:xfrm>
          <a:prstGeom prst="rect">
            <a:avLst/>
          </a:prstGeom>
        </p:spPr>
      </p:pic>
      <p:pic>
        <p:nvPicPr>
          <p:cNvPr id="3" name="Imagen 2"/>
          <p:cNvPicPr>
            <a:picLocks noChangeAspect="1"/>
          </p:cNvPicPr>
          <p:nvPr/>
        </p:nvPicPr>
        <p:blipFill>
          <a:blip r:embed="rId3">
            <a:duotone>
              <a:schemeClr val="accent2">
                <a:shade val="45000"/>
                <a:satMod val="135000"/>
              </a:schemeClr>
              <a:prstClr val="white"/>
            </a:duotone>
          </a:blip>
          <a:stretch>
            <a:fillRect/>
          </a:stretch>
        </p:blipFill>
        <p:spPr>
          <a:xfrm>
            <a:off x="0" y="4205790"/>
            <a:ext cx="10744200" cy="2157245"/>
          </a:xfrm>
          <a:prstGeom prst="rect">
            <a:avLst/>
          </a:prstGeom>
        </p:spPr>
      </p:pic>
      <p:pic>
        <p:nvPicPr>
          <p:cNvPr id="4" name="Imagen 3"/>
          <p:cNvPicPr>
            <a:picLocks noChangeAspect="1"/>
          </p:cNvPicPr>
          <p:nvPr/>
        </p:nvPicPr>
        <p:blipFill>
          <a:blip r:embed="rId4"/>
          <a:stretch>
            <a:fillRect/>
          </a:stretch>
        </p:blipFill>
        <p:spPr>
          <a:xfrm>
            <a:off x="322080" y="6194677"/>
            <a:ext cx="4467754" cy="4583051"/>
          </a:xfrm>
          <a:prstGeom prst="rect">
            <a:avLst/>
          </a:prstGeom>
        </p:spPr>
      </p:pic>
      <p:pic>
        <p:nvPicPr>
          <p:cNvPr id="5" name="Imagen 4"/>
          <p:cNvPicPr>
            <a:picLocks noChangeAspect="1"/>
          </p:cNvPicPr>
          <p:nvPr/>
        </p:nvPicPr>
        <p:blipFill>
          <a:blip r:embed="rId5"/>
          <a:stretch>
            <a:fillRect/>
          </a:stretch>
        </p:blipFill>
        <p:spPr>
          <a:xfrm>
            <a:off x="5175865" y="7820633"/>
            <a:ext cx="4706737" cy="835325"/>
          </a:xfrm>
          <a:prstGeom prst="rect">
            <a:avLst/>
          </a:prstGeom>
        </p:spPr>
      </p:pic>
      <p:pic>
        <p:nvPicPr>
          <p:cNvPr id="7" name="Imagen 6"/>
          <p:cNvPicPr>
            <a:picLocks noChangeAspect="1"/>
          </p:cNvPicPr>
          <p:nvPr/>
        </p:nvPicPr>
        <p:blipFill>
          <a:blip r:embed="rId4"/>
          <a:stretch>
            <a:fillRect/>
          </a:stretch>
        </p:blipFill>
        <p:spPr>
          <a:xfrm>
            <a:off x="322080" y="6168444"/>
            <a:ext cx="4467754" cy="4583051"/>
          </a:xfrm>
          <a:prstGeom prst="rect">
            <a:avLst/>
          </a:prstGeom>
        </p:spPr>
      </p:pic>
      <p:pic>
        <p:nvPicPr>
          <p:cNvPr id="8" name="Imagen 7"/>
          <p:cNvPicPr>
            <a:picLocks noChangeAspect="1"/>
          </p:cNvPicPr>
          <p:nvPr/>
        </p:nvPicPr>
        <p:blipFill>
          <a:blip r:embed="rId5"/>
          <a:stretch>
            <a:fillRect/>
          </a:stretch>
        </p:blipFill>
        <p:spPr>
          <a:xfrm>
            <a:off x="5175865" y="7794400"/>
            <a:ext cx="4706737" cy="835325"/>
          </a:xfrm>
          <a:prstGeom prst="rect">
            <a:avLst/>
          </a:prstGeom>
        </p:spPr>
      </p:pic>
      <p:sp>
        <p:nvSpPr>
          <p:cNvPr id="9" name="Rectángulo 8"/>
          <p:cNvSpPr/>
          <p:nvPr/>
        </p:nvSpPr>
        <p:spPr>
          <a:xfrm>
            <a:off x="10737850" y="3851512"/>
            <a:ext cx="8117278" cy="954107"/>
          </a:xfrm>
          <a:prstGeom prst="rect">
            <a:avLst/>
          </a:prstGeom>
        </p:spPr>
        <p:txBody>
          <a:bodyPr wrap="square">
            <a:spAutoFit/>
          </a:bodyPr>
          <a:lstStyle/>
          <a:p>
            <a:pPr algn="just"/>
            <a:r>
              <a:rPr lang="es-ES" sz="2800" dirty="0" smtClean="0">
                <a:latin typeface="Georgia" panose="02040502050405020303" pitchFamily="18" charset="0"/>
              </a:rPr>
              <a:t>Deducir la ecuación del círculo cuyo centro C(4,3), y que pasa por P(1,4) .</a:t>
            </a:r>
            <a:endParaRPr lang="es-419" sz="2800" dirty="0">
              <a:latin typeface="Georgia" panose="02040502050405020303" pitchFamily="18" charset="0"/>
            </a:endParaRPr>
          </a:p>
        </p:txBody>
      </p:sp>
      <p:pic>
        <p:nvPicPr>
          <p:cNvPr id="10" name="Imagen 9"/>
          <p:cNvPicPr>
            <a:picLocks noChangeAspect="1"/>
          </p:cNvPicPr>
          <p:nvPr/>
        </p:nvPicPr>
        <p:blipFill rotWithShape="1">
          <a:blip r:embed="rId6"/>
          <a:srcRect l="8696" t="12362" b="4993"/>
          <a:stretch/>
        </p:blipFill>
        <p:spPr>
          <a:xfrm>
            <a:off x="11576050" y="4805619"/>
            <a:ext cx="5600700" cy="3810001"/>
          </a:xfrm>
          <a:prstGeom prst="rect">
            <a:avLst/>
          </a:prstGeom>
        </p:spPr>
      </p:pic>
    </p:spTree>
    <p:extLst>
      <p:ext uri="{BB962C8B-B14F-4D97-AF65-F5344CB8AC3E}">
        <p14:creationId xmlns:p14="http://schemas.microsoft.com/office/powerpoint/2010/main" val="789154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58C7C993-E3B8-4312-970A-52162783CD2B}"/>
              </a:ext>
            </a:extLst>
          </p:cNvPr>
          <p:cNvSpPr/>
          <p:nvPr/>
        </p:nvSpPr>
        <p:spPr>
          <a:xfrm>
            <a:off x="6013450" y="558373"/>
            <a:ext cx="6974278" cy="707886"/>
          </a:xfrm>
          <a:prstGeom prst="rect">
            <a:avLst/>
          </a:prstGeom>
        </p:spPr>
        <p:txBody>
          <a:bodyPr wrap="square">
            <a:spAutoFit/>
          </a:bodyPr>
          <a:lstStyle/>
          <a:p>
            <a:pPr algn="ctr"/>
            <a:r>
              <a:rPr lang="es-CO" sz="4000" b="1" dirty="0" smtClean="0">
                <a:ln w="22225">
                  <a:solidFill>
                    <a:schemeClr val="bg1"/>
                  </a:solidFill>
                  <a:prstDash val="solid"/>
                </a:ln>
                <a:solidFill>
                  <a:schemeClr val="bg1"/>
                </a:solidFill>
              </a:rPr>
              <a:t>COMPLETAR CUADRADO</a:t>
            </a:r>
            <a:endParaRPr lang="es-CO" sz="4000" b="1" dirty="0">
              <a:ln w="22225">
                <a:solidFill>
                  <a:schemeClr val="bg1"/>
                </a:solidFill>
                <a:prstDash val="solid"/>
              </a:ln>
              <a:solidFill>
                <a:schemeClr val="bg1"/>
              </a:solidFill>
            </a:endParaRPr>
          </a:p>
        </p:txBody>
      </p:sp>
      <mc:AlternateContent xmlns:mc="http://schemas.openxmlformats.org/markup-compatibility/2006" xmlns:a14="http://schemas.microsoft.com/office/drawing/2010/main">
        <mc:Choice Requires="a14">
          <p:sp>
            <p:nvSpPr>
              <p:cNvPr id="12" name="Rectángulo 11"/>
              <p:cNvSpPr/>
              <p:nvPr/>
            </p:nvSpPr>
            <p:spPr>
              <a:xfrm>
                <a:off x="552711" y="6721475"/>
                <a:ext cx="9286647" cy="3785652"/>
              </a:xfrm>
              <a:prstGeom prst="rect">
                <a:avLst/>
              </a:prstGeom>
            </p:spPr>
            <p:txBody>
              <a:bodyPr wrap="square">
                <a:spAutoFit/>
              </a:bodyPr>
              <a:lstStyle/>
              <a:p>
                <a:pPr algn="just"/>
                <a:r>
                  <a:rPr lang="es-CO" sz="2400" b="1" dirty="0" smtClean="0"/>
                  <a:t>Completar el cuadrado</a:t>
                </a:r>
                <a:r>
                  <a:rPr lang="es-CO" sz="2400" dirty="0" smtClean="0"/>
                  <a:t> es un procedimiento algebraico que se utiliza para transformar la </a:t>
                </a:r>
                <a:r>
                  <a:rPr lang="es-CO" sz="2400" b="1" dirty="0" smtClean="0"/>
                  <a:t>ecuación general de una circunferencia</a:t>
                </a:r>
                <a:r>
                  <a:rPr lang="es-CO" sz="2400" dirty="0" smtClean="0"/>
                  <a:t> en su </a:t>
                </a:r>
                <a:r>
                  <a:rPr lang="es-CO" sz="2400" b="1" dirty="0" smtClean="0"/>
                  <a:t>forma estándar</a:t>
                </a:r>
                <a:r>
                  <a:rPr lang="es-CO" sz="2400" dirty="0" smtClean="0"/>
                  <a:t>. Esto permite identificar fácilmente el </a:t>
                </a:r>
                <a:r>
                  <a:rPr lang="es-CO" sz="2400" b="1" dirty="0" smtClean="0"/>
                  <a:t>centro</a:t>
                </a:r>
                <a:r>
                  <a:rPr lang="es-CO" sz="2400" dirty="0" smtClean="0"/>
                  <a:t> y el </a:t>
                </a:r>
                <a:r>
                  <a:rPr lang="es-CO" sz="2400" b="1" dirty="0" smtClean="0"/>
                  <a:t>radio</a:t>
                </a:r>
                <a:r>
                  <a:rPr lang="es-CO" sz="2400" dirty="0" smtClean="0"/>
                  <a:t> de la circunferencia.</a:t>
                </a:r>
              </a:p>
              <a:p>
                <a:pPr algn="just"/>
                <a:r>
                  <a:rPr lang="es-CO" sz="2400" dirty="0" smtClean="0"/>
                  <a:t>Se aplica cuando la ecuación está en la forma:</a:t>
                </a:r>
              </a:p>
              <a:p>
                <a:pPr algn="just"/>
                <a14:m>
                  <m:oMathPara xmlns:m="http://schemas.openxmlformats.org/officeDocument/2006/math">
                    <m:oMathParaPr>
                      <m:jc m:val="centerGroup"/>
                    </m:oMathParaPr>
                    <m:oMath xmlns:m="http://schemas.openxmlformats.org/officeDocument/2006/math">
                      <m:sSup>
                        <m:sSupPr>
                          <m:ctrlPr>
                            <a:rPr lang="es-ES" sz="2400" b="0" i="1" dirty="0" smtClean="0">
                              <a:latin typeface="Cambria Math" panose="02040503050406030204" pitchFamily="18" charset="0"/>
                            </a:rPr>
                          </m:ctrlPr>
                        </m:sSupPr>
                        <m:e>
                          <m:r>
                            <a:rPr lang="es-CO" sz="2400" i="1" dirty="0" smtClean="0">
                              <a:latin typeface="Cambria Math" panose="02040503050406030204" pitchFamily="18" charset="0"/>
                            </a:rPr>
                            <m:t>𝑥</m:t>
                          </m:r>
                        </m:e>
                        <m:sup>
                          <m:r>
                            <a:rPr lang="es-CO" sz="2400" i="1" dirty="0" smtClean="0">
                              <a:latin typeface="Cambria Math" panose="02040503050406030204" pitchFamily="18" charset="0"/>
                            </a:rPr>
                            <m:t>2</m:t>
                          </m:r>
                        </m:sup>
                      </m:sSup>
                      <m:r>
                        <a:rPr lang="es-CO" sz="2400" i="1" dirty="0" smtClean="0">
                          <a:latin typeface="Cambria Math" panose="02040503050406030204" pitchFamily="18" charset="0"/>
                        </a:rPr>
                        <m:t>+</m:t>
                      </m:r>
                      <m:sSup>
                        <m:sSupPr>
                          <m:ctrlPr>
                            <a:rPr lang="es-ES" sz="2400" b="0" i="1" dirty="0" smtClean="0">
                              <a:latin typeface="Cambria Math" panose="02040503050406030204" pitchFamily="18" charset="0"/>
                            </a:rPr>
                          </m:ctrlPr>
                        </m:sSupPr>
                        <m:e>
                          <m:r>
                            <a:rPr lang="es-CO" sz="2400" i="1" dirty="0" smtClean="0">
                              <a:latin typeface="Cambria Math" panose="02040503050406030204" pitchFamily="18" charset="0"/>
                            </a:rPr>
                            <m:t>𝑦</m:t>
                          </m:r>
                        </m:e>
                        <m:sup>
                          <m:r>
                            <a:rPr lang="es-CO" sz="2400" i="1" dirty="0" smtClean="0">
                              <a:latin typeface="Cambria Math" panose="02040503050406030204" pitchFamily="18" charset="0"/>
                            </a:rPr>
                            <m:t>2</m:t>
                          </m:r>
                        </m:sup>
                      </m:sSup>
                      <m:r>
                        <a:rPr lang="es-CO" sz="2400" i="1" dirty="0" smtClean="0">
                          <a:latin typeface="Cambria Math" panose="02040503050406030204" pitchFamily="18" charset="0"/>
                        </a:rPr>
                        <m:t>+</m:t>
                      </m:r>
                      <m:r>
                        <a:rPr lang="es-ES" sz="2400" b="0" i="1" dirty="0" smtClean="0">
                          <a:latin typeface="Cambria Math" panose="02040503050406030204" pitchFamily="18" charset="0"/>
                        </a:rPr>
                        <m:t>𝑎</m:t>
                      </m:r>
                      <m:r>
                        <a:rPr lang="es-CO" sz="2400" i="1" dirty="0" smtClean="0">
                          <a:latin typeface="Cambria Math" panose="02040503050406030204" pitchFamily="18" charset="0"/>
                        </a:rPr>
                        <m:t>𝑥</m:t>
                      </m:r>
                      <m:r>
                        <a:rPr lang="es-CO" sz="2400" i="1" dirty="0" smtClean="0">
                          <a:latin typeface="Cambria Math" panose="02040503050406030204" pitchFamily="18" charset="0"/>
                        </a:rPr>
                        <m:t>+</m:t>
                      </m:r>
                      <m:r>
                        <a:rPr lang="es-ES" sz="2400" b="0" i="1" dirty="0" smtClean="0">
                          <a:latin typeface="Cambria Math" panose="02040503050406030204" pitchFamily="18" charset="0"/>
                        </a:rPr>
                        <m:t>𝑏</m:t>
                      </m:r>
                      <m:r>
                        <a:rPr lang="es-CO" sz="2400" i="1" dirty="0" smtClean="0">
                          <a:latin typeface="Cambria Math" panose="02040503050406030204" pitchFamily="18" charset="0"/>
                        </a:rPr>
                        <m:t>𝑦</m:t>
                      </m:r>
                      <m:r>
                        <a:rPr lang="es-CO" sz="2400" i="1" dirty="0" smtClean="0">
                          <a:latin typeface="Cambria Math" panose="02040503050406030204" pitchFamily="18" charset="0"/>
                        </a:rPr>
                        <m:t>+</m:t>
                      </m:r>
                      <m:r>
                        <a:rPr lang="es-ES" sz="2400" b="0" i="1" dirty="0" smtClean="0">
                          <a:latin typeface="Cambria Math" panose="02040503050406030204" pitchFamily="18" charset="0"/>
                        </a:rPr>
                        <m:t>𝑐</m:t>
                      </m:r>
                      <m:r>
                        <a:rPr lang="es-CO" sz="2400" i="1" dirty="0" smtClean="0">
                          <a:latin typeface="Cambria Math" panose="02040503050406030204" pitchFamily="18" charset="0"/>
                        </a:rPr>
                        <m:t>=0</m:t>
                      </m:r>
                    </m:oMath>
                  </m:oMathPara>
                </a14:m>
                <a:endParaRPr lang="es-CO" sz="2400" dirty="0" smtClean="0"/>
              </a:p>
              <a:p>
                <a:pPr algn="just"/>
                <a:r>
                  <a:rPr lang="es-CO" sz="2400" dirty="0" smtClean="0"/>
                  <a:t> y, mediante el proceso de completar el cuadrado en los términos de x y de y, se reescribe en la forma:</a:t>
                </a:r>
              </a:p>
              <a:p>
                <a:pPr algn="just"/>
                <a14:m>
                  <m:oMathPara xmlns:m="http://schemas.openxmlformats.org/officeDocument/2006/math">
                    <m:oMathParaPr>
                      <m:jc m:val="centerGroup"/>
                    </m:oMathParaPr>
                    <m:oMath xmlns:m="http://schemas.openxmlformats.org/officeDocument/2006/math">
                      <m:sSup>
                        <m:sSupPr>
                          <m:ctrlPr>
                            <a:rPr lang="es-ES" sz="2400" b="0" i="1" dirty="0" smtClean="0">
                              <a:latin typeface="Cambria Math" panose="02040503050406030204" pitchFamily="18" charset="0"/>
                            </a:rPr>
                          </m:ctrlPr>
                        </m:sSupPr>
                        <m:e>
                          <m:d>
                            <m:dPr>
                              <m:ctrlPr>
                                <a:rPr lang="es-CO" sz="2400" i="1" dirty="0" smtClean="0">
                                  <a:latin typeface="Cambria Math" panose="02040503050406030204" pitchFamily="18" charset="0"/>
                                </a:rPr>
                              </m:ctrlPr>
                            </m:dPr>
                            <m:e>
                              <m:r>
                                <a:rPr lang="es-CO" sz="2400" i="1" dirty="0" smtClean="0">
                                  <a:latin typeface="Cambria Math" panose="02040503050406030204" pitchFamily="18" charset="0"/>
                                </a:rPr>
                                <m:t>𝑥</m:t>
                              </m:r>
                              <m:r>
                                <a:rPr lang="es-CO" sz="2400" i="1" dirty="0" smtClean="0">
                                  <a:latin typeface="Cambria Math" panose="02040503050406030204" pitchFamily="18" charset="0"/>
                                </a:rPr>
                                <m:t>−</m:t>
                              </m:r>
                              <m:r>
                                <a:rPr lang="es-CO" sz="2400" i="1" dirty="0" smtClean="0">
                                  <a:latin typeface="Cambria Math" panose="02040503050406030204" pitchFamily="18" charset="0"/>
                                </a:rPr>
                                <m:t>h</m:t>
                              </m:r>
                            </m:e>
                          </m:d>
                        </m:e>
                        <m:sup>
                          <m:r>
                            <a:rPr lang="es-CO" sz="2400" i="1" dirty="0" smtClean="0">
                              <a:latin typeface="Cambria Math" panose="02040503050406030204" pitchFamily="18" charset="0"/>
                            </a:rPr>
                            <m:t>2</m:t>
                          </m:r>
                        </m:sup>
                      </m:sSup>
                      <m:r>
                        <a:rPr lang="es-CO" sz="2400" i="1" dirty="0" smtClean="0">
                          <a:latin typeface="Cambria Math" panose="02040503050406030204" pitchFamily="18" charset="0"/>
                        </a:rPr>
                        <m:t>+</m:t>
                      </m:r>
                      <m:sSup>
                        <m:sSupPr>
                          <m:ctrlPr>
                            <a:rPr lang="es-ES" sz="2400" b="0" i="1" dirty="0" smtClean="0">
                              <a:latin typeface="Cambria Math" panose="02040503050406030204" pitchFamily="18" charset="0"/>
                            </a:rPr>
                          </m:ctrlPr>
                        </m:sSupPr>
                        <m:e>
                          <m:d>
                            <m:dPr>
                              <m:ctrlPr>
                                <a:rPr lang="es-CO" sz="2400" i="1" dirty="0" smtClean="0">
                                  <a:latin typeface="Cambria Math" panose="02040503050406030204" pitchFamily="18" charset="0"/>
                                </a:rPr>
                              </m:ctrlPr>
                            </m:dPr>
                            <m:e>
                              <m:r>
                                <a:rPr lang="es-CO" sz="2400" i="1" dirty="0" smtClean="0">
                                  <a:latin typeface="Cambria Math" panose="02040503050406030204" pitchFamily="18" charset="0"/>
                                </a:rPr>
                                <m:t>𝑦</m:t>
                              </m:r>
                              <m:r>
                                <a:rPr lang="es-CO" sz="2400" i="1" dirty="0" smtClean="0">
                                  <a:latin typeface="Cambria Math" panose="02040503050406030204" pitchFamily="18" charset="0"/>
                                </a:rPr>
                                <m:t>−</m:t>
                              </m:r>
                              <m:r>
                                <a:rPr lang="es-CO" sz="2400" i="1" dirty="0" smtClean="0">
                                  <a:latin typeface="Cambria Math" panose="02040503050406030204" pitchFamily="18" charset="0"/>
                                </a:rPr>
                                <m:t>𝑘</m:t>
                              </m:r>
                            </m:e>
                          </m:d>
                        </m:e>
                        <m:sup>
                          <m:r>
                            <a:rPr lang="es-CO" sz="2400" i="1" dirty="0" smtClean="0">
                              <a:latin typeface="Cambria Math" panose="02040503050406030204" pitchFamily="18" charset="0"/>
                            </a:rPr>
                            <m:t>2</m:t>
                          </m:r>
                        </m:sup>
                      </m:sSup>
                      <m:r>
                        <a:rPr lang="es-CO" sz="2400" i="1" dirty="0" smtClean="0">
                          <a:latin typeface="Cambria Math" panose="02040503050406030204" pitchFamily="18" charset="0"/>
                        </a:rPr>
                        <m:t>=</m:t>
                      </m:r>
                      <m:sSup>
                        <m:sSupPr>
                          <m:ctrlPr>
                            <a:rPr lang="es-ES" sz="2400" b="0" i="1" dirty="0" smtClean="0">
                              <a:latin typeface="Cambria Math" panose="02040503050406030204" pitchFamily="18" charset="0"/>
                            </a:rPr>
                          </m:ctrlPr>
                        </m:sSupPr>
                        <m:e>
                          <m:r>
                            <a:rPr lang="es-CO" sz="2400" i="1" dirty="0" smtClean="0">
                              <a:latin typeface="Cambria Math" panose="02040503050406030204" pitchFamily="18" charset="0"/>
                            </a:rPr>
                            <m:t>𝑟</m:t>
                          </m:r>
                        </m:e>
                        <m:sup>
                          <m:r>
                            <a:rPr lang="es-ES" sz="2400" b="0" i="1" dirty="0" smtClean="0">
                              <a:latin typeface="Cambria Math" panose="02040503050406030204" pitchFamily="18" charset="0"/>
                            </a:rPr>
                            <m:t>2</m:t>
                          </m:r>
                        </m:sup>
                      </m:sSup>
                      <m:r>
                        <a:rPr lang="es-CO" sz="2400" i="1" dirty="0" smtClean="0">
                          <a:latin typeface="Cambria Math" panose="02040503050406030204" pitchFamily="18" charset="0"/>
                        </a:rPr>
                        <m:t> </m:t>
                      </m:r>
                    </m:oMath>
                  </m:oMathPara>
                </a14:m>
                <a:endParaRPr lang="es-ES" sz="2400" dirty="0" smtClean="0"/>
              </a:p>
              <a:p>
                <a:pPr algn="just"/>
                <a:r>
                  <a:rPr lang="es-CO" sz="2400" dirty="0" smtClean="0"/>
                  <a:t>donde </a:t>
                </a:r>
                <a14:m>
                  <m:oMath xmlns:m="http://schemas.openxmlformats.org/officeDocument/2006/math">
                    <m:r>
                      <a:rPr lang="es-CO" sz="2400" i="1" dirty="0" smtClean="0">
                        <a:latin typeface="Cambria Math" panose="02040503050406030204" pitchFamily="18" charset="0"/>
                      </a:rPr>
                      <m:t>(</m:t>
                    </m:r>
                    <m:r>
                      <a:rPr lang="es-CO" sz="2400" i="1" dirty="0" err="1" smtClean="0">
                        <a:latin typeface="Cambria Math" panose="02040503050406030204" pitchFamily="18" charset="0"/>
                      </a:rPr>
                      <m:t>h</m:t>
                    </m:r>
                    <m:r>
                      <a:rPr lang="es-CO" sz="2400" i="1" dirty="0" err="1" smtClean="0">
                        <a:latin typeface="Cambria Math" panose="02040503050406030204" pitchFamily="18" charset="0"/>
                      </a:rPr>
                      <m:t>,</m:t>
                    </m:r>
                    <m:r>
                      <a:rPr lang="es-CO" sz="2400" i="1" dirty="0" err="1" smtClean="0">
                        <a:latin typeface="Cambria Math" panose="02040503050406030204" pitchFamily="18" charset="0"/>
                      </a:rPr>
                      <m:t>𝑘</m:t>
                    </m:r>
                    <m:r>
                      <a:rPr lang="es-CO" sz="2400" i="1" dirty="0" smtClean="0">
                        <a:latin typeface="Cambria Math" panose="02040503050406030204" pitchFamily="18" charset="0"/>
                      </a:rPr>
                      <m:t>) </m:t>
                    </m:r>
                  </m:oMath>
                </a14:m>
                <a:r>
                  <a:rPr lang="es-CO" sz="2400" dirty="0" smtClean="0"/>
                  <a:t>es el centro y r el radio.</a:t>
                </a:r>
                <a:endParaRPr lang="es-CO" sz="2400" dirty="0"/>
              </a:p>
            </p:txBody>
          </p:sp>
        </mc:Choice>
        <mc:Fallback xmlns="">
          <p:sp>
            <p:nvSpPr>
              <p:cNvPr id="12" name="Rectángulo 11"/>
              <p:cNvSpPr>
                <a:spLocks noRot="1" noChangeAspect="1" noMove="1" noResize="1" noEditPoints="1" noAdjustHandles="1" noChangeArrowheads="1" noChangeShapeType="1" noTextEdit="1"/>
              </p:cNvSpPr>
              <p:nvPr/>
            </p:nvSpPr>
            <p:spPr>
              <a:xfrm>
                <a:off x="552711" y="6721475"/>
                <a:ext cx="9286647" cy="3785652"/>
              </a:xfrm>
              <a:prstGeom prst="rect">
                <a:avLst/>
              </a:prstGeom>
              <a:blipFill>
                <a:blip r:embed="rId2"/>
                <a:stretch>
                  <a:fillRect l="-1051" t="-1127" r="-985" b="-2899"/>
                </a:stretch>
              </a:blipFill>
            </p:spPr>
            <p:txBody>
              <a:bodyPr/>
              <a:lstStyle/>
              <a:p>
                <a:r>
                  <a:rPr lang="es-419">
                    <a:noFill/>
                  </a:rPr>
                  <a:t> </a:t>
                </a:r>
              </a:p>
            </p:txBody>
          </p:sp>
        </mc:Fallback>
      </mc:AlternateContent>
      <p:pic>
        <p:nvPicPr>
          <p:cNvPr id="1028" name="Picture 4" descr="Completar el cuadrad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86" y="2466394"/>
            <a:ext cx="9287072" cy="2332434"/>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n 13"/>
          <p:cNvPicPr>
            <a:picLocks noChangeAspect="1"/>
          </p:cNvPicPr>
          <p:nvPr/>
        </p:nvPicPr>
        <p:blipFill>
          <a:blip r:embed="rId4">
            <a:biLevel thresh="75000"/>
          </a:blip>
          <a:stretch>
            <a:fillRect/>
          </a:stretch>
        </p:blipFill>
        <p:spPr>
          <a:xfrm>
            <a:off x="11042650" y="2466394"/>
            <a:ext cx="7971636" cy="2847013"/>
          </a:xfrm>
          <a:prstGeom prst="rect">
            <a:avLst/>
          </a:prstGeom>
        </p:spPr>
      </p:pic>
      <mc:AlternateContent xmlns:mc="http://schemas.openxmlformats.org/markup-compatibility/2006" xmlns:a14="http://schemas.microsoft.com/office/drawing/2010/main">
        <mc:Choice Requires="a14">
          <p:sp>
            <p:nvSpPr>
              <p:cNvPr id="7" name="Rectángulo 6"/>
              <p:cNvSpPr/>
              <p:nvPr/>
            </p:nvSpPr>
            <p:spPr>
              <a:xfrm>
                <a:off x="10280650" y="6264275"/>
                <a:ext cx="8117278" cy="1384995"/>
              </a:xfrm>
              <a:prstGeom prst="rect">
                <a:avLst/>
              </a:prstGeom>
            </p:spPr>
            <p:txBody>
              <a:bodyPr wrap="square">
                <a:spAutoFit/>
              </a:bodyPr>
              <a:lstStyle/>
              <a:p>
                <a:pPr algn="just"/>
                <a:r>
                  <a:rPr lang="es-ES" sz="2800" b="1" dirty="0" smtClean="0">
                    <a:latin typeface="Georgia" panose="02040502050405020303" pitchFamily="18" charset="0"/>
                  </a:rPr>
                  <a:t>Ejemplo: </a:t>
                </a:r>
                <a:r>
                  <a:rPr lang="es-ES" sz="2800" dirty="0" smtClean="0">
                    <a:latin typeface="Georgia" panose="02040502050405020303" pitchFamily="18" charset="0"/>
                  </a:rPr>
                  <a:t>Determine el centro y el radio del círculo cuya ecuación es.</a:t>
                </a:r>
              </a:p>
              <a:p>
                <a:pPr algn="just"/>
                <a14:m>
                  <m:oMathPara xmlns:m="http://schemas.openxmlformats.org/officeDocument/2006/math">
                    <m:oMathParaPr>
                      <m:jc m:val="centerGroup"/>
                    </m:oMathParaPr>
                    <m:oMath xmlns:m="http://schemas.openxmlformats.org/officeDocument/2006/math">
                      <m:sSup>
                        <m:sSupPr>
                          <m:ctrlPr>
                            <a:rPr lang="es-ES" sz="2800" b="0" i="1" smtClean="0">
                              <a:latin typeface="Cambria Math" panose="02040503050406030204" pitchFamily="18" charset="0"/>
                            </a:rPr>
                          </m:ctrlPr>
                        </m:sSupPr>
                        <m:e>
                          <m:r>
                            <a:rPr lang="es-ES" sz="2800" b="0" i="1" smtClean="0">
                              <a:latin typeface="Cambria Math" panose="02040503050406030204" pitchFamily="18" charset="0"/>
                            </a:rPr>
                            <m:t>𝑥</m:t>
                          </m:r>
                        </m:e>
                        <m:sup>
                          <m:r>
                            <a:rPr lang="es-ES" sz="2800" b="0" i="1" smtClean="0">
                              <a:latin typeface="Cambria Math" panose="02040503050406030204" pitchFamily="18" charset="0"/>
                            </a:rPr>
                            <m:t>2</m:t>
                          </m:r>
                        </m:sup>
                      </m:sSup>
                      <m:r>
                        <a:rPr lang="es-ES" sz="2800" b="0" i="1" smtClean="0">
                          <a:latin typeface="Cambria Math" panose="02040503050406030204" pitchFamily="18" charset="0"/>
                        </a:rPr>
                        <m:t>+</m:t>
                      </m:r>
                      <m:sSup>
                        <m:sSupPr>
                          <m:ctrlPr>
                            <a:rPr lang="es-ES" sz="2800" b="0" i="1" smtClean="0">
                              <a:latin typeface="Cambria Math" panose="02040503050406030204" pitchFamily="18" charset="0"/>
                            </a:rPr>
                          </m:ctrlPr>
                        </m:sSupPr>
                        <m:e>
                          <m:r>
                            <a:rPr lang="es-ES" sz="2800" b="0" i="1" smtClean="0">
                              <a:latin typeface="Cambria Math" panose="02040503050406030204" pitchFamily="18" charset="0"/>
                            </a:rPr>
                            <m:t>𝑦</m:t>
                          </m:r>
                        </m:e>
                        <m:sup>
                          <m:r>
                            <a:rPr lang="es-ES" sz="2800" b="0" i="1" smtClean="0">
                              <a:latin typeface="Cambria Math" panose="02040503050406030204" pitchFamily="18" charset="0"/>
                            </a:rPr>
                            <m:t>2</m:t>
                          </m:r>
                        </m:sup>
                      </m:sSup>
                      <m:r>
                        <a:rPr lang="es-ES" sz="2800" b="0" i="1" smtClean="0">
                          <a:latin typeface="Cambria Math" panose="02040503050406030204" pitchFamily="18" charset="0"/>
                        </a:rPr>
                        <m:t>+10</m:t>
                      </m:r>
                      <m:r>
                        <a:rPr lang="es-ES" sz="2800" b="0" i="1" smtClean="0">
                          <a:latin typeface="Cambria Math" panose="02040503050406030204" pitchFamily="18" charset="0"/>
                        </a:rPr>
                        <m:t>𝑥</m:t>
                      </m:r>
                      <m:r>
                        <a:rPr lang="es-ES" sz="2800" b="0" i="1" smtClean="0">
                          <a:latin typeface="Cambria Math" panose="02040503050406030204" pitchFamily="18" charset="0"/>
                        </a:rPr>
                        <m:t>−2</m:t>
                      </m:r>
                      <m:r>
                        <a:rPr lang="es-ES" sz="2800" b="0" i="1" smtClean="0">
                          <a:latin typeface="Cambria Math" panose="02040503050406030204" pitchFamily="18" charset="0"/>
                        </a:rPr>
                        <m:t>𝑦</m:t>
                      </m:r>
                      <m:r>
                        <a:rPr lang="es-ES" sz="2800" b="0" i="1" smtClean="0">
                          <a:latin typeface="Cambria Math" panose="02040503050406030204" pitchFamily="18" charset="0"/>
                        </a:rPr>
                        <m:t>+17=0</m:t>
                      </m:r>
                    </m:oMath>
                  </m:oMathPara>
                </a14:m>
                <a:endParaRPr lang="es-419" sz="2800" dirty="0">
                  <a:latin typeface="Georgia" panose="02040502050405020303" pitchFamily="18" charset="0"/>
                </a:endParaRPr>
              </a:p>
            </p:txBody>
          </p:sp>
        </mc:Choice>
        <mc:Fallback xmlns="">
          <p:sp>
            <p:nvSpPr>
              <p:cNvPr id="7" name="Rectángulo 6"/>
              <p:cNvSpPr>
                <a:spLocks noRot="1" noChangeAspect="1" noMove="1" noResize="1" noEditPoints="1" noAdjustHandles="1" noChangeArrowheads="1" noChangeShapeType="1" noTextEdit="1"/>
              </p:cNvSpPr>
              <p:nvPr/>
            </p:nvSpPr>
            <p:spPr>
              <a:xfrm>
                <a:off x="10280650" y="6264275"/>
                <a:ext cx="8117278" cy="1384995"/>
              </a:xfrm>
              <a:prstGeom prst="rect">
                <a:avLst/>
              </a:prstGeom>
              <a:blipFill>
                <a:blip r:embed="rId5"/>
                <a:stretch>
                  <a:fillRect l="-1502" t="-4846" r="-1577"/>
                </a:stretch>
              </a:blipFill>
            </p:spPr>
            <p:txBody>
              <a:bodyPr/>
              <a:lstStyle/>
              <a:p>
                <a:r>
                  <a:rPr lang="es-419">
                    <a:noFill/>
                  </a:rPr>
                  <a:t> </a:t>
                </a:r>
              </a:p>
            </p:txBody>
          </p:sp>
        </mc:Fallback>
      </mc:AlternateContent>
    </p:spTree>
    <p:extLst>
      <p:ext uri="{BB962C8B-B14F-4D97-AF65-F5344CB8AC3E}">
        <p14:creationId xmlns:p14="http://schemas.microsoft.com/office/powerpoint/2010/main" val="1343832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8C7C993-E3B8-4312-970A-52162783CD2B}"/>
              </a:ext>
            </a:extLst>
          </p:cNvPr>
          <p:cNvSpPr/>
          <p:nvPr/>
        </p:nvSpPr>
        <p:spPr>
          <a:xfrm>
            <a:off x="5137006" y="777875"/>
            <a:ext cx="6974278" cy="707886"/>
          </a:xfrm>
          <a:prstGeom prst="rect">
            <a:avLst/>
          </a:prstGeom>
        </p:spPr>
        <p:txBody>
          <a:bodyPr wrap="square">
            <a:spAutoFit/>
          </a:bodyPr>
          <a:lstStyle/>
          <a:p>
            <a:pPr algn="ctr"/>
            <a:r>
              <a:rPr lang="es-CO" sz="4000" b="1" dirty="0" smtClean="0">
                <a:ln w="22225">
                  <a:solidFill>
                    <a:schemeClr val="bg1"/>
                  </a:solidFill>
                  <a:prstDash val="solid"/>
                </a:ln>
                <a:solidFill>
                  <a:schemeClr val="bg1"/>
                </a:solidFill>
              </a:rPr>
              <a:t>SEMICÍRCULOS</a:t>
            </a:r>
            <a:endParaRPr lang="es-CO" sz="4000" b="1" dirty="0">
              <a:ln w="22225">
                <a:solidFill>
                  <a:schemeClr val="bg1"/>
                </a:solidFill>
                <a:prstDash val="solid"/>
              </a:ln>
              <a:solidFill>
                <a:schemeClr val="bg1"/>
              </a:solidFill>
            </a:endParaRPr>
          </a:p>
        </p:txBody>
      </p:sp>
      <p:pic>
        <p:nvPicPr>
          <p:cNvPr id="3" name="Imagen 2"/>
          <p:cNvPicPr>
            <a:picLocks noChangeAspect="1"/>
          </p:cNvPicPr>
          <p:nvPr/>
        </p:nvPicPr>
        <p:blipFill>
          <a:blip r:embed="rId2"/>
          <a:stretch>
            <a:fillRect/>
          </a:stretch>
        </p:blipFill>
        <p:spPr>
          <a:xfrm>
            <a:off x="3117850" y="1844675"/>
            <a:ext cx="11811000" cy="8790973"/>
          </a:xfrm>
          <a:prstGeom prst="rect">
            <a:avLst/>
          </a:prstGeom>
        </p:spPr>
      </p:pic>
    </p:spTree>
    <p:extLst>
      <p:ext uri="{BB962C8B-B14F-4D97-AF65-F5344CB8AC3E}">
        <p14:creationId xmlns:p14="http://schemas.microsoft.com/office/powerpoint/2010/main" val="180801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984250" y="2073275"/>
            <a:ext cx="17678400" cy="8710077"/>
          </a:xfrm>
          <a:prstGeom prst="rect">
            <a:avLst/>
          </a:prstGeom>
        </p:spPr>
        <p:txBody>
          <a:bodyPr wrap="square">
            <a:spAutoFit/>
          </a:bodyPr>
          <a:lstStyle/>
          <a:p>
            <a:pPr algn="just"/>
            <a:r>
              <a:rPr lang="es-CO" sz="2800" dirty="0" smtClean="0"/>
              <a:t>Para </a:t>
            </a:r>
            <a:r>
              <a:rPr lang="es-CO" sz="2800" dirty="0" smtClean="0"/>
              <a:t>graficar una ecuación, es útil identificar los puntos donde la gráfica cruza los ejes coordenados. Las </a:t>
            </a:r>
            <a:r>
              <a:rPr lang="es-CO" sz="2800" b="1" dirty="0" smtClean="0"/>
              <a:t>intersecciones con el eje x</a:t>
            </a:r>
            <a:r>
              <a:rPr lang="es-CO" sz="2800" dirty="0" smtClean="0"/>
              <a:t> son los puntos donde la gráfica corta al eje horizontal. Como todos los puntos sobre el eje x tienen una ordenada (coordenada y) igual a 0, se pueden encontrar estas intersecciones sustituyendo y=0 en la ecuación y despejando x</a:t>
            </a:r>
            <a:r>
              <a:rPr lang="es-CO" sz="2800" dirty="0" smtClean="0"/>
              <a:t>.</a:t>
            </a:r>
          </a:p>
          <a:p>
            <a:pPr algn="just"/>
            <a:endParaRPr lang="es-CO" sz="2800" dirty="0"/>
          </a:p>
          <a:p>
            <a:pPr algn="just"/>
            <a:endParaRPr lang="es-CO" sz="2800" dirty="0" smtClean="0"/>
          </a:p>
          <a:p>
            <a:pPr algn="just"/>
            <a:endParaRPr lang="es-CO" sz="2800" dirty="0"/>
          </a:p>
          <a:p>
            <a:pPr algn="just"/>
            <a:endParaRPr lang="es-CO" sz="2800" dirty="0" smtClean="0"/>
          </a:p>
          <a:p>
            <a:pPr algn="just"/>
            <a:endParaRPr lang="es-CO" sz="2800" dirty="0"/>
          </a:p>
          <a:p>
            <a:pPr algn="just"/>
            <a:endParaRPr lang="es-CO" sz="2800" dirty="0" smtClean="0"/>
          </a:p>
          <a:p>
            <a:pPr algn="just"/>
            <a:endParaRPr lang="es-CO" sz="2800" dirty="0"/>
          </a:p>
          <a:p>
            <a:pPr algn="just"/>
            <a:endParaRPr lang="es-CO" sz="2800" dirty="0" smtClean="0"/>
          </a:p>
          <a:p>
            <a:pPr algn="just"/>
            <a:endParaRPr lang="es-CO" sz="2800" dirty="0"/>
          </a:p>
          <a:p>
            <a:pPr algn="just"/>
            <a:endParaRPr lang="es-CO" sz="2800" dirty="0" smtClean="0"/>
          </a:p>
          <a:p>
            <a:pPr algn="just"/>
            <a:endParaRPr lang="es-CO" sz="2800" dirty="0"/>
          </a:p>
          <a:p>
            <a:pPr algn="just"/>
            <a:endParaRPr lang="es-CO" sz="2800" dirty="0" smtClean="0"/>
          </a:p>
          <a:p>
            <a:pPr algn="just"/>
            <a:r>
              <a:rPr lang="es-CO" sz="2800" dirty="0" smtClean="0"/>
              <a:t>Por otro lado, las </a:t>
            </a:r>
            <a:r>
              <a:rPr lang="es-CO" sz="2800" b="1" dirty="0" smtClean="0"/>
              <a:t>intersecciones con el eje y</a:t>
            </a:r>
            <a:r>
              <a:rPr lang="es-CO" sz="2800" dirty="0" smtClean="0"/>
              <a:t> son los puntos donde la gráfica cruza el eje vertical. En este caso, como los puntos del eje y tienen una abscisa (coordenada x) igual a 0, se determina la intersección sustituyendo x=0 en la ecuación y resolviendo para y.</a:t>
            </a:r>
          </a:p>
          <a:p>
            <a:pPr algn="just"/>
            <a:endParaRPr lang="es-419" sz="2800" dirty="0"/>
          </a:p>
        </p:txBody>
      </p:sp>
      <p:sp>
        <p:nvSpPr>
          <p:cNvPr id="3" name="Rectángulo 2">
            <a:extLst>
              <a:ext uri="{FF2B5EF4-FFF2-40B4-BE49-F238E27FC236}">
                <a16:creationId xmlns:a16="http://schemas.microsoft.com/office/drawing/2014/main" id="{58C7C993-E3B8-4312-970A-52162783CD2B}"/>
              </a:ext>
            </a:extLst>
          </p:cNvPr>
          <p:cNvSpPr/>
          <p:nvPr/>
        </p:nvSpPr>
        <p:spPr>
          <a:xfrm>
            <a:off x="5137006" y="777875"/>
            <a:ext cx="6974278" cy="707886"/>
          </a:xfrm>
          <a:prstGeom prst="rect">
            <a:avLst/>
          </a:prstGeom>
        </p:spPr>
        <p:txBody>
          <a:bodyPr wrap="square">
            <a:spAutoFit/>
          </a:bodyPr>
          <a:lstStyle/>
          <a:p>
            <a:pPr algn="ctr"/>
            <a:r>
              <a:rPr lang="es-CO" sz="4000" b="1" dirty="0" smtClean="0">
                <a:ln w="22225">
                  <a:solidFill>
                    <a:schemeClr val="bg1"/>
                  </a:solidFill>
                  <a:prstDash val="solid"/>
                </a:ln>
                <a:solidFill>
                  <a:schemeClr val="bg1"/>
                </a:solidFill>
              </a:rPr>
              <a:t>INTERSECCIONES</a:t>
            </a:r>
            <a:endParaRPr lang="es-CO" sz="4000" b="1" dirty="0">
              <a:ln w="22225">
                <a:solidFill>
                  <a:schemeClr val="bg1"/>
                </a:solidFill>
                <a:prstDash val="solid"/>
              </a:ln>
              <a:solidFill>
                <a:schemeClr val="bg1"/>
              </a:solidFill>
            </a:endParaRPr>
          </a:p>
        </p:txBody>
      </p:sp>
      <p:pic>
        <p:nvPicPr>
          <p:cNvPr id="4" name="Imagen 3"/>
          <p:cNvPicPr>
            <a:picLocks noChangeAspect="1"/>
          </p:cNvPicPr>
          <p:nvPr/>
        </p:nvPicPr>
        <p:blipFill>
          <a:blip r:embed="rId2"/>
          <a:stretch>
            <a:fillRect/>
          </a:stretch>
        </p:blipFill>
        <p:spPr>
          <a:xfrm>
            <a:off x="3422650" y="4435475"/>
            <a:ext cx="12022666" cy="3657600"/>
          </a:xfrm>
          <a:prstGeom prst="rect">
            <a:avLst/>
          </a:prstGeom>
        </p:spPr>
      </p:pic>
    </p:spTree>
    <p:extLst>
      <p:ext uri="{BB962C8B-B14F-4D97-AF65-F5344CB8AC3E}">
        <p14:creationId xmlns:p14="http://schemas.microsoft.com/office/powerpoint/2010/main" val="3955841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908050" y="2378075"/>
            <a:ext cx="18897600" cy="584775"/>
          </a:xfrm>
          <a:prstGeom prst="rect">
            <a:avLst/>
          </a:prstGeom>
        </p:spPr>
        <p:txBody>
          <a:bodyPr wrap="square">
            <a:spAutoFit/>
          </a:bodyPr>
          <a:lstStyle/>
          <a:p>
            <a:r>
              <a:rPr lang="es-CO" sz="3200" dirty="0" smtClean="0">
                <a:solidFill>
                  <a:srgbClr val="1B1E1E"/>
                </a:solidFill>
                <a:effectLst/>
                <a:latin typeface="Times-Roman"/>
              </a:rPr>
              <a:t>Determine las intersecciones </a:t>
            </a:r>
            <a:r>
              <a:rPr lang="es-CO" sz="3200" dirty="0" smtClean="0">
                <a:solidFill>
                  <a:srgbClr val="2F3233"/>
                </a:solidFill>
                <a:effectLst/>
                <a:latin typeface="Times-Roman"/>
              </a:rPr>
              <a:t>de </a:t>
            </a:r>
            <a:r>
              <a:rPr lang="es-CO" sz="3200" dirty="0" smtClean="0">
                <a:solidFill>
                  <a:srgbClr val="1B1E1E"/>
                </a:solidFill>
                <a:effectLst/>
                <a:latin typeface="Times-Roman"/>
              </a:rPr>
              <a:t>las </a:t>
            </a:r>
            <a:r>
              <a:rPr lang="es-CO" sz="3200" dirty="0" smtClean="0">
                <a:solidFill>
                  <a:srgbClr val="2F3233"/>
                </a:solidFill>
                <a:effectLst/>
                <a:latin typeface="Times-Roman"/>
              </a:rPr>
              <a:t>gráficas </a:t>
            </a:r>
            <a:r>
              <a:rPr lang="es-CO" sz="3200" dirty="0" smtClean="0">
                <a:solidFill>
                  <a:srgbClr val="1B1E1E"/>
                </a:solidFill>
                <a:effectLst/>
                <a:latin typeface="Times-Roman"/>
              </a:rPr>
              <a:t>de las </a:t>
            </a:r>
            <a:r>
              <a:rPr lang="es-CO" sz="3200" dirty="0" smtClean="0">
                <a:solidFill>
                  <a:srgbClr val="2F3233"/>
                </a:solidFill>
                <a:effectLst/>
                <a:latin typeface="Times-Roman"/>
              </a:rPr>
              <a:t>ecuaciones con </a:t>
            </a:r>
            <a:r>
              <a:rPr lang="es-CO" sz="3200" dirty="0" smtClean="0">
                <a:solidFill>
                  <a:srgbClr val="1B1E1E"/>
                </a:solidFill>
                <a:effectLst/>
                <a:latin typeface="Times-Roman"/>
              </a:rPr>
              <a:t>los </a:t>
            </a:r>
            <a:r>
              <a:rPr lang="es-CO" sz="3200" dirty="0" smtClean="0">
                <a:solidFill>
                  <a:srgbClr val="2F3233"/>
                </a:solidFill>
                <a:effectLst/>
                <a:latin typeface="Times-Roman"/>
              </a:rPr>
              <a:t>ejes </a:t>
            </a:r>
            <a:r>
              <a:rPr lang="es-CO" sz="3200" dirty="0" smtClean="0">
                <a:solidFill>
                  <a:srgbClr val="1B1E1E"/>
                </a:solidFill>
                <a:effectLst/>
                <a:latin typeface="Times-Roman"/>
              </a:rPr>
              <a:t>coordenados</a:t>
            </a:r>
            <a:endParaRPr lang="es-419" sz="3200" dirty="0"/>
          </a:p>
        </p:txBody>
      </p:sp>
      <mc:AlternateContent xmlns:mc="http://schemas.openxmlformats.org/markup-compatibility/2006">
        <mc:Choice xmlns:a14="http://schemas.microsoft.com/office/drawing/2010/main" Requires="a14">
          <p:sp>
            <p:nvSpPr>
              <p:cNvPr id="5" name="CuadroTexto 4"/>
              <p:cNvSpPr txBox="1"/>
              <p:nvPr/>
            </p:nvSpPr>
            <p:spPr>
              <a:xfrm>
                <a:off x="1212850" y="3467877"/>
                <a:ext cx="2615716" cy="55399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s-ES" sz="3600" b="0" i="1" smtClean="0">
                              <a:latin typeface="Cambria Math" panose="02040503050406030204" pitchFamily="18" charset="0"/>
                            </a:rPr>
                          </m:ctrlPr>
                        </m:sSupPr>
                        <m:e>
                          <m:r>
                            <a:rPr lang="es-ES" sz="3600" b="0" i="1" smtClean="0">
                              <a:latin typeface="Cambria Math" panose="02040503050406030204" pitchFamily="18" charset="0"/>
                            </a:rPr>
                            <m:t>𝑥</m:t>
                          </m:r>
                        </m:e>
                        <m:sup>
                          <m:r>
                            <a:rPr lang="es-ES" sz="3600" b="0" i="1" smtClean="0">
                              <a:latin typeface="Cambria Math" panose="02040503050406030204" pitchFamily="18" charset="0"/>
                            </a:rPr>
                            <m:t>2</m:t>
                          </m:r>
                        </m:sup>
                      </m:sSup>
                      <m:r>
                        <a:rPr lang="es-ES" sz="3600" b="0" i="1" smtClean="0">
                          <a:latin typeface="Cambria Math" panose="02040503050406030204" pitchFamily="18" charset="0"/>
                        </a:rPr>
                        <m:t>−</m:t>
                      </m:r>
                      <m:sSup>
                        <m:sSupPr>
                          <m:ctrlPr>
                            <a:rPr lang="es-ES" sz="3600" b="0" i="1" smtClean="0">
                              <a:latin typeface="Cambria Math" panose="02040503050406030204" pitchFamily="18" charset="0"/>
                            </a:rPr>
                          </m:ctrlPr>
                        </m:sSupPr>
                        <m:e>
                          <m:r>
                            <a:rPr lang="es-ES" sz="3600" b="0" i="1" smtClean="0">
                              <a:latin typeface="Cambria Math" panose="02040503050406030204" pitchFamily="18" charset="0"/>
                            </a:rPr>
                            <m:t>𝑦</m:t>
                          </m:r>
                        </m:e>
                        <m:sup>
                          <m:r>
                            <a:rPr lang="es-ES" sz="3600" b="0" i="1" smtClean="0">
                              <a:latin typeface="Cambria Math" panose="02040503050406030204" pitchFamily="18" charset="0"/>
                            </a:rPr>
                            <m:t>2</m:t>
                          </m:r>
                        </m:sup>
                      </m:sSup>
                      <m:r>
                        <a:rPr lang="es-ES" sz="3600" b="0" i="1" smtClean="0">
                          <a:latin typeface="Cambria Math" panose="02040503050406030204" pitchFamily="18" charset="0"/>
                        </a:rPr>
                        <m:t>=9 </m:t>
                      </m:r>
                    </m:oMath>
                  </m:oMathPara>
                </a14:m>
                <a:endParaRPr lang="es-419" sz="2000" dirty="0"/>
              </a:p>
            </p:txBody>
          </p:sp>
        </mc:Choice>
        <mc:Fallback>
          <p:sp>
            <p:nvSpPr>
              <p:cNvPr id="5" name="CuadroTexto 4"/>
              <p:cNvSpPr txBox="1">
                <a:spLocks noRot="1" noChangeAspect="1" noMove="1" noResize="1" noEditPoints="1" noAdjustHandles="1" noChangeArrowheads="1" noChangeShapeType="1" noTextEdit="1"/>
              </p:cNvSpPr>
              <p:nvPr/>
            </p:nvSpPr>
            <p:spPr>
              <a:xfrm>
                <a:off x="1212850" y="3467877"/>
                <a:ext cx="2615716" cy="553998"/>
              </a:xfrm>
              <a:prstGeom prst="rect">
                <a:avLst/>
              </a:prstGeom>
              <a:blipFill>
                <a:blip r:embed="rId2"/>
                <a:stretch>
                  <a:fillRect/>
                </a:stretch>
              </a:blipFill>
            </p:spPr>
            <p:txBody>
              <a:bodyPr/>
              <a:lstStyle/>
              <a:p>
                <a:r>
                  <a:rPr lang="es-419">
                    <a:noFill/>
                  </a:rPr>
                  <a:t> </a:t>
                </a:r>
              </a:p>
            </p:txBody>
          </p:sp>
        </mc:Fallback>
      </mc:AlternateContent>
      <mc:AlternateContent xmlns:mc="http://schemas.openxmlformats.org/markup-compatibility/2006">
        <mc:Choice xmlns:a14="http://schemas.microsoft.com/office/drawing/2010/main" Requires="a14">
          <p:sp>
            <p:nvSpPr>
              <p:cNvPr id="6" name="CuadroTexto 5"/>
              <p:cNvSpPr txBox="1"/>
              <p:nvPr/>
            </p:nvSpPr>
            <p:spPr>
              <a:xfrm>
                <a:off x="12719050" y="3467877"/>
                <a:ext cx="3432863" cy="49244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s-ES" sz="3200" b="0" i="1" smtClean="0">
                          <a:latin typeface="Cambria Math" panose="02040503050406030204" pitchFamily="18" charset="0"/>
                        </a:rPr>
                        <m:t>𝑦</m:t>
                      </m:r>
                      <m:r>
                        <a:rPr lang="es-ES" sz="3200" b="0" i="1" smtClean="0">
                          <a:latin typeface="Cambria Math" panose="02040503050406030204" pitchFamily="18" charset="0"/>
                        </a:rPr>
                        <m:t>=2</m:t>
                      </m:r>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𝑥</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+5</m:t>
                      </m:r>
                      <m:r>
                        <a:rPr lang="es-ES" sz="3200" b="0" i="1" smtClean="0">
                          <a:latin typeface="Cambria Math" panose="02040503050406030204" pitchFamily="18" charset="0"/>
                        </a:rPr>
                        <m:t>𝑥</m:t>
                      </m:r>
                      <m:r>
                        <a:rPr lang="es-ES" sz="3200" b="0" i="1" smtClean="0">
                          <a:latin typeface="Cambria Math" panose="02040503050406030204" pitchFamily="18" charset="0"/>
                        </a:rPr>
                        <m:t>−12</m:t>
                      </m:r>
                    </m:oMath>
                  </m:oMathPara>
                </a14:m>
                <a:endParaRPr lang="es-419" sz="3200" dirty="0"/>
              </a:p>
            </p:txBody>
          </p:sp>
        </mc:Choice>
        <mc:Fallback>
          <p:sp>
            <p:nvSpPr>
              <p:cNvPr id="6" name="CuadroTexto 5"/>
              <p:cNvSpPr txBox="1">
                <a:spLocks noRot="1" noChangeAspect="1" noMove="1" noResize="1" noEditPoints="1" noAdjustHandles="1" noChangeArrowheads="1" noChangeShapeType="1" noTextEdit="1"/>
              </p:cNvSpPr>
              <p:nvPr/>
            </p:nvSpPr>
            <p:spPr>
              <a:xfrm>
                <a:off x="12719050" y="3467877"/>
                <a:ext cx="3432863" cy="492443"/>
              </a:xfrm>
              <a:prstGeom prst="rect">
                <a:avLst/>
              </a:prstGeom>
              <a:blipFill>
                <a:blip r:embed="rId3"/>
                <a:stretch>
                  <a:fillRect/>
                </a:stretch>
              </a:blipFill>
            </p:spPr>
            <p:txBody>
              <a:bodyPr/>
              <a:lstStyle/>
              <a:p>
                <a:r>
                  <a:rPr lang="es-419">
                    <a:noFill/>
                  </a:rPr>
                  <a:t> </a:t>
                </a:r>
              </a:p>
            </p:txBody>
          </p:sp>
        </mc:Fallback>
      </mc:AlternateContent>
    </p:spTree>
    <p:extLst>
      <p:ext uri="{BB962C8B-B14F-4D97-AF65-F5344CB8AC3E}">
        <p14:creationId xmlns:p14="http://schemas.microsoft.com/office/powerpoint/2010/main" val="1763674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8C7C993-E3B8-4312-970A-52162783CD2B}"/>
              </a:ext>
            </a:extLst>
          </p:cNvPr>
          <p:cNvSpPr/>
          <p:nvPr/>
        </p:nvSpPr>
        <p:spPr>
          <a:xfrm>
            <a:off x="5137006" y="777875"/>
            <a:ext cx="6974278" cy="707886"/>
          </a:xfrm>
          <a:prstGeom prst="rect">
            <a:avLst/>
          </a:prstGeom>
        </p:spPr>
        <p:txBody>
          <a:bodyPr wrap="square">
            <a:spAutoFit/>
          </a:bodyPr>
          <a:lstStyle/>
          <a:p>
            <a:pPr algn="ctr"/>
            <a:r>
              <a:rPr lang="es-CO" sz="4000" b="1" dirty="0" smtClean="0">
                <a:ln w="22225">
                  <a:solidFill>
                    <a:schemeClr val="bg1"/>
                  </a:solidFill>
                  <a:prstDash val="solid"/>
                </a:ln>
                <a:solidFill>
                  <a:schemeClr val="bg1"/>
                </a:solidFill>
              </a:rPr>
              <a:t>SIMETRÍA</a:t>
            </a:r>
            <a:endParaRPr lang="es-CO" sz="4000" b="1" dirty="0">
              <a:ln w="22225">
                <a:solidFill>
                  <a:schemeClr val="bg1"/>
                </a:solidFill>
                <a:prstDash val="solid"/>
              </a:ln>
              <a:solidFill>
                <a:schemeClr val="bg1"/>
              </a:solidFill>
            </a:endParaRPr>
          </a:p>
        </p:txBody>
      </p:sp>
      <mc:AlternateContent xmlns:mc="http://schemas.openxmlformats.org/markup-compatibility/2006">
        <mc:Choice xmlns:a14="http://schemas.microsoft.com/office/drawing/2010/main" Requires="a14">
          <p:sp>
            <p:nvSpPr>
              <p:cNvPr id="3" name="Rectángulo 2"/>
              <p:cNvSpPr/>
              <p:nvPr/>
            </p:nvSpPr>
            <p:spPr>
              <a:xfrm>
                <a:off x="450850" y="1920875"/>
                <a:ext cx="6324600" cy="3046988"/>
              </a:xfrm>
              <a:prstGeom prst="rect">
                <a:avLst/>
              </a:prstGeom>
            </p:spPr>
            <p:txBody>
              <a:bodyPr wrap="square">
                <a:spAutoFit/>
              </a:bodyPr>
              <a:lstStyle/>
              <a:p>
                <a:r>
                  <a:rPr lang="es-CO" sz="3200" dirty="0" smtClean="0"/>
                  <a:t>Una gráfica también puede presentar </a:t>
                </a:r>
                <a:r>
                  <a:rPr lang="es-CO" sz="3200" b="1" dirty="0" smtClean="0"/>
                  <a:t>simetría</a:t>
                </a:r>
                <a:r>
                  <a:rPr lang="es-CO" sz="3200" dirty="0" smtClean="0"/>
                  <a:t>. Por ejemplo, la gráfica de la ecuación </a:t>
                </a:r>
                <a14:m>
                  <m:oMath xmlns:m="http://schemas.openxmlformats.org/officeDocument/2006/math">
                    <m:r>
                      <a:rPr lang="es-CO" sz="3200" i="1" dirty="0" smtClean="0">
                        <a:latin typeface="Cambria Math" panose="02040503050406030204" pitchFamily="18" charset="0"/>
                      </a:rPr>
                      <m:t>𝑦</m:t>
                    </m:r>
                    <m:r>
                      <a:rPr lang="es-CO" sz="3200" i="1" dirty="0" smtClean="0">
                        <a:latin typeface="Cambria Math" panose="02040503050406030204" pitchFamily="18" charset="0"/>
                      </a:rPr>
                      <m:t>=</m:t>
                    </m:r>
                    <m:sSup>
                      <m:sSupPr>
                        <m:ctrlPr>
                          <a:rPr lang="es-ES" sz="3200" b="0" i="1" dirty="0" smtClean="0">
                            <a:latin typeface="Cambria Math" panose="02040503050406030204" pitchFamily="18" charset="0"/>
                          </a:rPr>
                        </m:ctrlPr>
                      </m:sSupPr>
                      <m:e>
                        <m:r>
                          <a:rPr lang="es-CO" sz="3200" i="1" dirty="0" smtClean="0">
                            <a:latin typeface="Cambria Math" panose="02040503050406030204" pitchFamily="18" charset="0"/>
                          </a:rPr>
                          <m:t>𝑥</m:t>
                        </m:r>
                      </m:e>
                      <m:sup>
                        <m:r>
                          <a:rPr lang="es-CO" sz="3200" i="1" dirty="0" smtClean="0">
                            <a:latin typeface="Cambria Math" panose="02040503050406030204" pitchFamily="18" charset="0"/>
                          </a:rPr>
                          <m:t>2</m:t>
                        </m:r>
                      </m:sup>
                    </m:sSup>
                  </m:oMath>
                </a14:m>
                <a:r>
                  <a:rPr lang="es-CO" sz="3200" dirty="0" smtClean="0"/>
                  <a:t>, conocida como </a:t>
                </a:r>
                <a:r>
                  <a:rPr lang="es-CO" sz="3200" b="1" dirty="0" smtClean="0"/>
                  <a:t>parábola</a:t>
                </a:r>
                <a:r>
                  <a:rPr lang="es-CO" sz="3200" dirty="0" smtClean="0"/>
                  <a:t>, es simétrica respecto al eje </a:t>
                </a:r>
                <a:r>
                  <a:rPr lang="es-CO" sz="3200" b="1" dirty="0" smtClean="0"/>
                  <a:t>y</a:t>
                </a:r>
                <a:r>
                  <a:rPr lang="es-CO" sz="3200" dirty="0" smtClean="0"/>
                  <a:t>.</a:t>
                </a:r>
              </a:p>
              <a:p>
                <a:endParaRPr lang="es-CO" sz="3200" dirty="0"/>
              </a:p>
            </p:txBody>
          </p:sp>
        </mc:Choice>
        <mc:Fallback>
          <p:sp>
            <p:nvSpPr>
              <p:cNvPr id="3" name="Rectángulo 2"/>
              <p:cNvSpPr>
                <a:spLocks noRot="1" noChangeAspect="1" noMove="1" noResize="1" noEditPoints="1" noAdjustHandles="1" noChangeArrowheads="1" noChangeShapeType="1" noTextEdit="1"/>
              </p:cNvSpPr>
              <p:nvPr/>
            </p:nvSpPr>
            <p:spPr>
              <a:xfrm>
                <a:off x="450850" y="1920875"/>
                <a:ext cx="6324600" cy="3046988"/>
              </a:xfrm>
              <a:prstGeom prst="rect">
                <a:avLst/>
              </a:prstGeom>
              <a:blipFill>
                <a:blip r:embed="rId2"/>
                <a:stretch>
                  <a:fillRect l="-2507" t="-2600" r="-193"/>
                </a:stretch>
              </a:blipFill>
            </p:spPr>
            <p:txBody>
              <a:bodyPr/>
              <a:lstStyle/>
              <a:p>
                <a:r>
                  <a:rPr lang="es-419">
                    <a:noFill/>
                  </a:rPr>
                  <a:t> </a:t>
                </a:r>
              </a:p>
            </p:txBody>
          </p:sp>
        </mc:Fallback>
      </mc:AlternateContent>
      <p:pic>
        <p:nvPicPr>
          <p:cNvPr id="4" name="Imagen 3"/>
          <p:cNvPicPr>
            <a:picLocks noChangeAspect="1"/>
          </p:cNvPicPr>
          <p:nvPr/>
        </p:nvPicPr>
        <p:blipFill>
          <a:blip r:embed="rId3"/>
          <a:stretch>
            <a:fillRect/>
          </a:stretch>
        </p:blipFill>
        <p:spPr>
          <a:xfrm>
            <a:off x="450850" y="4587875"/>
            <a:ext cx="5486400" cy="6304085"/>
          </a:xfrm>
          <a:prstGeom prst="rect">
            <a:avLst/>
          </a:prstGeom>
        </p:spPr>
      </p:pic>
      <p:sp>
        <p:nvSpPr>
          <p:cNvPr id="5" name="Rectángulo 4"/>
          <p:cNvSpPr/>
          <p:nvPr/>
        </p:nvSpPr>
        <p:spPr>
          <a:xfrm>
            <a:off x="6470650" y="2473423"/>
            <a:ext cx="13023850" cy="7540526"/>
          </a:xfrm>
          <a:prstGeom prst="rect">
            <a:avLst/>
          </a:prstGeom>
        </p:spPr>
        <p:txBody>
          <a:bodyPr wrap="square">
            <a:spAutoFit/>
          </a:bodyPr>
          <a:lstStyle/>
          <a:p>
            <a:endParaRPr lang="es-CO" sz="3200" dirty="0" smtClean="0"/>
          </a:p>
          <a:p>
            <a:r>
              <a:rPr lang="es-CO" sz="3200" dirty="0" smtClean="0"/>
              <a:t> Esto significa que la parte de la curva que se encuentra en el segundo cuadrante es un reflejo de la que está en el primer cuadrante, como si se viera en un espejo colocado sobre el eje </a:t>
            </a:r>
            <a:r>
              <a:rPr lang="es-CO" sz="3200" b="1" dirty="0" smtClean="0"/>
              <a:t>y</a:t>
            </a:r>
            <a:r>
              <a:rPr lang="es-CO" sz="3200" dirty="0" smtClean="0"/>
              <a:t>.</a:t>
            </a:r>
          </a:p>
          <a:p>
            <a:endParaRPr lang="es-CO" sz="3200" dirty="0" smtClean="0"/>
          </a:p>
          <a:p>
            <a:r>
              <a:rPr lang="es-CO" sz="3200" dirty="0" smtClean="0"/>
              <a:t>En general, una gráfica tiene </a:t>
            </a:r>
            <a:r>
              <a:rPr lang="es-CO" sz="3200" b="1" dirty="0" smtClean="0"/>
              <a:t>simetría con respecto al eje y</a:t>
            </a:r>
            <a:r>
              <a:rPr lang="es-CO" sz="3200" dirty="0" smtClean="0"/>
              <a:t> si, al tomar un punto (</a:t>
            </a:r>
            <a:r>
              <a:rPr lang="es-CO" sz="3200" dirty="0" err="1" smtClean="0"/>
              <a:t>x,y</a:t>
            </a:r>
            <a:r>
              <a:rPr lang="es-CO" sz="3200" dirty="0" smtClean="0"/>
              <a:t>) que pertenece a la gráfica, el punto (−</a:t>
            </a:r>
            <a:r>
              <a:rPr lang="es-CO" sz="3200" dirty="0" err="1" smtClean="0"/>
              <a:t>x,y</a:t>
            </a:r>
            <a:r>
              <a:rPr lang="es-CO" sz="3200" dirty="0" smtClean="0"/>
              <a:t>) también está en ella. Por ejemplo, si los puntos (1,1) y (2,4) pertenecen a una gráfica, entonces también deben pertenecer (−1,1) y (−2,4)</a:t>
            </a:r>
          </a:p>
          <a:p>
            <a:endParaRPr lang="es-CO" sz="3600" dirty="0" smtClean="0"/>
          </a:p>
          <a:p>
            <a:r>
              <a:rPr lang="es-CO" sz="3200" dirty="0" smtClean="0"/>
              <a:t>También se dice que una gráfica tiene </a:t>
            </a:r>
            <a:r>
              <a:rPr lang="es-CO" sz="3200" b="1" dirty="0" smtClean="0"/>
              <a:t>simetría respecto al eje x</a:t>
            </a:r>
            <a:r>
              <a:rPr lang="es-CO" sz="3200" dirty="0" smtClean="0"/>
              <a:t> si, cada vez que el punto (</a:t>
            </a:r>
            <a:r>
              <a:rPr lang="es-CO" sz="3200" dirty="0" err="1" smtClean="0"/>
              <a:t>x,y</a:t>
            </a:r>
            <a:r>
              <a:rPr lang="es-CO" sz="3200" dirty="0" smtClean="0"/>
              <a:t>) está en la gráfica, el punto (x,−y) también lo está.</a:t>
            </a:r>
          </a:p>
          <a:p>
            <a:r>
              <a:rPr lang="es-CO" sz="3200" dirty="0" smtClean="0"/>
              <a:t>Finalmente, una gráfica tiene </a:t>
            </a:r>
            <a:r>
              <a:rPr lang="es-CO" sz="3200" b="1" dirty="0" smtClean="0"/>
              <a:t>simetría respecto al origen</a:t>
            </a:r>
            <a:r>
              <a:rPr lang="es-CO" sz="3200" dirty="0" smtClean="0"/>
              <a:t> si, al estar el punto (</a:t>
            </a:r>
            <a:r>
              <a:rPr lang="es-CO" sz="3200" dirty="0" err="1" smtClean="0"/>
              <a:t>x,y</a:t>
            </a:r>
            <a:r>
              <a:rPr lang="es-CO" sz="3200" dirty="0" smtClean="0"/>
              <a:t>) en la gráfica, entonces también lo está el punto (−x,−y).</a:t>
            </a:r>
            <a:endParaRPr lang="es-CO" sz="3200" dirty="0"/>
          </a:p>
        </p:txBody>
      </p:sp>
    </p:spTree>
    <p:extLst>
      <p:ext uri="{BB962C8B-B14F-4D97-AF65-F5344CB8AC3E}">
        <p14:creationId xmlns:p14="http://schemas.microsoft.com/office/powerpoint/2010/main" val="405172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11150" y="2606675"/>
            <a:ext cx="19935871" cy="7162800"/>
          </a:xfrm>
          <a:prstGeom prst="rect">
            <a:avLst/>
          </a:prstGeom>
        </p:spPr>
      </p:pic>
    </p:spTree>
    <p:extLst>
      <p:ext uri="{BB962C8B-B14F-4D97-AF65-F5344CB8AC3E}">
        <p14:creationId xmlns:p14="http://schemas.microsoft.com/office/powerpoint/2010/main" val="1292339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t="-5516" r="14169"/>
          <a:stretch/>
        </p:blipFill>
        <p:spPr>
          <a:xfrm>
            <a:off x="527050" y="1997075"/>
            <a:ext cx="11851764" cy="1905000"/>
          </a:xfrm>
          <a:prstGeom prst="rect">
            <a:avLst/>
          </a:prstGeom>
        </p:spPr>
      </p:pic>
      <p:pic>
        <p:nvPicPr>
          <p:cNvPr id="3" name="Imagen 2"/>
          <p:cNvPicPr>
            <a:picLocks noChangeAspect="1"/>
          </p:cNvPicPr>
          <p:nvPr/>
        </p:nvPicPr>
        <p:blipFill>
          <a:blip r:embed="rId3"/>
          <a:stretch>
            <a:fillRect/>
          </a:stretch>
        </p:blipFill>
        <p:spPr>
          <a:xfrm>
            <a:off x="2355850" y="4206875"/>
            <a:ext cx="6181229" cy="6181229"/>
          </a:xfrm>
          <a:prstGeom prst="rect">
            <a:avLst/>
          </a:prstGeom>
        </p:spPr>
      </p:pic>
    </p:spTree>
    <p:extLst>
      <p:ext uri="{BB962C8B-B14F-4D97-AF65-F5344CB8AC3E}">
        <p14:creationId xmlns:p14="http://schemas.microsoft.com/office/powerpoint/2010/main" val="1510092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58C7C993-E3B8-4312-970A-52162783CD2B}"/>
              </a:ext>
            </a:extLst>
          </p:cNvPr>
          <p:cNvSpPr/>
          <p:nvPr/>
        </p:nvSpPr>
        <p:spPr>
          <a:xfrm>
            <a:off x="5137006" y="777875"/>
            <a:ext cx="6974278" cy="707886"/>
          </a:xfrm>
          <a:prstGeom prst="rect">
            <a:avLst/>
          </a:prstGeom>
        </p:spPr>
        <p:txBody>
          <a:bodyPr wrap="square">
            <a:spAutoFit/>
          </a:bodyPr>
          <a:lstStyle/>
          <a:p>
            <a:pPr algn="ctr"/>
            <a:r>
              <a:rPr lang="es-CO" sz="4000" b="1" dirty="0" smtClean="0">
                <a:ln w="22225">
                  <a:solidFill>
                    <a:schemeClr val="bg1"/>
                  </a:solidFill>
                  <a:prstDash val="solid"/>
                </a:ln>
                <a:solidFill>
                  <a:schemeClr val="bg1"/>
                </a:solidFill>
              </a:rPr>
              <a:t>ACTIVIDAD DE PRACTICA</a:t>
            </a:r>
            <a:endParaRPr lang="es-CO" sz="4000" b="1" dirty="0">
              <a:ln w="22225">
                <a:solidFill>
                  <a:schemeClr val="bg1"/>
                </a:solidFill>
                <a:prstDash val="solid"/>
              </a:ln>
              <a:solidFill>
                <a:schemeClr val="bg1"/>
              </a:solidFill>
            </a:endParaRPr>
          </a:p>
        </p:txBody>
      </p:sp>
      <mc:AlternateContent xmlns:mc="http://schemas.openxmlformats.org/markup-compatibility/2006">
        <mc:Choice xmlns:a14="http://schemas.microsoft.com/office/drawing/2010/main" Requires="a14">
          <p:sp>
            <p:nvSpPr>
              <p:cNvPr id="5" name="Rectángulo 4"/>
              <p:cNvSpPr/>
              <p:nvPr/>
            </p:nvSpPr>
            <p:spPr>
              <a:xfrm>
                <a:off x="1372347" y="1926358"/>
                <a:ext cx="16477032" cy="3742371"/>
              </a:xfrm>
              <a:prstGeom prst="rect">
                <a:avLst/>
              </a:prstGeom>
            </p:spPr>
            <p:txBody>
              <a:bodyPr wrap="square">
                <a:spAutoFit/>
              </a:bodyPr>
              <a:lstStyle/>
              <a:p>
                <a:r>
                  <a:rPr lang="es-CO" sz="3200" dirty="0" smtClean="0"/>
                  <a:t>1. Completa el cuadrado en x y </a:t>
                </a:r>
                <a:r>
                  <a:rPr lang="es-CO" sz="3200" dirty="0" err="1" smtClean="0"/>
                  <a:t>y</a:t>
                </a:r>
                <a:r>
                  <a:rPr lang="es-CO" sz="3200" dirty="0" smtClean="0"/>
                  <a:t> para determinar el centro y el radio de cada círculo.</a:t>
                </a:r>
              </a:p>
              <a:p>
                <a:endParaRPr lang="es-CO" sz="3200" dirty="0"/>
              </a:p>
              <a:p>
                <a:pPr marL="514350" indent="-514350">
                  <a:buAutoNum type="alphaLcPeriod"/>
                </a:pPr>
                <a14:m>
                  <m:oMath xmlns:m="http://schemas.openxmlformats.org/officeDocument/2006/math">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𝑥</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m:t>
                    </m:r>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𝑦</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+8</m:t>
                    </m:r>
                    <m:r>
                      <a:rPr lang="es-ES" sz="3200" b="0" i="1" smtClean="0">
                        <a:latin typeface="Cambria Math" panose="02040503050406030204" pitchFamily="18" charset="0"/>
                      </a:rPr>
                      <m:t>𝑦</m:t>
                    </m:r>
                    <m:r>
                      <a:rPr lang="es-ES" sz="3200" b="0" i="1" smtClean="0">
                        <a:latin typeface="Cambria Math" panose="02040503050406030204" pitchFamily="18" charset="0"/>
                      </a:rPr>
                      <m:t>=0</m:t>
                    </m:r>
                  </m:oMath>
                </a14:m>
                <a:endParaRPr lang="es-ES" sz="3200" b="0" dirty="0" smtClean="0"/>
              </a:p>
              <a:p>
                <a:pPr marL="514350" indent="-514350">
                  <a:buAutoNum type="alphaLcPeriod"/>
                </a:pPr>
                <a14:m>
                  <m:oMath xmlns:m="http://schemas.openxmlformats.org/officeDocument/2006/math">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𝑥</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m:t>
                    </m:r>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𝑦</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−20</m:t>
                    </m:r>
                    <m:r>
                      <a:rPr lang="es-ES" sz="3200" b="0" i="1" smtClean="0">
                        <a:latin typeface="Cambria Math" panose="02040503050406030204" pitchFamily="18" charset="0"/>
                      </a:rPr>
                      <m:t>𝑥</m:t>
                    </m:r>
                    <m:r>
                      <a:rPr lang="es-ES" sz="3200" b="0" i="1" smtClean="0">
                        <a:latin typeface="Cambria Math" panose="02040503050406030204" pitchFamily="18" charset="0"/>
                      </a:rPr>
                      <m:t>+16</m:t>
                    </m:r>
                    <m:r>
                      <a:rPr lang="es-ES" sz="3200" b="0" i="1" smtClean="0">
                        <a:latin typeface="Cambria Math" panose="02040503050406030204" pitchFamily="18" charset="0"/>
                      </a:rPr>
                      <m:t>𝑦</m:t>
                    </m:r>
                    <m:r>
                      <a:rPr lang="es-ES" sz="3200" b="0" i="1" smtClean="0">
                        <a:latin typeface="Cambria Math" panose="02040503050406030204" pitchFamily="18" charset="0"/>
                      </a:rPr>
                      <m:t>+128=0</m:t>
                    </m:r>
                  </m:oMath>
                </a14:m>
                <a:endParaRPr lang="es-ES" sz="3200" b="0" dirty="0" smtClean="0"/>
              </a:p>
              <a:p>
                <a:pPr marL="514350" indent="-514350">
                  <a:buAutoNum type="alphaLcPeriod"/>
                </a:pPr>
                <a14:m>
                  <m:oMath xmlns:m="http://schemas.openxmlformats.org/officeDocument/2006/math">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𝑥</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m:t>
                    </m:r>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𝑦</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−6</m:t>
                    </m:r>
                    <m:r>
                      <a:rPr lang="es-ES" sz="3200" b="0" i="1" smtClean="0">
                        <a:latin typeface="Cambria Math" panose="02040503050406030204" pitchFamily="18" charset="0"/>
                      </a:rPr>
                      <m:t>𝑥</m:t>
                    </m:r>
                    <m:r>
                      <a:rPr lang="es-ES" sz="3200" b="0" i="1" smtClean="0">
                        <a:latin typeface="Cambria Math" panose="02040503050406030204" pitchFamily="18" charset="0"/>
                      </a:rPr>
                      <m:t>=0</m:t>
                    </m:r>
                  </m:oMath>
                </a14:m>
                <a:endParaRPr lang="es-ES" sz="3200" b="0" dirty="0" smtClean="0"/>
              </a:p>
              <a:p>
                <a:pPr marL="514350" indent="-514350">
                  <a:buAutoNum type="alphaLcPeriod"/>
                </a:pPr>
                <a14:m>
                  <m:oMath xmlns:m="http://schemas.openxmlformats.org/officeDocument/2006/math">
                    <m:r>
                      <a:rPr lang="es-ES" sz="3200" b="0" i="1" smtClean="0">
                        <a:latin typeface="Cambria Math" panose="02040503050406030204" pitchFamily="18" charset="0"/>
                      </a:rPr>
                      <m:t>2</m:t>
                    </m:r>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𝑥</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+2</m:t>
                    </m:r>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𝑦</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+4</m:t>
                    </m:r>
                    <m:r>
                      <a:rPr lang="es-ES" sz="3200" b="0" i="1" smtClean="0">
                        <a:latin typeface="Cambria Math" panose="02040503050406030204" pitchFamily="18" charset="0"/>
                      </a:rPr>
                      <m:t>𝑥</m:t>
                    </m:r>
                    <m:r>
                      <a:rPr lang="es-ES" sz="3200" b="0" i="1" smtClean="0">
                        <a:latin typeface="Cambria Math" panose="02040503050406030204" pitchFamily="18" charset="0"/>
                      </a:rPr>
                      <m:t>+16</m:t>
                    </m:r>
                    <m:r>
                      <a:rPr lang="es-ES" sz="3200" b="0" i="1" smtClean="0">
                        <a:latin typeface="Cambria Math" panose="02040503050406030204" pitchFamily="18" charset="0"/>
                      </a:rPr>
                      <m:t>𝑦</m:t>
                    </m:r>
                    <m:r>
                      <a:rPr lang="es-ES" sz="3200" b="0" i="1" smtClean="0">
                        <a:latin typeface="Cambria Math" panose="02040503050406030204" pitchFamily="18" charset="0"/>
                      </a:rPr>
                      <m:t>+1=0</m:t>
                    </m:r>
                  </m:oMath>
                </a14:m>
                <a:endParaRPr lang="es-ES" sz="3200" b="0" dirty="0" smtClean="0"/>
              </a:p>
              <a:p>
                <a:pPr marL="514350" indent="-514350">
                  <a:buAutoNum type="alphaLcPeriod"/>
                </a:pPr>
                <a14:m>
                  <m:oMath xmlns:m="http://schemas.openxmlformats.org/officeDocument/2006/math">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1</m:t>
                        </m:r>
                      </m:num>
                      <m:den>
                        <m:r>
                          <a:rPr lang="es-ES" sz="3200" b="0" i="1" smtClean="0">
                            <a:latin typeface="Cambria Math" panose="02040503050406030204" pitchFamily="18" charset="0"/>
                          </a:rPr>
                          <m:t>2</m:t>
                        </m:r>
                      </m:den>
                    </m:f>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𝑥</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1</m:t>
                        </m:r>
                      </m:num>
                      <m:den>
                        <m:r>
                          <a:rPr lang="es-ES" sz="3200" b="0" i="1" smtClean="0">
                            <a:latin typeface="Cambria Math" panose="02040503050406030204" pitchFamily="18" charset="0"/>
                          </a:rPr>
                          <m:t>2</m:t>
                        </m:r>
                      </m:den>
                    </m:f>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𝑦</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3</m:t>
                        </m:r>
                      </m:num>
                      <m:den>
                        <m:r>
                          <a:rPr lang="es-ES" sz="3200" b="0" i="1" smtClean="0">
                            <a:latin typeface="Cambria Math" panose="02040503050406030204" pitchFamily="18" charset="0"/>
                          </a:rPr>
                          <m:t>2</m:t>
                        </m:r>
                      </m:den>
                    </m:f>
                    <m:r>
                      <a:rPr lang="es-ES" sz="3200" b="0" i="1" smtClean="0">
                        <a:latin typeface="Cambria Math" panose="02040503050406030204" pitchFamily="18" charset="0"/>
                      </a:rPr>
                      <m:t>𝑥</m:t>
                    </m:r>
                    <m:r>
                      <a:rPr lang="es-ES" sz="3200" b="0" i="1" smtClean="0">
                        <a:latin typeface="Cambria Math" panose="02040503050406030204" pitchFamily="18" charset="0"/>
                      </a:rPr>
                      <m:t>+10</m:t>
                    </m:r>
                    <m:r>
                      <a:rPr lang="es-ES" sz="3200" b="0" i="1" smtClean="0">
                        <a:latin typeface="Cambria Math" panose="02040503050406030204" pitchFamily="18" charset="0"/>
                      </a:rPr>
                      <m:t>𝑦</m:t>
                    </m:r>
                    <m:r>
                      <a:rPr lang="es-ES" sz="3200" b="0" i="1" smtClean="0">
                        <a:latin typeface="Cambria Math" panose="02040503050406030204" pitchFamily="18" charset="0"/>
                      </a:rPr>
                      <m:t>+5=0</m:t>
                    </m:r>
                  </m:oMath>
                </a14:m>
                <a:endParaRPr lang="es-419" sz="3200" dirty="0"/>
              </a:p>
            </p:txBody>
          </p:sp>
        </mc:Choice>
        <mc:Fallback>
          <p:sp>
            <p:nvSpPr>
              <p:cNvPr id="5" name="Rectángulo 4"/>
              <p:cNvSpPr>
                <a:spLocks noRot="1" noChangeAspect="1" noMove="1" noResize="1" noEditPoints="1" noAdjustHandles="1" noChangeArrowheads="1" noChangeShapeType="1" noTextEdit="1"/>
              </p:cNvSpPr>
              <p:nvPr/>
            </p:nvSpPr>
            <p:spPr>
              <a:xfrm>
                <a:off x="1372347" y="1926358"/>
                <a:ext cx="16477032" cy="3742371"/>
              </a:xfrm>
              <a:prstGeom prst="rect">
                <a:avLst/>
              </a:prstGeom>
              <a:blipFill>
                <a:blip r:embed="rId2"/>
                <a:stretch>
                  <a:fillRect l="-925" t="-2117"/>
                </a:stretch>
              </a:blipFill>
            </p:spPr>
            <p:txBody>
              <a:bodyPr/>
              <a:lstStyle/>
              <a:p>
                <a:r>
                  <a:rPr lang="es-419">
                    <a:noFill/>
                  </a:rPr>
                  <a:t> </a:t>
                </a:r>
              </a:p>
            </p:txBody>
          </p:sp>
        </mc:Fallback>
      </mc:AlternateContent>
      <mc:AlternateContent xmlns:mc="http://schemas.openxmlformats.org/markup-compatibility/2006">
        <mc:Choice xmlns:a14="http://schemas.microsoft.com/office/drawing/2010/main" Requires="a14">
          <p:sp>
            <p:nvSpPr>
              <p:cNvPr id="6" name="Rectángulo 5"/>
              <p:cNvSpPr/>
              <p:nvPr/>
            </p:nvSpPr>
            <p:spPr>
              <a:xfrm>
                <a:off x="1291894" y="7178675"/>
                <a:ext cx="16477032" cy="3046988"/>
              </a:xfrm>
              <a:prstGeom prst="rect">
                <a:avLst/>
              </a:prstGeom>
            </p:spPr>
            <p:txBody>
              <a:bodyPr wrap="square">
                <a:spAutoFit/>
              </a:bodyPr>
              <a:lstStyle/>
              <a:p>
                <a:r>
                  <a:rPr lang="es-CO" sz="3200" dirty="0" smtClean="0"/>
                  <a:t>2. Deduzca la ecuación del círculo que satisfaga las condiciones indicadas.</a:t>
                </a:r>
              </a:p>
              <a:p>
                <a:endParaRPr lang="es-CO" sz="3200" dirty="0"/>
              </a:p>
              <a:p>
                <a:pPr marL="514350" indent="-514350">
                  <a:buAutoNum type="alphaLcPeriod"/>
                </a:pPr>
                <a:r>
                  <a:rPr lang="es-ES" sz="3200" b="0" dirty="0" smtClean="0"/>
                  <a:t>Centro </a:t>
                </a:r>
                <a14:m>
                  <m:oMath xmlns:m="http://schemas.openxmlformats.org/officeDocument/2006/math">
                    <m:r>
                      <a:rPr lang="es-ES" sz="3200" b="0" i="1" smtClean="0">
                        <a:latin typeface="Cambria Math" panose="02040503050406030204" pitchFamily="18" charset="0"/>
                      </a:rPr>
                      <m:t>(0.0)</m:t>
                    </m:r>
                  </m:oMath>
                </a14:m>
                <a:r>
                  <a:rPr lang="es-ES" sz="3200" b="0" dirty="0" smtClean="0"/>
                  <a:t>, radio 1</a:t>
                </a:r>
              </a:p>
              <a:p>
                <a:pPr marL="514350" indent="-514350">
                  <a:buAutoNum type="alphaLcPeriod"/>
                </a:pPr>
                <a:r>
                  <a:rPr lang="es-ES" sz="3200" dirty="0" smtClean="0"/>
                  <a:t>Extremos de diámetro en (-1,4) y (3,8) </a:t>
                </a:r>
              </a:p>
              <a:p>
                <a:pPr marL="514350" indent="-514350">
                  <a:buAutoNum type="alphaLcPeriod"/>
                </a:pPr>
                <a:r>
                  <a:rPr lang="es-ES" sz="3200" b="0" dirty="0" smtClean="0"/>
                  <a:t>Centro (0,0); la grafica pasa por (-1,-2) </a:t>
                </a:r>
              </a:p>
              <a:p>
                <a:pPr marL="514350" indent="-514350">
                  <a:buAutoNum type="alphaLcPeriod"/>
                </a:pPr>
                <a:r>
                  <a:rPr lang="es-ES" sz="3200" dirty="0" smtClean="0"/>
                  <a:t>Centro (-4,3); la grafica es tangente al eje y </a:t>
                </a:r>
                <a:endParaRPr lang="es-ES" sz="3200" b="0" dirty="0" smtClean="0"/>
              </a:p>
            </p:txBody>
          </p:sp>
        </mc:Choice>
        <mc:Fallback>
          <p:sp>
            <p:nvSpPr>
              <p:cNvPr id="6" name="Rectángulo 5"/>
              <p:cNvSpPr>
                <a:spLocks noRot="1" noChangeAspect="1" noMove="1" noResize="1" noEditPoints="1" noAdjustHandles="1" noChangeArrowheads="1" noChangeShapeType="1" noTextEdit="1"/>
              </p:cNvSpPr>
              <p:nvPr/>
            </p:nvSpPr>
            <p:spPr>
              <a:xfrm>
                <a:off x="1291894" y="7178675"/>
                <a:ext cx="16477032" cy="3046988"/>
              </a:xfrm>
              <a:prstGeom prst="rect">
                <a:avLst/>
              </a:prstGeom>
              <a:blipFill>
                <a:blip r:embed="rId3"/>
                <a:stretch>
                  <a:fillRect l="-962" t="-2605" b="-5812"/>
                </a:stretch>
              </a:blipFill>
            </p:spPr>
            <p:txBody>
              <a:bodyPr/>
              <a:lstStyle/>
              <a:p>
                <a:r>
                  <a:rPr lang="es-419">
                    <a:noFill/>
                  </a:rPr>
                  <a:t> </a:t>
                </a:r>
              </a:p>
            </p:txBody>
          </p:sp>
        </mc:Fallback>
      </mc:AlternateContent>
    </p:spTree>
    <p:extLst>
      <p:ext uri="{BB962C8B-B14F-4D97-AF65-F5344CB8AC3E}">
        <p14:creationId xmlns:p14="http://schemas.microsoft.com/office/powerpoint/2010/main" val="95166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Rectángulo 3"/>
              <p:cNvSpPr/>
              <p:nvPr/>
            </p:nvSpPr>
            <p:spPr>
              <a:xfrm>
                <a:off x="1372347" y="1926358"/>
                <a:ext cx="16477032" cy="6445547"/>
              </a:xfrm>
              <a:prstGeom prst="rect">
                <a:avLst/>
              </a:prstGeom>
            </p:spPr>
            <p:txBody>
              <a:bodyPr wrap="square">
                <a:spAutoFit/>
              </a:bodyPr>
              <a:lstStyle/>
              <a:p>
                <a:r>
                  <a:rPr lang="es-CO" sz="3200" dirty="0" smtClean="0"/>
                  <a:t>3. Trace el conjunto de puntos, en el plano </a:t>
                </a:r>
                <a:r>
                  <a:rPr lang="es-CO" sz="3200" dirty="0" err="1" smtClean="0"/>
                  <a:t>xy</a:t>
                </a:r>
                <a:r>
                  <a:rPr lang="es-CO" sz="3200" dirty="0" smtClean="0"/>
                  <a:t> cuyas coordenadas satisfacen la desigualdad dada</a:t>
                </a:r>
              </a:p>
              <a:p>
                <a:pPr marL="514350" indent="-514350">
                  <a:buAutoNum type="alphaLcPeriod"/>
                </a:pPr>
                <a14:m>
                  <m:oMath xmlns:m="http://schemas.openxmlformats.org/officeDocument/2006/math">
                    <m:sSup>
                      <m:sSupPr>
                        <m:ctrlPr>
                          <a:rPr lang="es-ES" sz="3200" b="0" i="1" smtClean="0">
                            <a:latin typeface="Cambria Math" panose="02040503050406030204" pitchFamily="18" charset="0"/>
                          </a:rPr>
                        </m:ctrlPr>
                      </m:sSupPr>
                      <m:e>
                        <m:d>
                          <m:dPr>
                            <m:ctrlPr>
                              <a:rPr lang="es-ES" sz="3200" b="0" i="1" smtClean="0">
                                <a:latin typeface="Cambria Math" panose="02040503050406030204" pitchFamily="18" charset="0"/>
                              </a:rPr>
                            </m:ctrlPr>
                          </m:dPr>
                          <m:e>
                            <m:r>
                              <a:rPr lang="es-ES" sz="3200" b="0" i="1" smtClean="0">
                                <a:latin typeface="Cambria Math" panose="02040503050406030204" pitchFamily="18" charset="0"/>
                              </a:rPr>
                              <m:t>𝑥</m:t>
                            </m:r>
                            <m:r>
                              <a:rPr lang="es-ES" sz="3200" b="0" i="1" smtClean="0">
                                <a:latin typeface="Cambria Math" panose="02040503050406030204" pitchFamily="18" charset="0"/>
                              </a:rPr>
                              <m:t>−1</m:t>
                            </m:r>
                          </m:e>
                        </m:d>
                      </m:e>
                      <m:sup>
                        <m:r>
                          <a:rPr lang="es-ES" sz="3200" b="0" i="1" smtClean="0">
                            <a:latin typeface="Cambria Math" panose="02040503050406030204" pitchFamily="18" charset="0"/>
                          </a:rPr>
                          <m:t>2</m:t>
                        </m:r>
                      </m:sup>
                    </m:sSup>
                    <m:r>
                      <a:rPr lang="es-ES" sz="3200" b="0" i="1" smtClean="0">
                        <a:latin typeface="Cambria Math" panose="02040503050406030204" pitchFamily="18" charset="0"/>
                      </a:rPr>
                      <m:t>+</m:t>
                    </m:r>
                    <m:sSup>
                      <m:sSupPr>
                        <m:ctrlPr>
                          <a:rPr lang="es-ES" sz="3200" b="0" i="1" smtClean="0">
                            <a:latin typeface="Cambria Math" panose="02040503050406030204" pitchFamily="18" charset="0"/>
                          </a:rPr>
                        </m:ctrlPr>
                      </m:sSupPr>
                      <m:e>
                        <m:d>
                          <m:dPr>
                            <m:ctrlPr>
                              <a:rPr lang="es-ES" sz="3200" b="0" i="1" smtClean="0">
                                <a:latin typeface="Cambria Math" panose="02040503050406030204" pitchFamily="18" charset="0"/>
                              </a:rPr>
                            </m:ctrlPr>
                          </m:dPr>
                          <m:e>
                            <m:r>
                              <a:rPr lang="es-ES" sz="3200" b="0" i="1" smtClean="0">
                                <a:latin typeface="Cambria Math" panose="02040503050406030204" pitchFamily="18" charset="0"/>
                              </a:rPr>
                              <m:t>𝑦</m:t>
                            </m:r>
                            <m:r>
                              <a:rPr lang="es-ES" sz="3200" b="0" i="1" smtClean="0">
                                <a:latin typeface="Cambria Math" panose="02040503050406030204" pitchFamily="18" charset="0"/>
                              </a:rPr>
                              <m:t>+5</m:t>
                            </m:r>
                          </m:e>
                        </m:d>
                      </m:e>
                      <m:sup>
                        <m:r>
                          <a:rPr lang="es-ES" sz="3200" b="0" i="1" smtClean="0">
                            <a:latin typeface="Cambria Math" panose="02040503050406030204" pitchFamily="18" charset="0"/>
                          </a:rPr>
                          <m:t>2</m:t>
                        </m:r>
                      </m:sup>
                    </m:sSup>
                    <m:r>
                      <a:rPr lang="es-ES" sz="3200" b="0" i="1" smtClean="0">
                        <a:latin typeface="Cambria Math" panose="02040503050406030204" pitchFamily="18" charset="0"/>
                      </a:rPr>
                      <m:t>≤25</m:t>
                    </m:r>
                  </m:oMath>
                </a14:m>
                <a:endParaRPr lang="es-ES" sz="3200" b="0" dirty="0" smtClean="0"/>
              </a:p>
              <a:p>
                <a:pPr marL="514350" indent="-514350">
                  <a:buAutoNum type="alphaLcPeriod"/>
                </a:pPr>
                <a14:m>
                  <m:oMath xmlns:m="http://schemas.openxmlformats.org/officeDocument/2006/math">
                    <m:r>
                      <a:rPr lang="es-ES" sz="3200" b="0" i="1" smtClean="0">
                        <a:latin typeface="Cambria Math" panose="02040503050406030204" pitchFamily="18" charset="0"/>
                      </a:rPr>
                      <m:t>1≤</m:t>
                    </m:r>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𝑥</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m:t>
                    </m:r>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𝑦</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≤4</m:t>
                    </m:r>
                  </m:oMath>
                </a14:m>
                <a:endParaRPr lang="es-ES" sz="3200" b="0" dirty="0" smtClean="0"/>
              </a:p>
              <a:p>
                <a:pPr marL="514350" indent="-514350">
                  <a:buAutoNum type="alphaLcPeriod"/>
                </a:pPr>
                <a:endParaRPr lang="es-CO" sz="3200" dirty="0" smtClean="0"/>
              </a:p>
              <a:p>
                <a:r>
                  <a:rPr lang="es-CO" sz="3200" dirty="0" smtClean="0"/>
                  <a:t>4. Determine las intersecciones de gráfica de la ecuación  indicada con los ejes: determine si la gráfica de la ecuación tiene simetrías con respecto al eje x, el eje y o al origen. No trace la gráfica. </a:t>
                </a:r>
              </a:p>
              <a:p>
                <a:pPr marL="514350" indent="-514350">
                  <a:buAutoNum type="alphaLcPeriod"/>
                </a:pPr>
                <a14:m>
                  <m:oMath xmlns:m="http://schemas.openxmlformats.org/officeDocument/2006/math">
                    <m:r>
                      <a:rPr lang="es-ES" sz="3200" b="0" i="1" smtClean="0">
                        <a:latin typeface="Cambria Math" panose="02040503050406030204" pitchFamily="18" charset="0"/>
                      </a:rPr>
                      <m:t>𝑦</m:t>
                    </m:r>
                    <m:r>
                      <a:rPr lang="es-ES" sz="3200" b="0" i="1" smtClean="0">
                        <a:latin typeface="Cambria Math" panose="02040503050406030204" pitchFamily="18" charset="0"/>
                      </a:rPr>
                      <m:t>=</m:t>
                    </m:r>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𝑥</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−4</m:t>
                    </m:r>
                  </m:oMath>
                </a14:m>
                <a:endParaRPr lang="es-ES" sz="3200" b="0" dirty="0" smtClean="0"/>
              </a:p>
              <a:p>
                <a:pPr marL="514350" indent="-514350">
                  <a:buAutoNum type="alphaLcPeriod"/>
                </a:pPr>
                <a14:m>
                  <m:oMath xmlns:m="http://schemas.openxmlformats.org/officeDocument/2006/math">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𝑦</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=16</m:t>
                    </m:r>
                    <m:d>
                      <m:dPr>
                        <m:ctrlPr>
                          <a:rPr lang="es-ES" sz="3200" b="0" i="1" smtClean="0">
                            <a:latin typeface="Cambria Math" panose="02040503050406030204" pitchFamily="18" charset="0"/>
                          </a:rPr>
                        </m:ctrlPr>
                      </m:dPr>
                      <m:e>
                        <m:r>
                          <a:rPr lang="es-ES" sz="3200" b="0" i="1" smtClean="0">
                            <a:latin typeface="Cambria Math" panose="02040503050406030204" pitchFamily="18" charset="0"/>
                          </a:rPr>
                          <m:t>𝑥</m:t>
                        </m:r>
                        <m:r>
                          <a:rPr lang="es-ES" sz="3200" b="0" i="1" smtClean="0">
                            <a:latin typeface="Cambria Math" panose="02040503050406030204" pitchFamily="18" charset="0"/>
                          </a:rPr>
                          <m:t>+4</m:t>
                        </m:r>
                      </m:e>
                    </m:d>
                  </m:oMath>
                </a14:m>
                <a:endParaRPr lang="es-ES" sz="3200" b="0" dirty="0" smtClean="0"/>
              </a:p>
              <a:p>
                <a:pPr marL="514350" indent="-514350">
                  <a:buAutoNum type="alphaLcPeriod"/>
                </a:pPr>
                <a14:m>
                  <m:oMath xmlns:m="http://schemas.openxmlformats.org/officeDocument/2006/math">
                    <m:r>
                      <a:rPr lang="es-ES" sz="3200" b="0" i="1" smtClean="0">
                        <a:latin typeface="Cambria Math" panose="02040503050406030204" pitchFamily="18" charset="0"/>
                      </a:rPr>
                      <m:t>𝑥</m:t>
                    </m:r>
                    <m:r>
                      <a:rPr lang="es-ES" sz="3200" b="0" i="1" smtClean="0">
                        <a:latin typeface="Cambria Math" panose="02040503050406030204" pitchFamily="18" charset="0"/>
                      </a:rPr>
                      <m:t>=−</m:t>
                    </m:r>
                    <m:rad>
                      <m:radPr>
                        <m:degHide m:val="on"/>
                        <m:ctrlPr>
                          <a:rPr lang="es-ES" sz="3200" b="0" i="1" smtClean="0">
                            <a:latin typeface="Cambria Math" panose="02040503050406030204" pitchFamily="18" charset="0"/>
                          </a:rPr>
                        </m:ctrlPr>
                      </m:radPr>
                      <m:deg/>
                      <m:e>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𝑦</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−16</m:t>
                        </m:r>
                      </m:e>
                    </m:rad>
                  </m:oMath>
                </a14:m>
                <a:endParaRPr lang="es-419" sz="3200" dirty="0" smtClean="0"/>
              </a:p>
              <a:p>
                <a:pPr marL="514350" indent="-514350">
                  <a:buAutoNum type="alphaLcPeriod"/>
                </a:pPr>
                <a14:m>
                  <m:oMath xmlns:m="http://schemas.openxmlformats.org/officeDocument/2006/math">
                    <m:r>
                      <a:rPr lang="es-ES" sz="3200" b="0" i="1" smtClean="0">
                        <a:latin typeface="Cambria Math" panose="02040503050406030204" pitchFamily="18" charset="0"/>
                      </a:rPr>
                      <m:t>𝑦</m:t>
                    </m:r>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𝑥</m:t>
                            </m:r>
                          </m:e>
                          <m:sup>
                            <m:r>
                              <a:rPr lang="es-ES" sz="3200" b="0" i="1" smtClean="0">
                                <a:latin typeface="Cambria Math" panose="02040503050406030204" pitchFamily="18" charset="0"/>
                              </a:rPr>
                              <m:t>2</m:t>
                            </m:r>
                          </m:sup>
                        </m:sSup>
                        <m:r>
                          <a:rPr lang="es-ES" sz="3200" b="0" i="1" smtClean="0">
                            <a:latin typeface="Cambria Math" panose="02040503050406030204" pitchFamily="18" charset="0"/>
                          </a:rPr>
                          <m:t>−7</m:t>
                        </m:r>
                      </m:num>
                      <m:den>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𝑥</m:t>
                            </m:r>
                          </m:e>
                          <m:sup>
                            <m:r>
                              <a:rPr lang="es-ES" sz="3200" b="0" i="1" smtClean="0">
                                <a:latin typeface="Cambria Math" panose="02040503050406030204" pitchFamily="18" charset="0"/>
                              </a:rPr>
                              <m:t>3</m:t>
                            </m:r>
                          </m:sup>
                        </m:sSup>
                      </m:den>
                    </m:f>
                  </m:oMath>
                </a14:m>
                <a:endParaRPr lang="es-419" sz="3200" dirty="0"/>
              </a:p>
            </p:txBody>
          </p:sp>
        </mc:Choice>
        <mc:Fallback>
          <p:sp>
            <p:nvSpPr>
              <p:cNvPr id="4" name="Rectángulo 3"/>
              <p:cNvSpPr>
                <a:spLocks noRot="1" noChangeAspect="1" noMove="1" noResize="1" noEditPoints="1" noAdjustHandles="1" noChangeArrowheads="1" noChangeShapeType="1" noTextEdit="1"/>
              </p:cNvSpPr>
              <p:nvPr/>
            </p:nvSpPr>
            <p:spPr>
              <a:xfrm>
                <a:off x="1372347" y="1926358"/>
                <a:ext cx="16477032" cy="6445547"/>
              </a:xfrm>
              <a:prstGeom prst="rect">
                <a:avLst/>
              </a:prstGeom>
              <a:blipFill>
                <a:blip r:embed="rId2"/>
                <a:stretch>
                  <a:fillRect l="-925" t="-1230"/>
                </a:stretch>
              </a:blipFill>
            </p:spPr>
            <p:txBody>
              <a:bodyPr/>
              <a:lstStyle/>
              <a:p>
                <a:r>
                  <a:rPr lang="es-419">
                    <a:noFill/>
                  </a:rPr>
                  <a:t> </a:t>
                </a:r>
              </a:p>
            </p:txBody>
          </p:sp>
        </mc:Fallback>
      </mc:AlternateContent>
    </p:spTree>
    <p:extLst>
      <p:ext uri="{BB962C8B-B14F-4D97-AF65-F5344CB8AC3E}">
        <p14:creationId xmlns:p14="http://schemas.microsoft.com/office/powerpoint/2010/main" val="3515280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8a808648-60b0-4918-966f-b210d93cfb0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AFCDE58CE99D8342A8E0214B3B5575A9" ma:contentTypeVersion="11" ma:contentTypeDescription="Crear nuevo documento." ma:contentTypeScope="" ma:versionID="291568386eb012268d74aa0d43a45c1a">
  <xsd:schema xmlns:xsd="http://www.w3.org/2001/XMLSchema" xmlns:xs="http://www.w3.org/2001/XMLSchema" xmlns:p="http://schemas.microsoft.com/office/2006/metadata/properties" xmlns:ns3="8a808648-60b0-4918-966f-b210d93cfb0d" targetNamespace="http://schemas.microsoft.com/office/2006/metadata/properties" ma:root="true" ma:fieldsID="a2bfbbfb6545a576a46cf13cea747d5c" ns3:_="">
    <xsd:import namespace="8a808648-60b0-4918-966f-b210d93cfb0d"/>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808648-60b0-4918-966f-b210d93cfb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8C8323-79AA-45A3-8FB6-9E2E0E00D0DD}">
  <ds:schemaRefs>
    <ds:schemaRef ds:uri="http://schemas.microsoft.com/sharepoint/v3/contenttype/forms"/>
  </ds:schemaRefs>
</ds:datastoreItem>
</file>

<file path=customXml/itemProps2.xml><?xml version="1.0" encoding="utf-8"?>
<ds:datastoreItem xmlns:ds="http://schemas.openxmlformats.org/officeDocument/2006/customXml" ds:itemID="{AA327D51-DC68-401A-A781-7AE13751AD86}">
  <ds:schemaRefs>
    <ds:schemaRef ds:uri="http://schemas.microsoft.com/office/2006/documentManagement/types"/>
    <ds:schemaRef ds:uri="http://purl.org/dc/elements/1.1/"/>
    <ds:schemaRef ds:uri="http://purl.org/dc/terms/"/>
    <ds:schemaRef ds:uri="http://schemas.microsoft.com/office/2006/metadata/properties"/>
    <ds:schemaRef ds:uri="http://schemas.microsoft.com/office/infopath/2007/PartnerControls"/>
    <ds:schemaRef ds:uri="8a808648-60b0-4918-966f-b210d93cfb0d"/>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0B3644BD-7B65-43D5-AA9A-9EE54A54B5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a808648-60b0-4918-966f-b210d93cfb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906</TotalTime>
  <Words>1227</Words>
  <Application>Microsoft Office PowerPoint</Application>
  <PresentationFormat>Personalizado</PresentationFormat>
  <Paragraphs>81</Paragraphs>
  <Slides>15</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15</vt:i4>
      </vt:variant>
    </vt:vector>
  </HeadingPairs>
  <TitlesOfParts>
    <vt:vector size="22" baseType="lpstr">
      <vt:lpstr>Cambria Math</vt:lpstr>
      <vt:lpstr>Georgia</vt:lpstr>
      <vt:lpstr>Roboto</vt:lpstr>
      <vt:lpstr>Rockwell Extra Bold</vt:lpstr>
      <vt:lpstr>Sitka Text</vt:lpstr>
      <vt:lpstr>Times-Roman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OTROS recursos pptx</dc:title>
  <dc:creator>Maira Alejandra Palacios Arce</dc:creator>
  <cp:lastModifiedBy>Maira Alejandra Palacios Arce</cp:lastModifiedBy>
  <cp:revision>69</cp:revision>
  <dcterms:created xsi:type="dcterms:W3CDTF">2024-11-07T16:52:39Z</dcterms:created>
  <dcterms:modified xsi:type="dcterms:W3CDTF">2025-07-10T21:00:58Z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2024-11-07T00:00:00Z</vt:filetime>
  </property>
  <property fmtid="{D5CDD505-2E9C-101B-9397-08002B2CF9AE}" pid="3" name="Creator">
    <vt:lpwstr>Adobe Illustrator 29.0 (Macintosh)</vt:lpwstr>
  </property>
  <property fmtid="{D5CDD505-2E9C-101B-9397-08002B2CF9AE}" pid="4" name="CreatorVersion">
    <vt:lpwstr>21.0.0</vt:lpwstr>
  </property>
  <property fmtid="{D5CDD505-2E9C-101B-9397-08002B2CF9AE}" pid="5" name="LastSaved">
    <vt:filetime>2024-11-07T00:00:00Z</vt:filetime>
  </property>
  <property fmtid="{D5CDD505-2E9C-101B-9397-08002B2CF9AE}" pid="6" name="Producer">
    <vt:lpwstr>Adobe PDF library 17.00</vt:lpwstr>
  </property>
  <property fmtid="{D5CDD505-2E9C-101B-9397-08002B2CF9AE}" pid="7" name="ContentTypeId">
    <vt:lpwstr>0x010100AFCDE58CE99D8342A8E0214B3B5575A9</vt:lpwstr>
  </property>
</Properties>
</file>
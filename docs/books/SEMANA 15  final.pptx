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64" r:id="rId5"/>
    <p:sldId id="296" r:id="rId6"/>
    <p:sldId id="297" r:id="rId7"/>
    <p:sldId id="299" r:id="rId8"/>
    <p:sldId id="300" r:id="rId9"/>
    <p:sldId id="324" r:id="rId10"/>
    <p:sldId id="301" r:id="rId11"/>
    <p:sldId id="303" r:id="rId12"/>
    <p:sldId id="304" r:id="rId13"/>
    <p:sldId id="305" r:id="rId14"/>
    <p:sldId id="306" r:id="rId15"/>
    <p:sldId id="307" r:id="rId16"/>
    <p:sldId id="308" r:id="rId17"/>
    <p:sldId id="309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6"/>
    <p:restoredTop sz="94709"/>
  </p:normalViewPr>
  <p:slideViewPr>
    <p:cSldViewPr>
      <p:cViewPr varScale="1">
        <p:scale>
          <a:sx n="36" d="100"/>
          <a:sy n="36" d="100"/>
        </p:scale>
        <p:origin x="1052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C5E482D-F719-B93C-146E-075116A55649}"/>
              </a:ext>
            </a:extLst>
          </p:cNvPr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EBD430-8494-9D92-E55A-A006C2237126}"/>
              </a:ext>
            </a:extLst>
          </p:cNvPr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513013" y="3573549"/>
            <a:ext cx="15078075" cy="2214639"/>
          </a:xfrm>
        </p:spPr>
        <p:txBody>
          <a:bodyPr anchor="b">
            <a:noAutofit/>
          </a:bodyPr>
          <a:lstStyle>
            <a:lvl1pPr algn="ctr">
              <a:defRPr sz="8245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513013" y="5940028"/>
            <a:ext cx="15078075" cy="2446449"/>
          </a:xfrm>
        </p:spPr>
        <p:txBody>
          <a:bodyPr>
            <a:normAutofit/>
          </a:bodyPr>
          <a:lstStyle>
            <a:lvl1pPr marL="0" indent="0" algn="ctr">
              <a:buNone/>
              <a:defRPr sz="412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9425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371686" y="1869698"/>
            <a:ext cx="17339786" cy="2227894"/>
          </a:xfrm>
        </p:spPr>
        <p:txBody>
          <a:bodyPr anchor="b">
            <a:normAutofit/>
          </a:bodyPr>
          <a:lstStyle>
            <a:lvl1pPr>
              <a:defRPr sz="6596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1371686" y="4327057"/>
            <a:ext cx="17339786" cy="5621893"/>
          </a:xfrm>
        </p:spPr>
        <p:txBody>
          <a:bodyPr/>
          <a:lstStyle>
            <a:lvl1pPr marL="0" indent="0">
              <a:buNone/>
              <a:defRPr sz="3958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828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  <p:sldLayoutId id="2147483671" r:id="rId11"/>
    <p:sldLayoutId id="2147483672" r:id="rId1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6" Type="http://schemas.microsoft.com/office/2007/relationships/hdphoto" Target="../media/hdphoto4.wdp"/><Relationship Id="rId5" Type="http://schemas.openxmlformats.org/officeDocument/2006/relationships/image" Target="../media/image14.png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E56C6D1-0E3F-0C43-BB0F-988973017F01}"/>
              </a:ext>
            </a:extLst>
          </p:cNvPr>
          <p:cNvSpPr txBox="1"/>
          <p:nvPr/>
        </p:nvSpPr>
        <p:spPr>
          <a:xfrm>
            <a:off x="1822450" y="2835275"/>
            <a:ext cx="16078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Matemáticas Fundamentales</a:t>
            </a: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r>
              <a:rPr lang="es-CO" sz="6000" b="1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Semana 15: </a:t>
            </a:r>
            <a:r>
              <a:rPr lang="es-CO" sz="6000" b="1" dirty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Aplicaciones y ecuaciones de las funciones exponenciales y logarítmicas.</a:t>
            </a:r>
            <a:endParaRPr lang="es-MX" sz="3600" b="1" dirty="0">
              <a:solidFill>
                <a:srgbClr val="FF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2192920" y="2952968"/>
            <a:ext cx="16175173" cy="10057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5936" dirty="0"/>
              <a:t>FUNCIONES EXPONNCIALES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071645" y="1972634"/>
            <a:ext cx="12799315" cy="904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5277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DEFINICIÓN DE LOGARITMOS </a:t>
            </a:r>
            <a:endParaRPr lang="en-US" sz="5277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53562" y="3145766"/>
            <a:ext cx="11003141" cy="2480038"/>
          </a:xfrm>
          <a:prstGeom prst="rect">
            <a:avLst/>
          </a:prstGeom>
          <a:ln w="38100" cap="sq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1304" y="5963349"/>
            <a:ext cx="10173667" cy="4694009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5207" y="7547857"/>
            <a:ext cx="6582991" cy="118378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7899" y="9059645"/>
            <a:ext cx="6780299" cy="127038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3825612" y="6419586"/>
            <a:ext cx="3457998" cy="904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277" b="1" dirty="0">
                <a:solidFill>
                  <a:srgbClr val="FF0000"/>
                </a:solidFill>
              </a:rPr>
              <a:t>Actividad:</a:t>
            </a:r>
            <a:endParaRPr lang="en-US" sz="5277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33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292683" y="2213374"/>
            <a:ext cx="12712087" cy="8028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MX" sz="4617" dirty="0"/>
              <a:t>PROPIEDADES DE LOS LOGARITMOS</a:t>
            </a:r>
            <a:endParaRPr lang="en-US" sz="4617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535" y="3331622"/>
            <a:ext cx="9909275" cy="321645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t="34456"/>
          <a:stretch/>
        </p:blipFill>
        <p:spPr>
          <a:xfrm>
            <a:off x="800981" y="7656615"/>
            <a:ext cx="12595303" cy="1463116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38663" y="6803554"/>
            <a:ext cx="4528256" cy="3678292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4265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32346" y="3128191"/>
            <a:ext cx="10419449" cy="34995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6097520" y="2163921"/>
            <a:ext cx="8743865" cy="904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MX" sz="5277" dirty="0"/>
              <a:t>LEYES DE LOGARITMOS</a:t>
            </a:r>
            <a:endParaRPr lang="en-US" sz="527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416040" y="6857866"/>
                <a:ext cx="7717420" cy="3238964"/>
              </a:xfrm>
              <a:prstGeom prst="rect">
                <a:avLst/>
              </a:prstGeom>
              <a:ln w="190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753923" indent="-753923">
                  <a:buFont typeface="+mj-lt"/>
                  <a:buAutoNum type="arabicPeriod"/>
                </a:pPr>
                <a:r>
                  <a:rPr lang="es-MX" sz="3298" dirty="0"/>
                  <a:t>Evalúe los siguientes logaritmos:</a:t>
                </a:r>
              </a:p>
              <a:p>
                <a:endParaRPr lang="es-MX" sz="3298" dirty="0"/>
              </a:p>
              <a:p>
                <a:pPr marL="565442" indent="-56544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MX" sz="3298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s-MX" sz="3298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sz="3298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MX" sz="3298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3298" i="1">
                            <a:latin typeface="Cambria Math" panose="02040503050406030204" pitchFamily="18" charset="0"/>
                          </a:rPr>
                          <m:t>6</m:t>
                        </m:r>
                      </m:fName>
                      <m:e>
                        <m:r>
                          <a:rPr lang="es-MX" sz="3298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s-MX" sz="3298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MX" sz="3298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 sz="3298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MX" sz="3298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s-MX" sz="3298" i="1">
                                <a:latin typeface="Cambria Math" panose="02040503050406030204" pitchFamily="18" charset="0"/>
                              </a:rPr>
                              <m:t>15+</m:t>
                            </m:r>
                            <m:func>
                              <m:funcPr>
                                <m:ctrlPr>
                                  <a:rPr lang="es-MX" sz="3298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s-MX" sz="3298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3298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s-MX" sz="3298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s-MX" sz="3298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func>
                          </m:e>
                        </m:func>
                        <m:r>
                          <a:rPr lang="es-ES" sz="3298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endParaRPr lang="en-US" sz="3298" dirty="0"/>
              </a:p>
              <a:p>
                <a:endParaRPr lang="en-US" sz="3298" dirty="0"/>
              </a:p>
              <a:p>
                <a:pPr marL="565442" indent="-56544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3298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98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98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MX" sz="3298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US" sz="3298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3298" i="1" dirty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sup>
                            <m:r>
                              <a:rPr lang="es-MX" sz="3298" i="1" dirty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sup>
                        </m:sSup>
                        <m:r>
                          <a:rPr lang="es-ES" sz="3298" i="1" dirty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endParaRPr lang="en-US" sz="3958" dirty="0"/>
              </a:p>
              <a:p>
                <a:pPr marL="565442" indent="-565442">
                  <a:buFont typeface="Arial" panose="020B0604020202020204" pitchFamily="34" charset="0"/>
                  <a:buChar char="•"/>
                </a:pPr>
                <a:endParaRPr lang="en-US" sz="3958" dirty="0"/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40" y="6857866"/>
                <a:ext cx="7717420" cy="3238964"/>
              </a:xfrm>
              <a:prstGeom prst="rect">
                <a:avLst/>
              </a:prstGeom>
              <a:blipFill>
                <a:blip r:embed="rId3"/>
                <a:stretch>
                  <a:fillRect l="-2128" t="-2809"/>
                </a:stretch>
              </a:blipFill>
              <a:ln w="19050"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8611898" y="6992598"/>
                <a:ext cx="11250562" cy="2240422"/>
              </a:xfrm>
              <a:prstGeom prst="rect">
                <a:avLst/>
              </a:prstGeom>
              <a:ln w="190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dirty="0"/>
                  <a:t>2. Use las leyes de los logaritmos para combinar cada expresión:</a:t>
                </a:r>
              </a:p>
              <a:p>
                <a:pPr marL="565442" indent="-56544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  <m:r>
                          <a:rPr lang="es-MX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fName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pPr marL="565442" indent="-56544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MX" sz="2638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MX" sz="2638" i="1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s-MX" sz="2638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sz="2638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MX" sz="2638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638" i="1">
                            <a:latin typeface="Cambria Math" panose="02040503050406030204" pitchFamily="18" charset="0"/>
                          </a:rPr>
                          <m:t>𝑥</m:t>
                        </m:r>
                      </m:fName>
                      <m:e>
                        <m:r>
                          <a:rPr lang="es-MX" sz="2638" i="1">
                            <a:latin typeface="Cambria Math" panose="02040503050406030204" pitchFamily="18" charset="0"/>
                          </a:rPr>
                          <m:t>−</m:t>
                        </m:r>
                        <m:box>
                          <m:boxPr>
                            <m:ctrlPr>
                              <a:rPr lang="es-MX" sz="2638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s-MX" sz="2638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MX" sz="2638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MX" sz="2638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box>
                        <m:func>
                          <m:funcPr>
                            <m:ctrlPr>
                              <a:rPr lang="es-MX" sz="2638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MX" sz="2638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 sz="2638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MX" sz="2638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s-MX" sz="2638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s-MX" sz="2638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638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2638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2638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s-MX" sz="2638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func>
                              <m:funcPr>
                                <m:ctrlPr>
                                  <a:rPr lang="es-MX" sz="2638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s-MX" sz="2638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2638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s-MX" sz="2638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s-MX" sz="2638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2638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638" i="1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s-ES" sz="2638" dirty="0"/>
              </a:p>
              <a:p>
                <a:endParaRPr lang="es-ES" sz="2638" dirty="0"/>
              </a:p>
              <a:p>
                <a:pPr marL="565442" indent="-56544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1898" y="6992598"/>
                <a:ext cx="11250562" cy="2240422"/>
              </a:xfrm>
              <a:prstGeom prst="rect">
                <a:avLst/>
              </a:prstGeom>
              <a:blipFill>
                <a:blip r:embed="rId4"/>
                <a:stretch>
                  <a:fillRect l="-433" t="-1078"/>
                </a:stretch>
              </a:blipFill>
              <a:ln w="19050"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562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6F205F1-CB70-447F-A88C-9E4E4CFC7471}"/>
              </a:ext>
            </a:extLst>
          </p:cNvPr>
          <p:cNvSpPr txBox="1"/>
          <p:nvPr/>
        </p:nvSpPr>
        <p:spPr>
          <a:xfrm>
            <a:off x="-1427571" y="2332146"/>
            <a:ext cx="20071785" cy="904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5277" dirty="0"/>
              <a:t>ECUACIONES EXPONENCIALES Y LOGARÍTMICAS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6A2CF82-C652-4566-95C9-4AD850621737}"/>
                  </a:ext>
                </a:extLst>
              </p:cNvPr>
              <p:cNvSpPr txBox="1"/>
              <p:nvPr/>
            </p:nvSpPr>
            <p:spPr>
              <a:xfrm>
                <a:off x="1564936" y="3523446"/>
                <a:ext cx="9873240" cy="3239156"/>
              </a:xfrm>
              <a:prstGeom prst="rect">
                <a:avLst/>
              </a:prstGeom>
              <a:ln w="190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565442" indent="-565442">
                  <a:buFont typeface="+mj-lt"/>
                  <a:buAutoNum type="arabicPeriod"/>
                </a:pPr>
                <a:r>
                  <a:rPr lang="es-ES" sz="3958" dirty="0"/>
                  <a:t> </a:t>
                </a:r>
                <a14:m>
                  <m:oMath xmlns:m="http://schemas.openxmlformats.org/officeDocument/2006/math">
                    <m:r>
                      <a:rPr lang="es-ES" sz="3958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CO" sz="3958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3958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CO" sz="3958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s-CO" sz="3958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3958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3958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CO" sz="3958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s-CO" sz="3958" dirty="0">
                    <a:latin typeface="+mj-lt"/>
                  </a:rPr>
                  <a:t> si y sólo si </a:t>
                </a:r>
                <a14:m>
                  <m:oMath xmlns:m="http://schemas.openxmlformats.org/officeDocument/2006/math">
                    <m:r>
                      <a:rPr lang="es-CO" sz="3958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3958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3958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sz="3958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s-CO" sz="3958" i="1" dirty="0">
                    <a:latin typeface="+mj-lt"/>
                  </a:rPr>
                </a:br>
                <a:endParaRPr lang="es-CO" sz="3958" dirty="0">
                  <a:latin typeface="+mj-lt"/>
                </a:endParaRPr>
              </a:p>
              <a:p>
                <a:pPr marL="565442" indent="-565442">
                  <a:buFont typeface="+mj-lt"/>
                  <a:buAutoNum type="arabicPeriod"/>
                </a:pPr>
                <a:r>
                  <a:rPr lang="es-CO" sz="3958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CO" sz="3958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s-CO" sz="3958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3958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CO" sz="3958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s-CO" sz="3958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sz="3958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s-CO" sz="3958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CO" sz="3958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CO" sz="3958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CO" sz="3958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fName>
                          <m:e>
                            <m:r>
                              <a:rPr lang="es-CO" sz="3958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s-CO" sz="3958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func>
                      </m:e>
                    </m:func>
                  </m:oMath>
                </a14:m>
                <a:r>
                  <a:rPr lang="es-CO" sz="3958" dirty="0">
                    <a:latin typeface="+mj-lt"/>
                  </a:rPr>
                  <a:t> si y sólo si </a:t>
                </a:r>
                <a14:m>
                  <m:oMath xmlns:m="http://schemas.openxmlformats.org/officeDocument/2006/math">
                    <m:r>
                      <a:rPr lang="es-CO" sz="3958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3958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3958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O" sz="3958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CO" sz="3958" dirty="0">
                    <a:latin typeface="+mj-lt"/>
                  </a:rPr>
                  <a:t> siempre que </a:t>
                </a:r>
                <a14:m>
                  <m:oMath xmlns:m="http://schemas.openxmlformats.org/officeDocument/2006/math">
                    <m:r>
                      <a:rPr lang="es-CO" sz="3958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3958" i="1">
                        <a:latin typeface="Cambria Math" panose="02040503050406030204" pitchFamily="18" charset="0"/>
                      </a:rPr>
                      <m:t>&gt;0,  </m:t>
                    </m:r>
                    <m:r>
                      <a:rPr lang="es-CO" sz="3958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O" sz="3958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s-CO" sz="3958" dirty="0">
                  <a:latin typeface="+mj-lt"/>
                </a:endParaRPr>
              </a:p>
              <a:p>
                <a:endParaRPr lang="es-CO" sz="4617" dirty="0">
                  <a:latin typeface="+mj-lt"/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6A2CF82-C652-4566-95C9-4AD850621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936" y="3523446"/>
                <a:ext cx="9873240" cy="3239156"/>
              </a:xfrm>
              <a:prstGeom prst="rect">
                <a:avLst/>
              </a:prstGeom>
              <a:blipFill>
                <a:blip r:embed="rId2"/>
                <a:stretch>
                  <a:fillRect l="-2158" t="-3371" r="-1418"/>
                </a:stretch>
              </a:blipFill>
              <a:ln w="19050"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1C3D63-F215-4551-821B-F88B3E1103E5}"/>
                  </a:ext>
                </a:extLst>
              </p:cNvPr>
              <p:cNvSpPr txBox="1"/>
              <p:nvPr/>
            </p:nvSpPr>
            <p:spPr>
              <a:xfrm>
                <a:off x="11613018" y="5545584"/>
                <a:ext cx="7031196" cy="4851328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CO" sz="3298" dirty="0"/>
                  <a:t>Resuelva la ecuación </a:t>
                </a:r>
              </a:p>
              <a:p>
                <a:endParaRPr lang="es-CO" sz="3298" dirty="0"/>
              </a:p>
              <a:p>
                <a:pPr marL="848163" indent="-848163">
                  <a:buFont typeface="+mj-lt"/>
                  <a:buAutoNum type="alphaLcParenR"/>
                </a:pPr>
                <a:r>
                  <a:rPr lang="es-CO" sz="3298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3298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+5</m:t>
                        </m:r>
                      </m:sup>
                    </m:sSup>
                    <m:r>
                      <a:rPr lang="es-CO" sz="3298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3298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s-ES" sz="3298" dirty="0"/>
              </a:p>
              <a:p>
                <a:pPr marL="848163" indent="-848163">
                  <a:buFont typeface="+mj-lt"/>
                  <a:buAutoNum type="alphaLcParenR"/>
                </a:pPr>
                <a:endParaRPr lang="es-ES" sz="3298" dirty="0"/>
              </a:p>
              <a:p>
                <a:pPr marL="848163" indent="-848163">
                  <a:buFont typeface="+mj-lt"/>
                  <a:buAutoNum type="alphaLcParenR"/>
                </a:pPr>
                <a:r>
                  <a:rPr lang="es-CO" sz="3298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CO" sz="3298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s-CO" sz="3298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3298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CO" sz="3298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s-CO" sz="3298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CO" sz="3298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sz="3298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3298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s-CO" sz="3298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func>
                    <m:r>
                      <a:rPr lang="es-ES" sz="3298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sz="3298" i="1" dirty="0">
                  <a:latin typeface="Cambria Math" panose="02040503050406030204" pitchFamily="18" charset="0"/>
                </a:endParaRPr>
              </a:p>
              <a:p>
                <a:pPr marL="848163" indent="-848163">
                  <a:buFont typeface="+mj-lt"/>
                  <a:buAutoNum type="alphaLcParenR"/>
                </a:pPr>
                <a:endParaRPr lang="es-ES" sz="3298" i="1" dirty="0">
                  <a:latin typeface="Cambria Math" panose="02040503050406030204" pitchFamily="18" charset="0"/>
                </a:endParaRPr>
              </a:p>
              <a:p>
                <a:pPr marL="848163" indent="-848163">
                  <a:buFont typeface="+mj-lt"/>
                  <a:buAutoNum type="alphaLcParenR"/>
                </a:pPr>
                <a:r>
                  <a:rPr lang="es-CO" sz="3298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CO" sz="3298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sz="3298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s-CO" sz="3298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s-CO" sz="3298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sz="3298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s-CO" sz="329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3298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CO" sz="3298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s-CO" sz="3298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s-CO" sz="3298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O" sz="3298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s-CO" sz="3298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func>
                      </m:e>
                    </m:func>
                  </m:oMath>
                </a14:m>
                <a:endParaRPr lang="es-CO" sz="3298" dirty="0"/>
              </a:p>
              <a:p>
                <a:endParaRPr lang="es-CO" sz="3298" dirty="0"/>
              </a:p>
              <a:p>
                <a:r>
                  <a:rPr lang="es-CO" sz="3298" dirty="0">
                    <a:latin typeface="Cambria Math" panose="02040503050406030204" pitchFamily="18" charset="0"/>
                  </a:rPr>
                  <a:t>d)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3958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958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s-ES" sz="3958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3958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3958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s-ES" sz="3958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3958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958" i="1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s-ES" sz="3958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3958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3958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s-CO" sz="3298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1C3D63-F215-4551-821B-F88B3E110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3018" y="5545584"/>
                <a:ext cx="7031196" cy="4851328"/>
              </a:xfrm>
              <a:prstGeom prst="rect">
                <a:avLst/>
              </a:prstGeom>
              <a:blipFill>
                <a:blip r:embed="rId3"/>
                <a:stretch>
                  <a:fillRect l="-2247" t="-1500" b="-2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/>
          <p:cNvSpPr/>
          <p:nvPr/>
        </p:nvSpPr>
        <p:spPr>
          <a:xfrm>
            <a:off x="11753491" y="4478599"/>
            <a:ext cx="3419526" cy="9044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5277" b="1" dirty="0">
                <a:solidFill>
                  <a:srgbClr val="FF0000"/>
                </a:solidFill>
              </a:rPr>
              <a:t>Ejemplos:</a:t>
            </a:r>
            <a:endParaRPr lang="en-US" sz="5277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471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840662" y="701675"/>
            <a:ext cx="827181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ECUACIONES EXPONENCIALES 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28" y="2054188"/>
            <a:ext cx="10084822" cy="25336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298450" y="4315312"/>
                <a:ext cx="10287000" cy="58785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4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Ejemplo</a:t>
                </a:r>
                <a:r>
                  <a:rPr lang="es-CO" sz="2400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Despejar x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−3</m:t>
                        </m:r>
                      </m:sup>
                    </m:sSup>
                    <m:r>
                      <a:rPr lang="es-ES" sz="28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8</m:t>
                        </m:r>
                      </m:e>
                      <m:sup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+1</m:t>
                        </m:r>
                      </m:sup>
                    </m:sSup>
                  </m:oMath>
                </a14:m>
                <a:endParaRPr lang="es-419" sz="2400" dirty="0"/>
              </a:p>
              <a:p>
                <a:pPr algn="just"/>
                <a:endParaRPr lang="es-ES" sz="2400" dirty="0"/>
              </a:p>
              <a:p>
                <a:pPr algn="just"/>
                <a:r>
                  <a:rPr lang="es-ES" sz="2400" dirty="0"/>
                  <a:t>Solución: Se ve el lado derecho de esta igualdad que 8 se puede escribir como una potencia de 2; esto es,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8=</m:t>
                    </m:r>
                    <m:sSup>
                      <m:sSup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419" sz="2400" dirty="0"/>
                  <a:t>. Además, por las leyes de los exponentes,</a:t>
                </a:r>
              </a:p>
              <a:p>
                <a:pPr algn="just"/>
                <a:endParaRPr lang="es-ES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p>
                      </m:sSup>
                    </m:oMath>
                  </m:oMathPara>
                </a14:m>
                <a:endParaRPr lang="es-ES" sz="2400" b="0" dirty="0"/>
              </a:p>
              <a:p>
                <a:pPr algn="just"/>
                <a:r>
                  <a:rPr lang="es-ES" sz="2400" dirty="0"/>
                  <a:t>Entonces, la ecuación es igual que </a:t>
                </a:r>
              </a:p>
              <a:p>
                <a:pPr algn="just"/>
                <a:endParaRPr lang="es-ES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p>
                      </m:sSup>
                    </m:oMath>
                  </m:oMathPara>
                </a14:m>
                <a:endParaRPr lang="es-419" sz="2400" dirty="0"/>
              </a:p>
              <a:p>
                <a:pPr algn="just"/>
                <a:endParaRPr lang="es-ES" sz="2400" dirty="0"/>
              </a:p>
              <a:p>
                <a:pPr algn="just"/>
                <a:r>
                  <a:rPr lang="es-ES" sz="2400" dirty="0"/>
                  <a:t>De acuerdo al paso 2, se igualan los exponentes.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−3=3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s-ES" sz="2800" b="0" dirty="0"/>
              </a:p>
              <a:p>
                <a:pPr algn="just"/>
                <a:endParaRPr lang="es-ES" sz="2400" dirty="0"/>
              </a:p>
              <a:p>
                <a:pPr algn="just"/>
                <a:r>
                  <a:rPr lang="es-ES" sz="2400" dirty="0"/>
                  <a:t>Al despejar se obtiene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endParaRPr lang="es-419" sz="2400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50" y="4315312"/>
                <a:ext cx="10287000" cy="5878532"/>
              </a:xfrm>
              <a:prstGeom prst="rect">
                <a:avLst/>
              </a:prstGeom>
              <a:blipFill>
                <a:blip r:embed="rId3"/>
                <a:stretch>
                  <a:fillRect l="-948" t="-104" r="-889" b="-155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10966450" y="1920875"/>
                <a:ext cx="7635433" cy="74518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4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Ejemplo: </a:t>
                </a:r>
                <a:r>
                  <a:rPr lang="es-CO" sz="2400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Despejar x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2(</m:t>
                        </m:r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  <m:r>
                          <a:rPr lang="es-ES" sz="28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+1)</m:t>
                        </m:r>
                      </m:sup>
                    </m:sSup>
                    <m:r>
                      <a:rPr lang="es-ES" sz="28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=343</m:t>
                    </m:r>
                  </m:oMath>
                </a14:m>
                <a:endParaRPr lang="es-419" sz="2800" dirty="0"/>
              </a:p>
              <a:p>
                <a:pPr algn="just"/>
                <a:endParaRPr lang="es-ES" sz="2400" dirty="0"/>
              </a:p>
              <a:p>
                <a:pPr algn="just"/>
                <a:r>
                  <a:rPr lang="es-ES" sz="2400" dirty="0"/>
                  <a:t>Solución: Se observa que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343=</m:t>
                    </m:r>
                    <m:sSup>
                      <m:sSupPr>
                        <m:ctrlPr>
                          <a:rPr lang="es-E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es-E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s-E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,</m:t>
                    </m:r>
                  </m:oMath>
                </a14:m>
                <a:r>
                  <a:rPr lang="es-419" sz="2400" dirty="0"/>
                  <a:t> y entonces se tiene la misma base en ambos lados de la igualdad: </a:t>
                </a:r>
              </a:p>
              <a:p>
                <a:pPr algn="just"/>
                <a:endParaRPr lang="es-419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8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7</m:t>
                          </m:r>
                        </m:e>
                        <m:sup>
                          <m:r>
                            <a:rPr lang="es-ES" sz="28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2(</m:t>
                          </m:r>
                          <m:r>
                            <a:rPr lang="es-ES" sz="28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𝑥</m:t>
                          </m:r>
                          <m:r>
                            <a:rPr lang="es-ES" sz="28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+1)</m:t>
                          </m:r>
                        </m:sup>
                      </m:sSup>
                      <m:r>
                        <a:rPr lang="es-ES" sz="28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s-ES" sz="28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7</m:t>
                          </m:r>
                        </m:e>
                        <m:sup>
                          <m:r>
                            <a:rPr lang="es-ES" sz="28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419" sz="2400" dirty="0"/>
              </a:p>
              <a:p>
                <a:pPr algn="just"/>
                <a:endParaRPr lang="es-ES" sz="2400" dirty="0"/>
              </a:p>
              <a:p>
                <a:pPr algn="just"/>
                <a:endParaRPr lang="es-ES" sz="2400" b="0" dirty="0"/>
              </a:p>
              <a:p>
                <a:pPr algn="just"/>
                <a:r>
                  <a:rPr lang="es-ES" sz="2400" dirty="0"/>
                  <a:t>Entonces, se pueden igualar los exponentes y despejar x:  </a:t>
                </a:r>
              </a:p>
              <a:p>
                <a:pPr algn="just"/>
                <a:endParaRPr lang="es-ES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p>
                      </m:sSup>
                    </m:oMath>
                  </m:oMathPara>
                </a14:m>
                <a:endParaRPr lang="es-419" sz="2400" dirty="0"/>
              </a:p>
              <a:p>
                <a:pPr algn="just"/>
                <a:r>
                  <a:rPr lang="es-ES" sz="2400" dirty="0"/>
                  <a:t>Se igualan los exponentes y despejar x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ES" sz="3200" b="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+2=3</m:t>
                      </m:r>
                    </m:oMath>
                  </m:oMathPara>
                </a14:m>
                <a:endParaRPr lang="es-ES" sz="3200" b="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419" sz="2400" dirty="0"/>
              </a:p>
              <a:p>
                <a:pPr algn="just"/>
                <a:endParaRPr lang="es-ES" sz="2400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450" y="1920875"/>
                <a:ext cx="7635433" cy="7451848"/>
              </a:xfrm>
              <a:prstGeom prst="rect">
                <a:avLst/>
              </a:prstGeom>
              <a:blipFill>
                <a:blip r:embed="rId4"/>
                <a:stretch>
                  <a:fillRect l="-1278" r="-119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88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317239" y="2196618"/>
            <a:ext cx="8345380" cy="904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MX" sz="5277" dirty="0"/>
              <a:t>FUNCIÓN LOGARÍTMICA</a:t>
            </a:r>
            <a:endParaRPr lang="en-US" sz="5277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20539"/>
          <a:stretch/>
        </p:blipFill>
        <p:spPr>
          <a:xfrm>
            <a:off x="753905" y="4065655"/>
            <a:ext cx="10550581" cy="2133167"/>
          </a:xfrm>
          <a:prstGeom prst="rect">
            <a:avLst/>
          </a:prstGeom>
          <a:ln w="38100" cap="sq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uadroTexto 3"/>
          <p:cNvSpPr txBox="1"/>
          <p:nvPr/>
        </p:nvSpPr>
        <p:spPr>
          <a:xfrm>
            <a:off x="3668032" y="7103589"/>
            <a:ext cx="6011901" cy="2223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617" dirty="0">
                <a:latin typeface="Book Antiqua" panose="02040602050305030304" pitchFamily="18" charset="0"/>
              </a:rPr>
              <a:t>la función logarítmica es la inversa de la función exponencial.</a:t>
            </a:r>
            <a:endParaRPr lang="en-US" sz="4617" dirty="0">
              <a:latin typeface="Book Antiqua" panose="0204060205030503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8225" y="3160888"/>
            <a:ext cx="6660413" cy="7508672"/>
          </a:xfrm>
          <a:prstGeom prst="rect">
            <a:avLst/>
          </a:prstGeom>
          <a:ln w="38100" cap="sq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1724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/>
              <p:cNvSpPr txBox="1"/>
              <p:nvPr/>
            </p:nvSpPr>
            <p:spPr>
              <a:xfrm>
                <a:off x="1982966" y="2441535"/>
                <a:ext cx="16220996" cy="15133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32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</a:defRPr>
                </a:lvl1pPr>
              </a:lstStyle>
              <a:p>
                <a:r>
                  <a:rPr lang="es-MX" sz="4617" dirty="0"/>
                  <a:t>PROPIEDADES DE UNA FUNCIÓN LOGARÍTMICA</a:t>
                </a:r>
              </a:p>
              <a:p>
                <a:r>
                  <a:rPr lang="es-MX" sz="4617" dirty="0"/>
                  <a:t> </a:t>
                </a:r>
                <a14:m>
                  <m:oMath xmlns:m="http://schemas.openxmlformats.org/officeDocument/2006/math">
                    <m:r>
                      <a:rPr lang="es-MX" sz="4617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s-MX" sz="461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4617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sz="4617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MX" sz="4617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s-MX" sz="461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sz="4617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MX" sz="4617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fName>
                      <m:e>
                        <m:r>
                          <a:rPr lang="es-MX" sz="4617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endParaRPr lang="en-US" sz="4617" dirty="0"/>
              </a:p>
            </p:txBody>
          </p:sp>
        </mc:Choice>
        <mc:Fallback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966" y="2441535"/>
                <a:ext cx="16220996" cy="1513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/>
              <p:cNvSpPr txBox="1"/>
              <p:nvPr/>
            </p:nvSpPr>
            <p:spPr>
              <a:xfrm>
                <a:off x="2667312" y="4653612"/>
                <a:ext cx="14720848" cy="4355872"/>
              </a:xfrm>
              <a:prstGeom prst="rect">
                <a:avLst/>
              </a:prstGeom>
              <a:ln w="190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753923" indent="-753923">
                  <a:buFont typeface="Wingdings" panose="05000000000000000000" pitchFamily="2" charset="2"/>
                  <a:buChar char="v"/>
                </a:pPr>
                <a:r>
                  <a:rPr lang="es-MX" sz="3958" dirty="0"/>
                  <a:t>El dominio de la función son todos los reales positivos</a:t>
                </a:r>
              </a:p>
              <a:p>
                <a:pPr marL="753923" indent="-753923">
                  <a:buFont typeface="Wingdings" panose="05000000000000000000" pitchFamily="2" charset="2"/>
                  <a:buChar char="v"/>
                </a:pPr>
                <a:r>
                  <a:rPr lang="es-MX" sz="3958" dirty="0"/>
                  <a:t>El rango de la función son todos los reales</a:t>
                </a:r>
              </a:p>
              <a:p>
                <a:pPr marL="753923" indent="-753923">
                  <a:buFont typeface="Wingdings" panose="05000000000000000000" pitchFamily="2" charset="2"/>
                  <a:buChar char="v"/>
                </a:pPr>
                <a:r>
                  <a:rPr lang="es-MX" sz="3958" dirty="0"/>
                  <a:t>La gráfica de </a:t>
                </a:r>
                <a14:m>
                  <m:oMath xmlns:m="http://schemas.openxmlformats.org/officeDocument/2006/math">
                    <m:r>
                      <a:rPr lang="es-MX" sz="3958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MX" sz="3958" dirty="0"/>
                  <a:t> no tiene intersección con el eje </a:t>
                </a:r>
                <a14:m>
                  <m:oMath xmlns:m="http://schemas.openxmlformats.org/officeDocument/2006/math">
                    <m:r>
                      <a:rPr lang="es-MX" sz="3958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MX" sz="3958" dirty="0"/>
                  <a:t>.</a:t>
                </a:r>
              </a:p>
              <a:p>
                <a:pPr marL="753923" indent="-753923">
                  <a:buFont typeface="Wingdings" panose="05000000000000000000" pitchFamily="2" charset="2"/>
                  <a:buChar char="v"/>
                </a:pPr>
                <a:r>
                  <a:rPr lang="es-MX" sz="3958" dirty="0"/>
                  <a:t>La función </a:t>
                </a:r>
                <a14:m>
                  <m:oMath xmlns:m="http://schemas.openxmlformats.org/officeDocument/2006/math">
                    <m:r>
                      <a:rPr lang="es-MX" sz="3958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MX" sz="3958" dirty="0"/>
                  <a:t> es creciente para </a:t>
                </a:r>
                <a14:m>
                  <m:oMath xmlns:m="http://schemas.openxmlformats.org/officeDocument/2006/math">
                    <m:r>
                      <a:rPr lang="es-MX" sz="3958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sz="3958" i="1" dirty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s-MX" sz="3958" dirty="0"/>
                  <a:t> y decreciente para </a:t>
                </a:r>
                <a14:m>
                  <m:oMath xmlns:m="http://schemas.openxmlformats.org/officeDocument/2006/math">
                    <m:r>
                      <a:rPr lang="es-MX" sz="3958" i="1" dirty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s-MX" sz="3958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sz="3958" i="1" dirty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s-ES" sz="3958" dirty="0"/>
              </a:p>
              <a:p>
                <a:pPr marL="753923" indent="-753923">
                  <a:buFont typeface="Wingdings" panose="05000000000000000000" pitchFamily="2" charset="2"/>
                  <a:buChar char="v"/>
                </a:pPr>
                <a:r>
                  <a:rPr lang="es-MX" sz="3958" dirty="0"/>
                  <a:t>El eje </a:t>
                </a:r>
                <a14:m>
                  <m:oMath xmlns:m="http://schemas.openxmlformats.org/officeDocument/2006/math">
                    <m:r>
                      <a:rPr lang="es-MX" sz="3958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MX" sz="3958" dirty="0"/>
                  <a:t>, es decir, la recta </a:t>
                </a:r>
                <a14:m>
                  <m:oMath xmlns:m="http://schemas.openxmlformats.org/officeDocument/2006/math">
                    <m:r>
                      <a:rPr lang="es-MX" sz="3958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3958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MX" sz="3958" dirty="0"/>
                  <a:t> es una asíntota vertical de la gráfica de </a:t>
                </a:r>
                <a14:m>
                  <m:oMath xmlns:m="http://schemas.openxmlformats.org/officeDocument/2006/math">
                    <m:r>
                      <a:rPr lang="es-MX" sz="3958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s-ES" sz="3958" dirty="0"/>
              </a:p>
              <a:p>
                <a:pPr marL="753923" indent="-753923">
                  <a:buFont typeface="Wingdings" panose="05000000000000000000" pitchFamily="2" charset="2"/>
                  <a:buChar char="v"/>
                </a:pPr>
                <a:r>
                  <a:rPr lang="es-MX" sz="3958" dirty="0"/>
                  <a:t>La función es uno a uno.</a:t>
                </a:r>
                <a:endParaRPr lang="en-US" sz="3958" dirty="0"/>
              </a:p>
            </p:txBody>
          </p:sp>
        </mc:Choice>
        <mc:Fallback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12" y="4653612"/>
                <a:ext cx="14720848" cy="4355872"/>
              </a:xfrm>
              <a:prstGeom prst="rect">
                <a:avLst/>
              </a:prstGeom>
              <a:blipFill>
                <a:blip r:embed="rId3"/>
                <a:stretch>
                  <a:fillRect l="-1241" t="-2089" b="-4596"/>
                </a:stretch>
              </a:blipFill>
              <a:ln w="19050"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24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231189" y="2191479"/>
            <a:ext cx="11861795" cy="8028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MX" sz="4617" dirty="0"/>
              <a:t>FAMILA DE FUNCIONES LOGARÍTMICAS</a:t>
            </a:r>
            <a:endParaRPr lang="en-US" sz="4617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859" y="3392106"/>
            <a:ext cx="10430458" cy="70845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554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78" y="4183146"/>
            <a:ext cx="4555472" cy="49638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269119" y="2125920"/>
            <a:ext cx="16225013" cy="8028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MX" sz="4617" dirty="0"/>
              <a:t>REFLEJAR GRAFICAS DE FUNCIONES LOGARITMICAS </a:t>
            </a:r>
            <a:endParaRPr lang="en-US" sz="4617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310" y="4183147"/>
            <a:ext cx="7634341" cy="48382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CuadroTexto 4"/>
          <p:cNvSpPr txBox="1"/>
          <p:nvPr/>
        </p:nvSpPr>
        <p:spPr>
          <a:xfrm>
            <a:off x="2269119" y="3129157"/>
            <a:ext cx="540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 RESPECTO AL EJE X</a:t>
            </a:r>
            <a:endParaRPr lang="es-419" dirty="0"/>
          </a:p>
        </p:txBody>
      </p:sp>
      <p:sp>
        <p:nvSpPr>
          <p:cNvPr id="6" name="CuadroTexto 5"/>
          <p:cNvSpPr txBox="1"/>
          <p:nvPr/>
        </p:nvSpPr>
        <p:spPr>
          <a:xfrm>
            <a:off x="11371382" y="3150892"/>
            <a:ext cx="540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 RESPECTO AL EJE Y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253000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325157" y="2426348"/>
            <a:ext cx="16716663" cy="8028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MX" sz="4617" dirty="0"/>
              <a:t>DESPLAZAR GRAFICAS DE FUNCIONES LOGARITMICAS </a:t>
            </a:r>
            <a:endParaRPr lang="en-US" sz="4617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52" y="3914623"/>
            <a:ext cx="7225920" cy="56393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355" y="4228793"/>
            <a:ext cx="10100579" cy="50110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689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413750" y="2538176"/>
            <a:ext cx="7063152" cy="904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277" b="1" dirty="0">
                <a:solidFill>
                  <a:schemeClr val="accent5">
                    <a:lumMod val="75000"/>
                  </a:schemeClr>
                </a:solidFill>
              </a:rPr>
              <a:t>LOGARÍTMO</a:t>
            </a:r>
            <a:r>
              <a:rPr lang="es-MX" sz="5277" b="1" dirty="0">
                <a:solidFill>
                  <a:srgbClr val="00B0F0"/>
                </a:solidFill>
              </a:rPr>
              <a:t> </a:t>
            </a:r>
            <a:r>
              <a:rPr lang="es-MX" sz="5277" b="1" dirty="0">
                <a:solidFill>
                  <a:schemeClr val="accent5">
                    <a:lumMod val="75000"/>
                  </a:schemeClr>
                </a:solidFill>
              </a:rPr>
              <a:t>COMÚN</a:t>
            </a:r>
            <a:endParaRPr lang="en-US" sz="5277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64" y="3655587"/>
            <a:ext cx="8509077" cy="62295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9020" y="5315178"/>
            <a:ext cx="3345915" cy="91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13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5DB2D6-F392-4CEB-A2D3-B715167DD0BF}"/>
              </a:ext>
            </a:extLst>
          </p:cNvPr>
          <p:cNvSpPr txBox="1"/>
          <p:nvPr/>
        </p:nvSpPr>
        <p:spPr>
          <a:xfrm>
            <a:off x="4413723" y="2160288"/>
            <a:ext cx="11575801" cy="8028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4617" dirty="0"/>
              <a:t>LOGARITMO NATURAL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121" y="3327564"/>
            <a:ext cx="6534744" cy="71945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ángulo 3"/>
          <p:cNvSpPr/>
          <p:nvPr/>
        </p:nvSpPr>
        <p:spPr>
          <a:xfrm>
            <a:off x="9564540" y="4952477"/>
            <a:ext cx="8819706" cy="1919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958" dirty="0">
                <a:latin typeface="Book Antiqua" panose="02040602050305030304" pitchFamily="18" charset="0"/>
              </a:rPr>
              <a:t>La función de logaritmo natural y </a:t>
            </a:r>
            <a:r>
              <a:rPr lang="es-CO" sz="3958" dirty="0" err="1">
                <a:latin typeface="Book Antiqua" panose="02040602050305030304" pitchFamily="18" charset="0"/>
              </a:rPr>
              <a:t>ln</a:t>
            </a:r>
            <a:r>
              <a:rPr lang="es-CO" sz="3958" dirty="0">
                <a:latin typeface="Book Antiqua" panose="02040602050305030304" pitchFamily="18" charset="0"/>
              </a:rPr>
              <a:t> x es la función inversa de la función exponencial natural y ex . </a:t>
            </a:r>
            <a:endParaRPr lang="es-419" sz="3958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54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758" y="4172442"/>
            <a:ext cx="5848916" cy="50259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36" y="3930046"/>
            <a:ext cx="5449560" cy="52683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/>
          <a:srcRect l="3690" t="1252" r="68685" b="-2973"/>
          <a:stretch/>
        </p:blipFill>
        <p:spPr>
          <a:xfrm>
            <a:off x="2542854" y="2862799"/>
            <a:ext cx="4474721" cy="105836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80873" t="-606"/>
          <a:stretch/>
        </p:blipFill>
        <p:spPr>
          <a:xfrm>
            <a:off x="12427174" y="2747405"/>
            <a:ext cx="3098081" cy="104675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25DB2D6-F392-4CEB-A2D3-B715167DD0BF}"/>
              </a:ext>
            </a:extLst>
          </p:cNvPr>
          <p:cNvSpPr txBox="1"/>
          <p:nvPr/>
        </p:nvSpPr>
        <p:spPr>
          <a:xfrm>
            <a:off x="858212" y="2064743"/>
            <a:ext cx="17065894" cy="8028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4617" dirty="0"/>
              <a:t>DOMINIO FUNCIONES LOGARÍTMICAS  </a:t>
            </a:r>
          </a:p>
        </p:txBody>
      </p:sp>
    </p:spTree>
    <p:extLst>
      <p:ext uri="{BB962C8B-B14F-4D97-AF65-F5344CB8AC3E}">
        <p14:creationId xmlns:p14="http://schemas.microsoft.com/office/powerpoint/2010/main" val="2257475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Props1.xml><?xml version="1.0" encoding="utf-8"?>
<ds:datastoreItem xmlns:ds="http://schemas.openxmlformats.org/officeDocument/2006/customXml" ds:itemID="{0B3644BD-7B65-43D5-AA9A-9EE54A54B5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08648-60b0-4918-966f-b210d93cfb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8C8323-79AA-45A3-8FB6-9E2E0E00D0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327D51-DC68-401A-A781-7AE13751AD86}">
  <ds:schemaRefs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8a808648-60b0-4918-966f-b210d93cfb0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3278</TotalTime>
  <Words>411</Words>
  <Application>Microsoft Office PowerPoint</Application>
  <PresentationFormat>Personalizado</PresentationFormat>
  <Paragraphs>79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Arial</vt:lpstr>
      <vt:lpstr>Book Antiqua</vt:lpstr>
      <vt:lpstr>Cambria Math</vt:lpstr>
      <vt:lpstr>Rockwell Extra Bold</vt:lpstr>
      <vt:lpstr>Sitka Text</vt:lpstr>
      <vt:lpstr>Tahoma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192</cp:revision>
  <dcterms:created xsi:type="dcterms:W3CDTF">2024-11-07T16:52:39Z</dcterms:created>
  <dcterms:modified xsi:type="dcterms:W3CDTF">2025-10-31T14:24:19Z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</Properties>
</file>
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64" r:id="rId5"/>
    <p:sldId id="316" r:id="rId6"/>
    <p:sldId id="325" r:id="rId7"/>
    <p:sldId id="326" r:id="rId8"/>
    <p:sldId id="334" r:id="rId9"/>
    <p:sldId id="323" r:id="rId10"/>
    <p:sldId id="327" r:id="rId11"/>
    <p:sldId id="335" r:id="rId12"/>
    <p:sldId id="337" r:id="rId13"/>
    <p:sldId id="338" r:id="rId14"/>
    <p:sldId id="340" r:id="rId15"/>
    <p:sldId id="330" r:id="rId16"/>
    <p:sldId id="329" r:id="rId17"/>
    <p:sldId id="331" r:id="rId18"/>
    <p:sldId id="332" r:id="rId19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36"/>
    <p:restoredTop sz="94709"/>
  </p:normalViewPr>
  <p:slideViewPr>
    <p:cSldViewPr>
      <p:cViewPr varScale="1">
        <p:scale>
          <a:sx n="64" d="100"/>
          <a:sy n="64" d="100"/>
        </p:scale>
        <p:origin x="864" y="10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389561A-75C5-A438-9BB0-84BEB3E26B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86650" cy="113549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EC5E482D-F719-B93C-146E-075116A55649}"/>
              </a:ext>
            </a:extLst>
          </p:cNvPr>
          <p:cNvSpPr/>
          <p:nvPr/>
        </p:nvSpPr>
        <p:spPr>
          <a:xfrm>
            <a:off x="7080850" y="5"/>
            <a:ext cx="13023850" cy="2725420"/>
          </a:xfrm>
          <a:custGeom>
            <a:avLst/>
            <a:gdLst/>
            <a:ahLst/>
            <a:cxnLst/>
            <a:rect l="l" t="t" r="r" b="b"/>
            <a:pathLst>
              <a:path w="13023850" h="2725420">
                <a:moveTo>
                  <a:pt x="13023247" y="0"/>
                </a:moveTo>
                <a:lnTo>
                  <a:pt x="0" y="0"/>
                </a:lnTo>
                <a:lnTo>
                  <a:pt x="0" y="2725047"/>
                </a:lnTo>
                <a:lnTo>
                  <a:pt x="11804666" y="2725047"/>
                </a:lnTo>
                <a:lnTo>
                  <a:pt x="11852516" y="2724125"/>
                </a:lnTo>
                <a:lnTo>
                  <a:pt x="11899898" y="2721381"/>
                </a:lnTo>
                <a:lnTo>
                  <a:pt x="11946779" y="2716849"/>
                </a:lnTo>
                <a:lnTo>
                  <a:pt x="11993125" y="2710563"/>
                </a:lnTo>
                <a:lnTo>
                  <a:pt x="12038902" y="2702557"/>
                </a:lnTo>
                <a:lnTo>
                  <a:pt x="12084076" y="2692864"/>
                </a:lnTo>
                <a:lnTo>
                  <a:pt x="12128614" y="2681519"/>
                </a:lnTo>
                <a:lnTo>
                  <a:pt x="12172481" y="2668555"/>
                </a:lnTo>
                <a:lnTo>
                  <a:pt x="12215644" y="2654006"/>
                </a:lnTo>
                <a:lnTo>
                  <a:pt x="12258069" y="2637906"/>
                </a:lnTo>
                <a:lnTo>
                  <a:pt x="12299721" y="2620290"/>
                </a:lnTo>
                <a:lnTo>
                  <a:pt x="12340568" y="2601190"/>
                </a:lnTo>
                <a:lnTo>
                  <a:pt x="12380575" y="2580641"/>
                </a:lnTo>
                <a:lnTo>
                  <a:pt x="12419708" y="2558676"/>
                </a:lnTo>
                <a:lnTo>
                  <a:pt x="12457934" y="2535330"/>
                </a:lnTo>
                <a:lnTo>
                  <a:pt x="12495218" y="2510636"/>
                </a:lnTo>
                <a:lnTo>
                  <a:pt x="12531527" y="2484628"/>
                </a:lnTo>
                <a:lnTo>
                  <a:pt x="12566827" y="2457340"/>
                </a:lnTo>
                <a:lnTo>
                  <a:pt x="12601084" y="2428805"/>
                </a:lnTo>
                <a:lnTo>
                  <a:pt x="12634264" y="2399059"/>
                </a:lnTo>
                <a:lnTo>
                  <a:pt x="12666334" y="2368134"/>
                </a:lnTo>
                <a:lnTo>
                  <a:pt x="12697259" y="2336065"/>
                </a:lnTo>
                <a:lnTo>
                  <a:pt x="12727005" y="2302885"/>
                </a:lnTo>
                <a:lnTo>
                  <a:pt x="12755539" y="2268628"/>
                </a:lnTo>
                <a:lnTo>
                  <a:pt x="12782827" y="2233328"/>
                </a:lnTo>
                <a:lnTo>
                  <a:pt x="12808835" y="2197019"/>
                </a:lnTo>
                <a:lnTo>
                  <a:pt x="12833529" y="2159734"/>
                </a:lnTo>
                <a:lnTo>
                  <a:pt x="12856875" y="2121509"/>
                </a:lnTo>
                <a:lnTo>
                  <a:pt x="12878840" y="2082375"/>
                </a:lnTo>
                <a:lnTo>
                  <a:pt x="12899389" y="2042369"/>
                </a:lnTo>
                <a:lnTo>
                  <a:pt x="12918489" y="2001522"/>
                </a:lnTo>
                <a:lnTo>
                  <a:pt x="12936106" y="1959869"/>
                </a:lnTo>
                <a:lnTo>
                  <a:pt x="12952206" y="1917445"/>
                </a:lnTo>
                <a:lnTo>
                  <a:pt x="12966754" y="1874282"/>
                </a:lnTo>
                <a:lnTo>
                  <a:pt x="12979718" y="1830414"/>
                </a:lnTo>
                <a:lnTo>
                  <a:pt x="12991063" y="1785877"/>
                </a:lnTo>
                <a:lnTo>
                  <a:pt x="13000756" y="1740702"/>
                </a:lnTo>
                <a:lnTo>
                  <a:pt x="13008763" y="1694925"/>
                </a:lnTo>
                <a:lnTo>
                  <a:pt x="13015049" y="1648579"/>
                </a:lnTo>
                <a:lnTo>
                  <a:pt x="13019581" y="1601698"/>
                </a:lnTo>
                <a:lnTo>
                  <a:pt x="13022325" y="1554316"/>
                </a:lnTo>
                <a:lnTo>
                  <a:pt x="13023247" y="1506467"/>
                </a:lnTo>
                <a:lnTo>
                  <a:pt x="13023247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263857B-7F5B-147A-E9FA-539F65C25D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8612" y="1158875"/>
            <a:ext cx="10218978" cy="962400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CC4688C-435E-AA60-7F63-BBA53F1780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088572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220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894951" y="0"/>
            <a:ext cx="14209394" cy="11308715"/>
          </a:xfrm>
          <a:custGeom>
            <a:avLst/>
            <a:gdLst/>
            <a:ahLst/>
            <a:cxnLst/>
            <a:rect l="l" t="t" r="r" b="b"/>
            <a:pathLst>
              <a:path w="14209394" h="11308715">
                <a:moveTo>
                  <a:pt x="14209148" y="0"/>
                </a:moveTo>
                <a:lnTo>
                  <a:pt x="0" y="0"/>
                </a:lnTo>
                <a:lnTo>
                  <a:pt x="0" y="11308556"/>
                </a:lnTo>
                <a:lnTo>
                  <a:pt x="14209148" y="11308556"/>
                </a:lnTo>
                <a:lnTo>
                  <a:pt x="14209148" y="0"/>
                </a:lnTo>
                <a:close/>
              </a:path>
            </a:pathLst>
          </a:custGeom>
          <a:solidFill>
            <a:srgbClr val="F8F4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91930B7-9C38-5C2D-663B-E2625F67AC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104726" cy="6911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308715" cy="11308715"/>
          </a:xfrm>
          <a:custGeom>
            <a:avLst/>
            <a:gdLst/>
            <a:ahLst/>
            <a:cxnLst/>
            <a:rect l="l" t="t" r="r" b="b"/>
            <a:pathLst>
              <a:path w="11308715" h="11308715">
                <a:moveTo>
                  <a:pt x="11308556" y="0"/>
                </a:moveTo>
                <a:lnTo>
                  <a:pt x="0" y="0"/>
                </a:lnTo>
                <a:lnTo>
                  <a:pt x="0" y="11308556"/>
                </a:lnTo>
                <a:lnTo>
                  <a:pt x="11308556" y="11308556"/>
                </a:lnTo>
                <a:lnTo>
                  <a:pt x="11308556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78F4E27-A30C-9E6F-A950-F3C285D35B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104726" cy="6911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5FBBFD-8B9D-A60D-32EE-0466FF9D066A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A8C968B-6900-E09C-728E-6CF848948DE2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79B4F45-D38D-274D-5546-722F82FC6E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EF2B4810-D27F-08E0-675B-A5D389A65BDF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EBAD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374F20A5-52F5-4DD4-9770-8E43C3C71DA3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F3387D5-A49A-1FBF-34B1-4BE90F9FC5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EB181B7-B39F-29DC-B535-9E0FF177020E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D3C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0405629-822C-F927-24BD-4A62DDF405D5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F91B221-6367-4694-A4D3-D53A7B0011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615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EF966DF-49B0-7B68-7000-BF5DF1EE111E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E1EB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B042B35-C874-136A-B17C-304D839CDE28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C070EC6-3944-52FF-4319-00DC2B30E0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338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DEBD430-8494-9D92-E55A-A006C2237126}"/>
              </a:ext>
            </a:extLst>
          </p:cNvPr>
          <p:cNvSpPr/>
          <p:nvPr/>
        </p:nvSpPr>
        <p:spPr>
          <a:xfrm>
            <a:off x="-2" y="0"/>
            <a:ext cx="20104100" cy="1831975"/>
          </a:xfrm>
          <a:custGeom>
            <a:avLst/>
            <a:gdLst/>
            <a:ahLst/>
            <a:cxnLst/>
            <a:rect l="l" t="t" r="r" b="b"/>
            <a:pathLst>
              <a:path w="20104100" h="1831975">
                <a:moveTo>
                  <a:pt x="20104099" y="0"/>
                </a:moveTo>
                <a:lnTo>
                  <a:pt x="0" y="0"/>
                </a:lnTo>
                <a:lnTo>
                  <a:pt x="0" y="1831755"/>
                </a:lnTo>
                <a:lnTo>
                  <a:pt x="18885519" y="1831755"/>
                </a:lnTo>
                <a:lnTo>
                  <a:pt x="18933368" y="1830833"/>
                </a:lnTo>
                <a:lnTo>
                  <a:pt x="18980750" y="1828089"/>
                </a:lnTo>
                <a:lnTo>
                  <a:pt x="19027631" y="1823557"/>
                </a:lnTo>
                <a:lnTo>
                  <a:pt x="19073977" y="1817271"/>
                </a:lnTo>
                <a:lnTo>
                  <a:pt x="19119754" y="1809265"/>
                </a:lnTo>
                <a:lnTo>
                  <a:pt x="19164929" y="1799572"/>
                </a:lnTo>
                <a:lnTo>
                  <a:pt x="19209466" y="1788227"/>
                </a:lnTo>
                <a:lnTo>
                  <a:pt x="19253334" y="1775263"/>
                </a:lnTo>
                <a:lnTo>
                  <a:pt x="19296497" y="1760714"/>
                </a:lnTo>
                <a:lnTo>
                  <a:pt x="19338921" y="1744614"/>
                </a:lnTo>
                <a:lnTo>
                  <a:pt x="19380574" y="1726998"/>
                </a:lnTo>
                <a:lnTo>
                  <a:pt x="19421421" y="1707898"/>
                </a:lnTo>
                <a:lnTo>
                  <a:pt x="19461427" y="1687348"/>
                </a:lnTo>
                <a:lnTo>
                  <a:pt x="19500561" y="1665384"/>
                </a:lnTo>
                <a:lnTo>
                  <a:pt x="19538786" y="1642037"/>
                </a:lnTo>
                <a:lnTo>
                  <a:pt x="19576071" y="1617343"/>
                </a:lnTo>
                <a:lnTo>
                  <a:pt x="19612380" y="1591335"/>
                </a:lnTo>
                <a:lnTo>
                  <a:pt x="19647680" y="1564047"/>
                </a:lnTo>
                <a:lnTo>
                  <a:pt x="19681937" y="1535513"/>
                </a:lnTo>
                <a:lnTo>
                  <a:pt x="19715117" y="1505767"/>
                </a:lnTo>
                <a:lnTo>
                  <a:pt x="19747186" y="1474842"/>
                </a:lnTo>
                <a:lnTo>
                  <a:pt x="19778111" y="1442773"/>
                </a:lnTo>
                <a:lnTo>
                  <a:pt x="19807857" y="1409592"/>
                </a:lnTo>
                <a:lnTo>
                  <a:pt x="19836392" y="1375336"/>
                </a:lnTo>
                <a:lnTo>
                  <a:pt x="19863680" y="1340036"/>
                </a:lnTo>
                <a:lnTo>
                  <a:pt x="19889688" y="1303727"/>
                </a:lnTo>
                <a:lnTo>
                  <a:pt x="19914382" y="1266442"/>
                </a:lnTo>
                <a:lnTo>
                  <a:pt x="19937728" y="1228217"/>
                </a:lnTo>
                <a:lnTo>
                  <a:pt x="19959693" y="1189083"/>
                </a:lnTo>
                <a:lnTo>
                  <a:pt x="19980242" y="1149076"/>
                </a:lnTo>
                <a:lnTo>
                  <a:pt x="19999342" y="1108230"/>
                </a:lnTo>
                <a:lnTo>
                  <a:pt x="20016958" y="1066577"/>
                </a:lnTo>
                <a:lnTo>
                  <a:pt x="20033058" y="1024152"/>
                </a:lnTo>
                <a:lnTo>
                  <a:pt x="20047607" y="980990"/>
                </a:lnTo>
                <a:lnTo>
                  <a:pt x="20060571" y="937122"/>
                </a:lnTo>
                <a:lnTo>
                  <a:pt x="20071916" y="892585"/>
                </a:lnTo>
                <a:lnTo>
                  <a:pt x="20081609" y="847410"/>
                </a:lnTo>
                <a:lnTo>
                  <a:pt x="20089615" y="801633"/>
                </a:lnTo>
                <a:lnTo>
                  <a:pt x="20095901" y="755287"/>
                </a:lnTo>
                <a:lnTo>
                  <a:pt x="20100433" y="708406"/>
                </a:lnTo>
                <a:lnTo>
                  <a:pt x="20103177" y="661024"/>
                </a:lnTo>
                <a:lnTo>
                  <a:pt x="20104099" y="613175"/>
                </a:lnTo>
                <a:lnTo>
                  <a:pt x="20104099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2A436CE-D75D-AEE7-F474-1353DD2234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088572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178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55B2940-E47F-E285-A95F-0F84736467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97"/>
            <a:ext cx="20347521" cy="1144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338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70" r:id="rId10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gi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jpe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50.png"/><Relationship Id="rId7" Type="http://schemas.openxmlformats.org/officeDocument/2006/relationships/image" Target="../media/image48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7.png"/><Relationship Id="rId5" Type="http://schemas.openxmlformats.org/officeDocument/2006/relationships/image" Target="../media/image460.png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E56C6D1-0E3F-0C43-BB0F-988973017F01}"/>
              </a:ext>
            </a:extLst>
          </p:cNvPr>
          <p:cNvSpPr txBox="1"/>
          <p:nvPr/>
        </p:nvSpPr>
        <p:spPr>
          <a:xfrm>
            <a:off x="1822450" y="2835275"/>
            <a:ext cx="16078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>
                <a:solidFill>
                  <a:srgbClr val="FF0000"/>
                </a:solidFill>
                <a:latin typeface="Rockwell Extra Bold" panose="02060903040505020403" pitchFamily="18" charset="0"/>
                <a:ea typeface="Roboto" panose="02000000000000000000" pitchFamily="2" charset="0"/>
              </a:rPr>
              <a:t>Matemáticas Fundamentales</a:t>
            </a:r>
          </a:p>
          <a:p>
            <a:pPr algn="ctr"/>
            <a:endParaRPr lang="es-CO" sz="6000" b="1" dirty="0">
              <a:solidFill>
                <a:srgbClr val="FF0000"/>
              </a:solidFill>
              <a:latin typeface="Rockwell Extra Bold" panose="02060903040505020403" pitchFamily="18" charset="0"/>
              <a:ea typeface="Roboto" panose="02000000000000000000" pitchFamily="2" charset="0"/>
            </a:endParaRPr>
          </a:p>
          <a:p>
            <a:pPr algn="ctr"/>
            <a:r>
              <a:rPr lang="es-CO" sz="6000" b="1" dirty="0">
                <a:solidFill>
                  <a:srgbClr val="FF0000"/>
                </a:solidFill>
                <a:latin typeface="Rockwell Extra Bold" panose="02060903040505020403" pitchFamily="18" charset="0"/>
                <a:ea typeface="Roboto" panose="02000000000000000000" pitchFamily="2" charset="0"/>
              </a:rPr>
              <a:t>Semana 12: Funciones trigonométricas.</a:t>
            </a:r>
            <a:endParaRPr lang="es-MX" sz="3600" b="1" dirty="0">
              <a:solidFill>
                <a:srgbClr val="FF0000"/>
              </a:solidFill>
              <a:latin typeface="Sitka Text" panose="02000505000000020004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847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/>
          <p:cNvSpPr txBox="1"/>
          <p:nvPr/>
        </p:nvSpPr>
        <p:spPr>
          <a:xfrm>
            <a:off x="7919484" y="789330"/>
            <a:ext cx="2747868" cy="707886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s-CO"/>
            </a:defPPr>
            <a:lvl1pPr>
              <a:defRPr sz="40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s-MX" dirty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ÁNGULOS</a:t>
            </a:r>
            <a:endParaRPr lang="es-CO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/>
              <p:cNvSpPr txBox="1"/>
              <p:nvPr/>
            </p:nvSpPr>
            <p:spPr>
              <a:xfrm>
                <a:off x="455683" y="1979394"/>
                <a:ext cx="883773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2000" dirty="0"/>
                  <a:t>Un ángulo está en posición normal si está trazado en el plano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lang="es-MX" sz="2000" dirty="0"/>
                  <a:t> con su vértice en el origen y su lado inicial en el eje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MX" sz="2000" dirty="0"/>
                  <a:t>.</a:t>
                </a:r>
                <a:endParaRPr lang="es-CO" sz="2000" dirty="0"/>
              </a:p>
            </p:txBody>
          </p:sp>
        </mc:Choice>
        <mc:Fallback xmlns="">
          <p:sp>
            <p:nvSpPr>
              <p:cNvPr id="15" name="CuadroTexto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683" y="1979394"/>
                <a:ext cx="8837735" cy="707886"/>
              </a:xfrm>
              <a:prstGeom prst="rect">
                <a:avLst/>
              </a:prstGeom>
              <a:blipFill>
                <a:blip r:embed="rId2"/>
                <a:stretch>
                  <a:fillRect l="-759" t="-4310" b="-15517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Imagen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50" y="3027293"/>
            <a:ext cx="9944724" cy="2779782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93" y="6422752"/>
            <a:ext cx="10562899" cy="1828800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8" name="Imagen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61850" y="2530475"/>
            <a:ext cx="4862285" cy="3048000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" name="Imagen 19"/>
          <p:cNvPicPr>
            <a:picLocks noChangeAspect="1"/>
          </p:cNvPicPr>
          <p:nvPr/>
        </p:nvPicPr>
        <p:blipFill rotWithShape="1">
          <a:blip r:embed="rId6"/>
          <a:srcRect l="3278" t="6163" r="7299" b="10055"/>
          <a:stretch/>
        </p:blipFill>
        <p:spPr>
          <a:xfrm>
            <a:off x="11423650" y="6079852"/>
            <a:ext cx="7588303" cy="2514600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1" name="CuadroTexto 20"/>
          <p:cNvSpPr txBox="1"/>
          <p:nvPr/>
        </p:nvSpPr>
        <p:spPr>
          <a:xfrm>
            <a:off x="5693451" y="9102960"/>
            <a:ext cx="19159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b="1" dirty="0">
                <a:solidFill>
                  <a:srgbClr val="FF0000"/>
                </a:solidFill>
              </a:rPr>
              <a:t>Ejemplo:</a:t>
            </a:r>
            <a:endParaRPr lang="es-CO" sz="3200" b="1" dirty="0">
              <a:solidFill>
                <a:srgbClr val="FF0000"/>
              </a:solidFill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7750850" y="9281077"/>
            <a:ext cx="3672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Convertir entre radianes y grados:</a:t>
            </a:r>
            <a:endParaRPr lang="es-C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5297797" y="9828526"/>
            <a:ext cx="3047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a)  Exprese 60° en radianes</a:t>
            </a:r>
            <a:endParaRPr lang="es-C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/>
              <p:cNvSpPr txBox="1"/>
              <p:nvPr/>
            </p:nvSpPr>
            <p:spPr>
              <a:xfrm>
                <a:off x="11423650" y="9736385"/>
                <a:ext cx="3094501" cy="4614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 Exprese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MX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s-CO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rad en grados </a:t>
                </a:r>
              </a:p>
            </p:txBody>
          </p:sp>
        </mc:Choice>
        <mc:Fallback xmlns="">
          <p:sp>
            <p:nvSpPr>
              <p:cNvPr id="24" name="CuadroTexto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3650" y="9736385"/>
                <a:ext cx="3094501" cy="461473"/>
              </a:xfrm>
              <a:prstGeom prst="rect">
                <a:avLst/>
              </a:prstGeom>
              <a:blipFill>
                <a:blip r:embed="rId7"/>
                <a:stretch>
                  <a:fillRect l="-1772" t="-1316" r="-591" b="-5263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9395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50" y="1322978"/>
            <a:ext cx="7968495" cy="2399531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0450" y="1421444"/>
            <a:ext cx="7772400" cy="209346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8904" y="7938985"/>
            <a:ext cx="7195491" cy="2665911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7487209" y="246107"/>
            <a:ext cx="3289683" cy="707886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s-CO"/>
            </a:defPPr>
            <a:lvl1pPr>
              <a:defRPr sz="40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s-MX" dirty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RECORDAR </a:t>
            </a:r>
            <a:endParaRPr lang="es-CO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8901133" y="6272049"/>
            <a:ext cx="19159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b="1" dirty="0">
                <a:solidFill>
                  <a:srgbClr val="FF0000"/>
                </a:solidFill>
              </a:rPr>
              <a:t>Ejemplo:</a:t>
            </a:r>
            <a:endParaRPr lang="es-CO" sz="32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/>
              <p:cNvSpPr/>
              <p:nvPr/>
            </p:nvSpPr>
            <p:spPr>
              <a:xfrm>
                <a:off x="11271250" y="6152327"/>
                <a:ext cx="11643947" cy="953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AutoNum type="alphaLcPeriod"/>
                </a:pPr>
                <a:r>
                  <a:rPr lang="es-ES" sz="2400" dirty="0">
                    <a:solidFill>
                      <a:srgbClr val="231F20"/>
                    </a:solidFill>
                    <a:latin typeface="Times-Roman"/>
                  </a:rPr>
                  <a:t>Calcular el ángulo que es complementario de </a:t>
                </a:r>
                <a14:m>
                  <m:oMath xmlns:m="http://schemas.openxmlformats.org/officeDocument/2006/math">
                    <m:r>
                      <a:rPr lang="es-ES" sz="240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s-ES" sz="240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=74.23°</m:t>
                    </m:r>
                  </m:oMath>
                </a14:m>
                <a:endParaRPr lang="es-ES" sz="2400" b="0" dirty="0">
                  <a:solidFill>
                    <a:srgbClr val="231F20"/>
                  </a:solidFill>
                  <a:latin typeface="Times-Roman"/>
                  <a:ea typeface="Cambria Math" panose="02040503050406030204" pitchFamily="18" charset="0"/>
                </a:endParaRPr>
              </a:p>
              <a:p>
                <a:pPr marL="457200" indent="-457200">
                  <a:buAutoNum type="alphaLcPeriod"/>
                </a:pPr>
                <a:r>
                  <a:rPr lang="es-ES" sz="2400" dirty="0"/>
                  <a:t>Calcular el ángulo que es suplementario de </a:t>
                </a:r>
                <a14:m>
                  <m:oMath xmlns:m="http://schemas.openxmlformats.org/officeDocument/2006/math">
                    <m:r>
                      <a:rPr lang="es-E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es-E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s-E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s-419" sz="2400" dirty="0"/>
                  <a:t> radianes.</a:t>
                </a:r>
              </a:p>
            </p:txBody>
          </p:sp>
        </mc:Choice>
        <mc:Fallback xmlns="">
          <p:sp>
            <p:nvSpPr>
              <p:cNvPr id="8" name="Rectá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250" y="6152327"/>
                <a:ext cx="11643947" cy="953466"/>
              </a:xfrm>
              <a:prstGeom prst="rect">
                <a:avLst/>
              </a:prstGeom>
              <a:blipFill>
                <a:blip r:embed="rId5"/>
                <a:stretch>
                  <a:fillRect l="-733" t="-4459" b="-4459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Tipos de ángulos: cuáles son, nombres y medidas - Enciclopedia Significados"/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314" y="3722509"/>
            <a:ext cx="6524625" cy="4886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peraciones con ángulos. Angulos consecutivos. Angulos adyacentes. Angulos  complementarios. Angulos suplementarios.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8698" y="3508639"/>
            <a:ext cx="5715000" cy="2343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3454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5786437" y="396875"/>
            <a:ext cx="7249100" cy="707886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s-CO"/>
            </a:defPPr>
            <a:lvl1pPr>
              <a:defRPr sz="40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s-MX" dirty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FUNCIÓN </a:t>
            </a:r>
            <a:r>
              <a:rPr lang="es-MX" dirty="0" smtClean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SENO Y COSENO  </a:t>
            </a:r>
            <a:endParaRPr lang="es-CO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08" y="6950075"/>
            <a:ext cx="9983593" cy="379147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0650" y="6959601"/>
            <a:ext cx="9650172" cy="378195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794" y="2072085"/>
            <a:ext cx="7239000" cy="4002151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35537" y="1943835"/>
            <a:ext cx="5025043" cy="4972148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197" y="2559001"/>
            <a:ext cx="4686905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671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155" y="2378075"/>
            <a:ext cx="9278645" cy="2534004"/>
          </a:xfrm>
          <a:prstGeom prst="rect">
            <a:avLst/>
          </a:prstGeom>
          <a:ln w="38100" cap="sq">
            <a:solidFill>
              <a:srgbClr val="FF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5251450" y="777875"/>
            <a:ext cx="10238700" cy="707886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s-CO"/>
            </a:defPPr>
            <a:lvl1pPr>
              <a:defRPr sz="40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s-MX" dirty="0" smtClean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OTRAS FUNCIONES TRIGNOMÉTRICAS  </a:t>
            </a:r>
            <a:endParaRPr lang="es-CO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667" y="5804393"/>
            <a:ext cx="9047619" cy="376190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61850" y="1997075"/>
            <a:ext cx="5638095" cy="4085714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30516" y="6492875"/>
            <a:ext cx="5904762" cy="39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115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▷ Razones trigonométricas"/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50" y="2378075"/>
            <a:ext cx="10591800" cy="790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/>
          <p:cNvSpPr/>
          <p:nvPr/>
        </p:nvSpPr>
        <p:spPr>
          <a:xfrm>
            <a:off x="3194050" y="854075"/>
            <a:ext cx="1339822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4000" b="1" dirty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VALORES DE LAS RELACIONES TRIGONOMÉTRICAS</a:t>
            </a:r>
            <a:endParaRPr lang="en-US" sz="40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8199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5708650" y="689641"/>
            <a:ext cx="704551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4000" b="1" dirty="0" smtClean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IDENTIDADES ESPECIALES</a:t>
            </a:r>
            <a:endParaRPr lang="es-419" sz="40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925" y="1616075"/>
            <a:ext cx="8428571" cy="220000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306" y="3825704"/>
            <a:ext cx="8476190" cy="1952381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915" y="5772171"/>
            <a:ext cx="9174395" cy="2209800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0734" y="1484222"/>
            <a:ext cx="8400000" cy="1885714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125" y="3438838"/>
            <a:ext cx="8438095" cy="2333333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2639" y="5862154"/>
            <a:ext cx="8438095" cy="23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402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831850" y="2301875"/>
            <a:ext cx="1005205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800" dirty="0" err="1" smtClean="0">
                <a:solidFill>
                  <a:srgbClr val="231F20"/>
                </a:solidFill>
                <a:effectLst/>
                <a:latin typeface="TimesLTStd-Roman"/>
              </a:rPr>
              <a:t>for</a:t>
            </a:r>
            <a:endParaRPr lang="es-CO" dirty="0" smtClean="0"/>
          </a:p>
          <a:p>
            <a:r>
              <a:rPr lang="es-CO" sz="1800" dirty="0" err="1" smtClean="0">
                <a:solidFill>
                  <a:srgbClr val="231F20"/>
                </a:solidFill>
                <a:effectLst/>
                <a:latin typeface="TimesLTStd-Roman"/>
              </a:rPr>
              <a:t>mule</a:t>
            </a:r>
            <a:r>
              <a:rPr lang="es-CO" sz="1800" dirty="0" smtClean="0">
                <a:solidFill>
                  <a:srgbClr val="231F20"/>
                </a:solidFill>
                <a:effectLst/>
                <a:latin typeface="TimesLTStd-Roman"/>
              </a:rPr>
              <a:t> la expresión como expresión trigonométrica sin radica</a:t>
            </a:r>
            <a:endParaRPr lang="es-CO" dirty="0" smtClean="0"/>
          </a:p>
          <a:p>
            <a:r>
              <a:rPr lang="es-CO" sz="1800" dirty="0" smtClean="0">
                <a:solidFill>
                  <a:srgbClr val="231F20"/>
                </a:solidFill>
                <a:effectLst/>
                <a:latin typeface="TimesLTStd-Roman"/>
              </a:rPr>
              <a:t>les, haciendo la sustitución indicada. Suponga que </a:t>
            </a:r>
            <a:r>
              <a:rPr lang="es-CO" sz="1800" i="1" dirty="0" smtClean="0">
                <a:solidFill>
                  <a:srgbClr val="231F20"/>
                </a:solidFill>
                <a:effectLst/>
                <a:latin typeface="TimesLTStd-Italic"/>
              </a:rPr>
              <a:t>a </a:t>
            </a:r>
            <a:r>
              <a:rPr lang="es-CO" sz="1800" dirty="0" smtClean="0">
                <a:solidFill>
                  <a:srgbClr val="231F20"/>
                </a:solidFill>
                <a:effectLst/>
                <a:latin typeface="WWDOC01"/>
              </a:rPr>
              <a:t>.</a:t>
            </a:r>
            <a:r>
              <a:rPr lang="es-CO" sz="1800" dirty="0" smtClean="0">
                <a:solidFill>
                  <a:srgbClr val="231F20"/>
                </a:solidFill>
                <a:effectLst/>
                <a:latin typeface="TimesLTStd-Roman"/>
              </a:rPr>
              <a:t> 0</a:t>
            </a:r>
            <a:endParaRPr lang="es-419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50" y="3368675"/>
            <a:ext cx="5676190" cy="156190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9650" y="3368675"/>
            <a:ext cx="9869170" cy="2895600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10356850" y="2149475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b="1" dirty="0">
                <a:ln w="222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</a:rPr>
              <a:t>Actividad de practica</a:t>
            </a:r>
            <a:endParaRPr lang="es-419" sz="4000" b="1" dirty="0">
              <a:ln w="222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560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3194050" y="625475"/>
            <a:ext cx="1322990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4000" b="1" dirty="0" smtClean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DEMOSTRACIÓN IDENTIDADES TRIGONOMÉTRICAS</a:t>
            </a:r>
            <a:endParaRPr lang="es-419" sz="40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527050" y="1920875"/>
            <a:ext cx="8610600" cy="7848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O" sz="24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U</a:t>
            </a:r>
            <a:r>
              <a:rPr lang="es-CO" sz="2400" b="1" i="0" u="none" strike="noStrike" baseline="0" dirty="0" smtClean="0">
                <a:solidFill>
                  <a:srgbClr val="000000"/>
                </a:solidFill>
                <a:latin typeface="Arial" panose="020B0604020202020204" pitchFamily="34" charset="0"/>
              </a:rPr>
              <a:t>na identidad es una relación que contiene funciones trigonométricas. </a:t>
            </a:r>
            <a:r>
              <a:rPr lang="es-CO" sz="2400" b="0" i="0" u="none" strike="noStrike" baseline="0" dirty="0" smtClean="0">
                <a:solidFill>
                  <a:srgbClr val="000000"/>
                </a:solidFill>
                <a:latin typeface="Arial" panose="020B0604020202020204" pitchFamily="34" charset="0"/>
              </a:rPr>
              <a:t>Además de las antes descritas, existen otras identidades que se expresan por medio de una igualdad y que son válidas para todos los valores del ángulo en los que están definidas las funciones. </a:t>
            </a:r>
          </a:p>
          <a:p>
            <a:pPr algn="just"/>
            <a:r>
              <a:rPr lang="es-CO" sz="2400" dirty="0"/>
              <a:t>No existe un método específico para verificar una identidad, sólo algunas sugerencias. Para comprobar las identidades se puede proceder de la siguiente manera: </a:t>
            </a:r>
            <a:endParaRPr lang="es-CO" sz="2400" dirty="0" smtClean="0"/>
          </a:p>
          <a:p>
            <a:pPr algn="just"/>
            <a:endParaRPr lang="es-CO" sz="2400" dirty="0"/>
          </a:p>
          <a:p>
            <a:pPr algn="just"/>
            <a:r>
              <a:rPr lang="es-CO" sz="2400" dirty="0" smtClean="0"/>
              <a:t>1. Se </a:t>
            </a:r>
            <a:r>
              <a:rPr lang="es-CO" sz="2400" dirty="0"/>
              <a:t>transforma uno de los miembros de la igualdad, cualquiera de los dos, en el otro (generalmente se transforma el miembro más complicado). Se escriben las funciones en términos de senos y cosenos. </a:t>
            </a:r>
          </a:p>
          <a:p>
            <a:pPr algn="just"/>
            <a:r>
              <a:rPr lang="es-CO" sz="2400" dirty="0"/>
              <a:t>2. Se simplifica la expresión de un lado de la igualdad; la otra no se altera. Para ello se sugiere que se realicen las operaciones indicadas como factorizar, simplificar, suma de fracciones, etcétera. </a:t>
            </a:r>
          </a:p>
          <a:p>
            <a:pPr algn="just"/>
            <a:r>
              <a:rPr lang="es-CO" sz="2400" dirty="0"/>
              <a:t>3. Para poder realizar las demostraciones se debe tener un completo dominio de las definiciones de las funciones trigonométricas y las ocho relaciones fundamentales. </a:t>
            </a:r>
          </a:p>
          <a:p>
            <a:pPr algn="just"/>
            <a:endParaRPr lang="es-419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3450" y="1920875"/>
            <a:ext cx="8941717" cy="717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13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50" y="1844674"/>
            <a:ext cx="9296400" cy="8681197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8746" y="2017005"/>
            <a:ext cx="9164904" cy="881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270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" y="2606675"/>
            <a:ext cx="7598579" cy="4953000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1670050" y="1898789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b="1" dirty="0">
                <a:ln w="222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</a:rPr>
              <a:t>Actividad de practica</a:t>
            </a:r>
            <a:endParaRPr lang="es-419" sz="4000" b="1" dirty="0">
              <a:ln w="222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5597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603250" y="777875"/>
            <a:ext cx="913423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4000" b="1" dirty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Funciones trigonométricas inversas </a:t>
            </a:r>
            <a:endParaRPr lang="es-419" sz="40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50" y="1997075"/>
            <a:ext cx="7497221" cy="3877216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96" y="6721475"/>
            <a:ext cx="7997985" cy="417195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0553" y="6492875"/>
            <a:ext cx="7924997" cy="413385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8650" y="2149475"/>
            <a:ext cx="10151655" cy="2185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89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603250" y="777875"/>
            <a:ext cx="719620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4000" b="1" dirty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Ecuaciones trigonométricas </a:t>
            </a:r>
            <a:endParaRPr lang="es-419" sz="40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/>
              <p:cNvSpPr/>
              <p:nvPr/>
            </p:nvSpPr>
            <p:spPr>
              <a:xfrm>
                <a:off x="603250" y="2225675"/>
                <a:ext cx="10052050" cy="530010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just"/>
                <a:r>
                  <a:rPr lang="es-CO" sz="2400" dirty="0"/>
                  <a:t>A diferencia de las identidades trigonométricas (que se cumplen para todos los valores posibles), las </a:t>
                </a:r>
                <a:r>
                  <a:rPr lang="es-CO" sz="2400" b="1" dirty="0"/>
                  <a:t>ecuaciones trigonométricas condicionales</a:t>
                </a:r>
                <a:r>
                  <a:rPr lang="es-CO" sz="2400" dirty="0"/>
                  <a:t> solo se cumplen para </a:t>
                </a:r>
                <a:r>
                  <a:rPr lang="es-CO" sz="2400" b="1" dirty="0"/>
                  <a:t>ciertos valores específicos</a:t>
                </a:r>
                <a:r>
                  <a:rPr lang="es-CO" sz="2400" dirty="0"/>
                  <a:t> de la variable.</a:t>
                </a:r>
              </a:p>
              <a:p>
                <a:pPr algn="just"/>
                <a:r>
                  <a:rPr lang="es-CO" sz="2400" dirty="0"/>
                  <a:t>Se analiza el caso de la ecuación: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CO" sz="2400" i="1" dirty="0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s-CO" sz="2400" i="1" dirty="0" smtClean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s-CO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O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CO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s-E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419" sz="2400" dirty="0"/>
              </a:p>
              <a:p>
                <a:endParaRPr lang="es-ES" sz="2400" dirty="0"/>
              </a:p>
              <a:p>
                <a:pPr algn="just"/>
                <a:r>
                  <a:rPr lang="es-CO" sz="2400" dirty="0"/>
                  <a:t>A partir de la gráfica de y=</a:t>
                </a:r>
                <a:r>
                  <a:rPr lang="es-CO" sz="2400" dirty="0" err="1"/>
                  <a:t>sin⁡x</a:t>
                </a:r>
                <a:r>
                  <a:rPr lang="es-CO" sz="2400" dirty="0"/>
                  <a:t>, se observa que esta ecuación tiene </a:t>
                </a:r>
                <a:r>
                  <a:rPr lang="es-CO" sz="2400" b="1" dirty="0"/>
                  <a:t>infinitas soluciones</a:t>
                </a:r>
                <a:r>
                  <a:rPr lang="es-CO" sz="2400" dirty="0"/>
                  <a:t>. Estas ocurren en los puntos donde la función seno toma ese valor, y se repiten periódicamente. Los valores de x que cumplen la ecuación son:</a:t>
                </a:r>
              </a:p>
              <a:p>
                <a:endParaRPr lang="es-CO" sz="2400" dirty="0"/>
              </a:p>
              <a:p>
                <a:endParaRPr lang="es-419" sz="2400" dirty="0"/>
              </a:p>
            </p:txBody>
          </p:sp>
        </mc:Choice>
        <mc:Fallback xmlns="">
          <p:sp>
            <p:nvSpPr>
              <p:cNvPr id="3" name="Rectá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250" y="2225675"/>
                <a:ext cx="10052050" cy="5300105"/>
              </a:xfrm>
              <a:prstGeom prst="rect">
                <a:avLst/>
              </a:prstGeom>
              <a:blipFill>
                <a:blip r:embed="rId2"/>
                <a:stretch>
                  <a:fillRect l="-970" t="-805" r="-910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483" y="6801779"/>
            <a:ext cx="3829584" cy="72400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250" y="7483475"/>
            <a:ext cx="10033000" cy="266700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58907" y="3292475"/>
            <a:ext cx="5028712" cy="5410200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11458907" y="2225675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b="1" dirty="0">
                <a:ln w="222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</a:rPr>
              <a:t>Actividad de practica</a:t>
            </a:r>
            <a:endParaRPr lang="es-419" sz="4000" b="1" dirty="0">
              <a:ln w="222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0025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603250" y="777875"/>
            <a:ext cx="1004313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4000" b="1" dirty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Trigonometría del  triangulo rectángulo  </a:t>
            </a:r>
            <a:endParaRPr lang="es-419" sz="40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50" y="2054638"/>
            <a:ext cx="8805334" cy="3962400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603250" y="6423370"/>
            <a:ext cx="875752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4000" b="1" dirty="0">
                <a:solidFill>
                  <a:schemeClr val="accent5">
                    <a:lumMod val="75000"/>
                  </a:schemeClr>
                </a:solidFill>
              </a:rPr>
              <a:t>RELACIONES TRIGONOMÉTRICAS</a:t>
            </a:r>
            <a:endParaRPr lang="en-US" sz="4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450850" y="7310269"/>
                <a:ext cx="1164394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CO" dirty="0">
                    <a:solidFill>
                      <a:srgbClr val="231F20"/>
                    </a:solidFill>
                    <a:latin typeface="Times-Roman"/>
                  </a:rPr>
                  <a:t>Considere un triángulo rectángulo con </a:t>
                </a:r>
                <a14:m>
                  <m:oMath xmlns:m="http://schemas.openxmlformats.org/officeDocument/2006/math">
                    <m:r>
                      <a:rPr lang="es-CO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s-ES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CO" dirty="0">
                    <a:solidFill>
                      <a:srgbClr val="231F20"/>
                    </a:solidFill>
                    <a:latin typeface="Times-Roman"/>
                  </a:rPr>
                  <a:t> como uno de sus ángulos agudos. Las relaciones </a:t>
                </a:r>
                <a:endParaRPr lang="es-CO" dirty="0"/>
              </a:p>
              <a:p>
                <a:r>
                  <a:rPr lang="es-CO" dirty="0">
                    <a:solidFill>
                      <a:srgbClr val="231F20"/>
                    </a:solidFill>
                    <a:latin typeface="Times-Roman"/>
                  </a:rPr>
                  <a:t>trigonométricas se definen así: </a:t>
                </a:r>
                <a:endParaRPr lang="es-419" dirty="0"/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850" y="7310269"/>
                <a:ext cx="11643947" cy="646331"/>
              </a:xfrm>
              <a:prstGeom prst="rect">
                <a:avLst/>
              </a:prstGeom>
              <a:blipFill>
                <a:blip r:embed="rId3"/>
                <a:stretch>
                  <a:fillRect l="-471" t="-4717" b="-14151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50" y="8245475"/>
            <a:ext cx="9698534" cy="2395862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/>
              <p:cNvSpPr/>
              <p:nvPr/>
            </p:nvSpPr>
            <p:spPr>
              <a:xfrm>
                <a:off x="10433050" y="6820653"/>
                <a:ext cx="10305381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CO" sz="2000" dirty="0">
                    <a:solidFill>
                      <a:srgbClr val="231F2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Encuentre las seis relaciones trigonométricas del ángulo </a:t>
                </a:r>
                <a14:m>
                  <m:oMath xmlns:m="http://schemas.openxmlformats.org/officeDocument/2006/math">
                    <m:r>
                      <a:rPr lang="es-CO" sz="200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s-419" sz="2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del siguiente triangulo.</a:t>
                </a:r>
              </a:p>
            </p:txBody>
          </p:sp>
        </mc:Choice>
        <mc:Fallback xmlns="">
          <p:sp>
            <p:nvSpPr>
              <p:cNvPr id="8" name="Rectá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3050" y="6820653"/>
                <a:ext cx="10305381" cy="400110"/>
              </a:xfrm>
              <a:prstGeom prst="rect">
                <a:avLst/>
              </a:prstGeom>
              <a:blipFill>
                <a:blip r:embed="rId5"/>
                <a:stretch>
                  <a:fillRect l="-532" t="-9091" b="-25758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n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6384" y="7449133"/>
            <a:ext cx="3003688" cy="26725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ángulo 9"/>
              <p:cNvSpPr/>
              <p:nvPr/>
            </p:nvSpPr>
            <p:spPr>
              <a:xfrm>
                <a:off x="10559715" y="10260205"/>
                <a:ext cx="10052050" cy="76104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CO" dirty="0">
                    <a:solidFill>
                      <a:srgbClr val="231F2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Si </a:t>
                </a:r>
                <a14:m>
                  <m:oMath xmlns:m="http://schemas.openxmlformats.org/officeDocument/2006/math">
                    <m:r>
                      <a:rPr lang="es-CO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s-CO" dirty="0">
                    <a:solidFill>
                      <a:srgbClr val="231F2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es un ángulo agudo y cos</a:t>
                </a:r>
                <a14:m>
                  <m:oMath xmlns:m="http://schemas.openxmlformats.org/officeDocument/2006/math">
                    <m:r>
                      <a:rPr lang="es-CO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s-ES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s-ES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s-CO" dirty="0">
                    <a:solidFill>
                      <a:srgbClr val="231F2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, encuentre los valores de las relaciones trigonométricas restantes.</a:t>
                </a:r>
                <a:endParaRPr lang="es-419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Rectángulo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9715" y="10260205"/>
                <a:ext cx="10052050" cy="761042"/>
              </a:xfrm>
              <a:prstGeom prst="rect">
                <a:avLst/>
              </a:prstGeom>
              <a:blipFill>
                <a:blip r:embed="rId7"/>
                <a:stretch>
                  <a:fillRect l="-364" b="-12000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n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2650" y="2414652"/>
            <a:ext cx="7516274" cy="3477110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63765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603250" y="777875"/>
            <a:ext cx="548740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4000" b="1" dirty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Actividad de practica </a:t>
            </a:r>
            <a:endParaRPr lang="es-419" sz="40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/>
              <p:cNvSpPr/>
              <p:nvPr/>
            </p:nvSpPr>
            <p:spPr>
              <a:xfrm>
                <a:off x="242633" y="2101076"/>
                <a:ext cx="6248400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CO" sz="2400" dirty="0">
                    <a:solidFill>
                      <a:srgbClr val="231F2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Un topógrafo observa que en un punto A, situado al nivel del suelo a una distancia de 25 pies de la base B de un asta de bandera, el ángulo entre el suelo y el extremo superior del poste es de 30. Calcule la altura </a:t>
                </a:r>
                <a14:m>
                  <m:oMath xmlns:m="http://schemas.openxmlformats.org/officeDocument/2006/math">
                    <m:r>
                      <a:rPr lang="es-CO" sz="2400" i="1" dirty="0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s-CO" sz="2400" i="1" dirty="0">
                    <a:solidFill>
                      <a:srgbClr val="231F2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s-CO" sz="2400" dirty="0">
                    <a:solidFill>
                      <a:srgbClr val="231F2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del poste al décimo de pie más cercano</a:t>
                </a:r>
                <a:endParaRPr lang="es-419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Rectá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633" y="2101076"/>
                <a:ext cx="6248400" cy="2308324"/>
              </a:xfrm>
              <a:prstGeom prst="rect">
                <a:avLst/>
              </a:prstGeom>
              <a:blipFill>
                <a:blip r:embed="rId2"/>
                <a:stretch>
                  <a:fillRect l="-1561" t="-2116" r="-1463" b="-5026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850" y="4599829"/>
            <a:ext cx="3035548" cy="2167207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4"/>
          <a:srcRect l="11203" t="15997" r="20460" b="14678"/>
          <a:stretch/>
        </p:blipFill>
        <p:spPr>
          <a:xfrm>
            <a:off x="780217" y="8475778"/>
            <a:ext cx="5468183" cy="2330701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5"/>
          <a:srcRect l="23931" t="29989" r="31623" b="12234"/>
          <a:stretch/>
        </p:blipFill>
        <p:spPr>
          <a:xfrm>
            <a:off x="15919450" y="2397491"/>
            <a:ext cx="3657320" cy="2438213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0" y="7283493"/>
            <a:ext cx="6248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O" sz="2400" dirty="0">
                <a:solidFill>
                  <a:srgbClr val="231F2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Calcule la altura h de una montaña con la siguiente información </a:t>
            </a:r>
            <a:endParaRPr lang="es-419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/>
              <p:cNvSpPr/>
              <p:nvPr/>
            </p:nvSpPr>
            <p:spPr>
              <a:xfrm>
                <a:off x="9442450" y="2178399"/>
                <a:ext cx="6248400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CO" sz="2800" dirty="0">
                    <a:solidFill>
                      <a:srgbClr val="231F2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Las dimensiones de una caja se ven en la siguiente figura. Calcule la longitud de la diagonal entre las esquinas P y Q. ¿Cuál es el ángulo </a:t>
                </a:r>
                <a14:m>
                  <m:oMath xmlns:m="http://schemas.openxmlformats.org/officeDocument/2006/math">
                    <m:r>
                      <a:rPr lang="es-CO" sz="280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 panose="020B0604030504040204" pitchFamily="34" charset="0"/>
                      </a:rPr>
                      <m:t>𝜃</m:t>
                    </m:r>
                  </m:oMath>
                </a14:m>
                <a:r>
                  <a:rPr lang="es-CO" sz="2800" dirty="0">
                    <a:solidFill>
                      <a:srgbClr val="231F2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formado entre la diagonal y la orilla inferior de la caja?</a:t>
                </a:r>
                <a:endParaRPr lang="es-419" sz="2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Rectá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2450" y="2178399"/>
                <a:ext cx="6248400" cy="2677656"/>
              </a:xfrm>
              <a:prstGeom prst="rect">
                <a:avLst/>
              </a:prstGeom>
              <a:blipFill>
                <a:blip r:embed="rId6"/>
                <a:stretch>
                  <a:fillRect l="-2049" t="-2273" r="-1951" b="-5227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ángulo 8"/>
          <p:cNvSpPr/>
          <p:nvPr/>
        </p:nvSpPr>
        <p:spPr>
          <a:xfrm>
            <a:off x="9424857" y="7220514"/>
            <a:ext cx="59436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O" sz="2400" dirty="0">
                <a:solidFill>
                  <a:srgbClr val="181A1C"/>
                </a:solidFill>
                <a:effectLst/>
                <a:latin typeface="Times-Roman"/>
              </a:rPr>
              <a:t>U na bandera </a:t>
            </a:r>
            <a:r>
              <a:rPr lang="es-CO" sz="2400" dirty="0">
                <a:solidFill>
                  <a:srgbClr val="2E3031"/>
                </a:solidFill>
                <a:effectLst/>
                <a:latin typeface="Times-Roman"/>
              </a:rPr>
              <a:t>está en </a:t>
            </a:r>
            <a:r>
              <a:rPr lang="es-CO" sz="2400" dirty="0">
                <a:solidFill>
                  <a:srgbClr val="181A1C"/>
                </a:solidFill>
                <a:effectLst/>
                <a:latin typeface="Times-Roman"/>
              </a:rPr>
              <a:t>la </a:t>
            </a:r>
            <a:r>
              <a:rPr lang="es-CO" sz="2400" dirty="0">
                <a:solidFill>
                  <a:srgbClr val="2E3031"/>
                </a:solidFill>
                <a:effectLst/>
                <a:latin typeface="Times-Roman"/>
              </a:rPr>
              <a:t>orilla </a:t>
            </a:r>
            <a:r>
              <a:rPr lang="es-CO" sz="2400" dirty="0">
                <a:solidFill>
                  <a:srgbClr val="181A1C"/>
                </a:solidFill>
                <a:effectLst/>
                <a:latin typeface="Times-Roman"/>
              </a:rPr>
              <a:t>de un  a</a:t>
            </a:r>
            <a:r>
              <a:rPr lang="es-CO" sz="2400" dirty="0">
                <a:solidFill>
                  <a:srgbClr val="2E3031"/>
                </a:solidFill>
                <a:effectLst/>
                <a:latin typeface="Times-Roman"/>
              </a:rPr>
              <a:t>cantilado </a:t>
            </a:r>
            <a:r>
              <a:rPr lang="es-CO" sz="2400" dirty="0">
                <a:solidFill>
                  <a:srgbClr val="181A1C"/>
                </a:solidFill>
                <a:effectLst/>
                <a:latin typeface="Times-Roman"/>
              </a:rPr>
              <a:t>de 50 pies de </a:t>
            </a:r>
            <a:r>
              <a:rPr lang="es-CO" sz="2400" dirty="0">
                <a:solidFill>
                  <a:srgbClr val="2E3031"/>
                </a:solidFill>
                <a:effectLst/>
                <a:latin typeface="Times-Roman"/>
              </a:rPr>
              <a:t>altura, en </a:t>
            </a:r>
            <a:r>
              <a:rPr lang="es-CO" sz="2400" dirty="0">
                <a:solidFill>
                  <a:srgbClr val="181A1C"/>
                </a:solidFill>
                <a:effectLst/>
                <a:latin typeface="Times-Roman"/>
              </a:rPr>
              <a:t>la </a:t>
            </a:r>
            <a:r>
              <a:rPr lang="es-CO" sz="2400" dirty="0">
                <a:solidFill>
                  <a:srgbClr val="2E3031"/>
                </a:solidFill>
                <a:effectLst/>
                <a:latin typeface="Times-Roman"/>
              </a:rPr>
              <a:t>orilla </a:t>
            </a:r>
            <a:r>
              <a:rPr lang="es-CO" sz="2400" dirty="0">
                <a:solidFill>
                  <a:srgbClr val="181A1C"/>
                </a:solidFill>
                <a:effectLst/>
                <a:latin typeface="Times-Roman"/>
              </a:rPr>
              <a:t>de un río de 40 pies de </a:t>
            </a:r>
            <a:r>
              <a:rPr lang="es-CO" sz="2400" dirty="0">
                <a:solidFill>
                  <a:srgbClr val="2E3031"/>
                </a:solidFill>
                <a:effectLst/>
                <a:latin typeface="Times-Roman"/>
              </a:rPr>
              <a:t>ancho</a:t>
            </a:r>
            <a:r>
              <a:rPr lang="es-CO" sz="2400" dirty="0">
                <a:solidFill>
                  <a:srgbClr val="494646"/>
                </a:solidFill>
                <a:effectLst/>
                <a:latin typeface="Times-Roman"/>
              </a:rPr>
              <a:t>. </a:t>
            </a:r>
            <a:r>
              <a:rPr lang="es-CO" sz="2400" dirty="0">
                <a:solidFill>
                  <a:srgbClr val="181A1C"/>
                </a:solidFill>
                <a:latin typeface="Times-Roman"/>
              </a:rPr>
              <a:t>Como se ve en la figura. </a:t>
            </a:r>
            <a:r>
              <a:rPr lang="es-CO" sz="2400" dirty="0">
                <a:solidFill>
                  <a:srgbClr val="181A1C"/>
                </a:solidFill>
                <a:effectLst/>
                <a:latin typeface="Times-Roman"/>
              </a:rPr>
              <a:t>Un </a:t>
            </a:r>
            <a:r>
              <a:rPr lang="es-CO" sz="2400" dirty="0">
                <a:solidFill>
                  <a:srgbClr val="2E3031"/>
                </a:solidFill>
                <a:effectLst/>
                <a:latin typeface="Times-Roman"/>
              </a:rPr>
              <a:t>observador en </a:t>
            </a:r>
            <a:r>
              <a:rPr lang="es-CO" sz="2400" dirty="0">
                <a:solidFill>
                  <a:srgbClr val="181A1C"/>
                </a:solidFill>
                <a:effectLst/>
                <a:latin typeface="Times-Roman"/>
              </a:rPr>
              <a:t>la </a:t>
            </a:r>
            <a:r>
              <a:rPr lang="es-CO" sz="2400" dirty="0">
                <a:solidFill>
                  <a:srgbClr val="2E3031"/>
                </a:solidFill>
                <a:effectLst/>
                <a:latin typeface="Times-Roman"/>
              </a:rPr>
              <a:t>orilla opuesta </a:t>
            </a:r>
            <a:r>
              <a:rPr lang="es-CO" sz="2400" dirty="0">
                <a:solidFill>
                  <a:srgbClr val="181A1C"/>
                </a:solidFill>
                <a:effectLst/>
                <a:latin typeface="Times-Roman"/>
              </a:rPr>
              <a:t>del río mide un </a:t>
            </a:r>
            <a:r>
              <a:rPr lang="es-CO" sz="2400" dirty="0">
                <a:solidFill>
                  <a:srgbClr val="2E3031"/>
                </a:solidFill>
                <a:effectLst/>
                <a:latin typeface="Times-Roman"/>
              </a:rPr>
              <a:t>ángulo </a:t>
            </a:r>
            <a:r>
              <a:rPr lang="es-CO" sz="2400" dirty="0">
                <a:solidFill>
                  <a:srgbClr val="181A1C"/>
                </a:solidFill>
                <a:effectLst/>
                <a:latin typeface="Times-Roman"/>
              </a:rPr>
              <a:t>de </a:t>
            </a:r>
            <a:r>
              <a:rPr lang="es-CO" sz="2400" dirty="0">
                <a:solidFill>
                  <a:srgbClr val="2E3031"/>
                </a:solidFill>
                <a:effectLst/>
                <a:latin typeface="Times-Roman"/>
              </a:rPr>
              <a:t>9</a:t>
            </a:r>
            <a:r>
              <a:rPr lang="es-CO" sz="2400" dirty="0">
                <a:solidFill>
                  <a:srgbClr val="585756"/>
                </a:solidFill>
                <a:effectLst/>
                <a:latin typeface="Times-Roman"/>
              </a:rPr>
              <a:t>° </a:t>
            </a:r>
            <a:r>
              <a:rPr lang="es-CO" sz="2400" dirty="0">
                <a:solidFill>
                  <a:srgbClr val="2E3031"/>
                </a:solidFill>
                <a:effectLst/>
                <a:latin typeface="Times-Roman"/>
              </a:rPr>
              <a:t>entre su </a:t>
            </a:r>
            <a:r>
              <a:rPr lang="es-CO" sz="2400" dirty="0">
                <a:solidFill>
                  <a:srgbClr val="181A1C"/>
                </a:solidFill>
                <a:effectLst/>
                <a:latin typeface="Times-Roman"/>
              </a:rPr>
              <a:t>visual </a:t>
            </a:r>
            <a:r>
              <a:rPr lang="es-CO" sz="2400" dirty="0">
                <a:solidFill>
                  <a:srgbClr val="2E3031"/>
                </a:solidFill>
                <a:effectLst/>
                <a:latin typeface="Times-Roman"/>
              </a:rPr>
              <a:t>a </a:t>
            </a:r>
            <a:r>
              <a:rPr lang="es-CO" sz="2400" dirty="0">
                <a:solidFill>
                  <a:srgbClr val="181A1C"/>
                </a:solidFill>
                <a:effectLst/>
                <a:latin typeface="Times-Roman"/>
              </a:rPr>
              <a:t>la punta del </a:t>
            </a:r>
            <a:r>
              <a:rPr lang="es-CO" sz="2400" dirty="0">
                <a:solidFill>
                  <a:srgbClr val="2E3031"/>
                </a:solidFill>
                <a:effectLst/>
                <a:latin typeface="Times-Roman"/>
              </a:rPr>
              <a:t>asta y su visual a </a:t>
            </a:r>
            <a:r>
              <a:rPr lang="es-CO" sz="2400" dirty="0">
                <a:solidFill>
                  <a:srgbClr val="181A1C"/>
                </a:solidFill>
                <a:effectLst/>
                <a:latin typeface="Times-Roman"/>
              </a:rPr>
              <a:t>la base del </a:t>
            </a:r>
            <a:r>
              <a:rPr lang="es-CO" sz="2400" dirty="0">
                <a:solidFill>
                  <a:srgbClr val="2E3031"/>
                </a:solidFill>
                <a:effectLst/>
                <a:latin typeface="Times-Roman"/>
              </a:rPr>
              <a:t>asta. </a:t>
            </a:r>
            <a:r>
              <a:rPr lang="es-CO" sz="2400" dirty="0">
                <a:solidFill>
                  <a:srgbClr val="181A1C"/>
                </a:solidFill>
                <a:effectLst/>
                <a:latin typeface="Times-Roman"/>
              </a:rPr>
              <a:t>Calcule la </a:t>
            </a:r>
            <a:r>
              <a:rPr lang="es-CO" sz="2400" dirty="0">
                <a:solidFill>
                  <a:srgbClr val="2E3031"/>
                </a:solidFill>
                <a:effectLst/>
                <a:latin typeface="Times-Roman"/>
              </a:rPr>
              <a:t>altura </a:t>
            </a:r>
            <a:r>
              <a:rPr lang="es-CO" sz="2400" dirty="0">
                <a:solidFill>
                  <a:srgbClr val="181A1C"/>
                </a:solidFill>
                <a:effectLst/>
                <a:latin typeface="Times-Roman"/>
              </a:rPr>
              <a:t>del </a:t>
            </a:r>
            <a:r>
              <a:rPr lang="es-CO" sz="2400" dirty="0">
                <a:solidFill>
                  <a:srgbClr val="2E3031"/>
                </a:solidFill>
                <a:effectLst/>
                <a:latin typeface="Times-Roman"/>
              </a:rPr>
              <a:t>asta </a:t>
            </a:r>
            <a:r>
              <a:rPr lang="es-CO" sz="2400" dirty="0">
                <a:solidFill>
                  <a:srgbClr val="181A1C"/>
                </a:solidFill>
                <a:effectLst/>
                <a:latin typeface="Times-Roman"/>
              </a:rPr>
              <a:t>de bandera.</a:t>
            </a:r>
            <a:endParaRPr lang="es-419" sz="2400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90850" y="6567418"/>
            <a:ext cx="3285976" cy="398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315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FCDE58CE99D8342A8E0214B3B5575A9" ma:contentTypeVersion="11" ma:contentTypeDescription="Crear nuevo documento." ma:contentTypeScope="" ma:versionID="291568386eb012268d74aa0d43a45c1a">
  <xsd:schema xmlns:xsd="http://www.w3.org/2001/XMLSchema" xmlns:xs="http://www.w3.org/2001/XMLSchema" xmlns:p="http://schemas.microsoft.com/office/2006/metadata/properties" xmlns:ns3="8a808648-60b0-4918-966f-b210d93cfb0d" targetNamespace="http://schemas.microsoft.com/office/2006/metadata/properties" ma:root="true" ma:fieldsID="a2bfbbfb6545a576a46cf13cea747d5c" ns3:_="">
    <xsd:import namespace="8a808648-60b0-4918-966f-b210d93cfb0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808648-60b0-4918-966f-b210d93cfb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a808648-60b0-4918-966f-b210d93cfb0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B3644BD-7B65-43D5-AA9A-9EE54A54B5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808648-60b0-4918-966f-b210d93cfb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327D51-DC68-401A-A781-7AE13751AD86}">
  <ds:schemaRefs>
    <ds:schemaRef ds:uri="8a808648-60b0-4918-966f-b210d93cfb0d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268C8323-79AA-45A3-8FB6-9E2E0E00D0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3130</TotalTime>
  <Words>675</Words>
  <Application>Microsoft Office PowerPoint</Application>
  <PresentationFormat>Personalizado</PresentationFormat>
  <Paragraphs>48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6" baseType="lpstr">
      <vt:lpstr>Arial</vt:lpstr>
      <vt:lpstr>Cambria Math</vt:lpstr>
      <vt:lpstr>Roboto</vt:lpstr>
      <vt:lpstr>Rockwell Extra Bold</vt:lpstr>
      <vt:lpstr>Sitka Text</vt:lpstr>
      <vt:lpstr>Tahoma</vt:lpstr>
      <vt:lpstr>TimesLTStd-Italic</vt:lpstr>
      <vt:lpstr>TimesLTStd-Roman</vt:lpstr>
      <vt:lpstr>Times-Roman</vt:lpstr>
      <vt:lpstr>WWDOC01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OTROS recursos pptx</dc:title>
  <dc:creator>Maira Alejandra Palacios Arce</dc:creator>
  <cp:lastModifiedBy>Maira Alejandra Palacios Arce</cp:lastModifiedBy>
  <cp:revision>176</cp:revision>
  <dcterms:created xsi:type="dcterms:W3CDTF">2024-11-07T16:52:39Z</dcterms:created>
  <dcterms:modified xsi:type="dcterms:W3CDTF">2025-12-12T14:45:14Z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2024-11-07T00:00:00Z</vt:filetime>
  </property>
  <property fmtid="{D5CDD505-2E9C-101B-9397-08002B2CF9AE}" pid="3" name="Creator">
    <vt:lpwstr>Adobe Illustrator 29.0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2024-11-07T00:00:00Z</vt:filetime>
  </property>
  <property fmtid="{D5CDD505-2E9C-101B-9397-08002B2CF9AE}" pid="6" name="Producer">
    <vt:lpwstr>Adobe PDF library 17.00</vt:lpwstr>
  </property>
  <property fmtid="{D5CDD505-2E9C-101B-9397-08002B2CF9AE}" pid="7" name="ContentTypeId">
    <vt:lpwstr>0x010100AFCDE58CE99D8342A8E0214B3B5575A9</vt:lpwstr>
  </property>
</Properties>
</file>
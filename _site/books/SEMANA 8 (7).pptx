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JPG" ContentType="image/.jpg"/>
  <Default Extension="png" ContentType="image/png"/>
  <Default Extension="emf" ContentType="image/x-emf"/>
  <Default Extension="rels" ContentType="application/vnd.openxmlformats-package.relationshi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3"/>
    <p:sldId id="308" r:id="rId4"/>
    <p:sldId id="309" r:id="rId5"/>
    <p:sldId id="310" r:id="rId6"/>
    <p:sldId id="311" r:id="rId7"/>
    <p:sldId id="312" r:id="rId8"/>
    <p:sldId id="314" r:id="rId9"/>
    <p:sldId id="315" r:id="rId10"/>
    <p:sldId id="316" r:id="rId11"/>
  </p:sldIdLst>
  <p:sldSz cx="20104100" cy="11309350"/>
  <p:notesSz cx="20104100" cy="113093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36"/>
    <p:restoredTop sz="94709"/>
  </p:normalViewPr>
  <p:slideViewPr>
    <p:cSldViewPr>
      <p:cViewPr varScale="1">
        <p:scale>
          <a:sx n="29" d="100"/>
          <a:sy n="29" d="100"/>
        </p:scale>
        <p:origin x="1146" y="84"/>
      </p:cViewPr>
      <p:guideLst/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customXml" Target="../customXml/item3.xml"/><Relationship Id="rId16" Type="http://schemas.openxmlformats.org/officeDocument/2006/relationships/customXml" Target="../customXml/item2.xml"/><Relationship Id="rId15" Type="http://schemas.openxmlformats.org/officeDocument/2006/relationships/customXml" Target="../customXml/item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97"/>
            <a:ext cx="20186650" cy="11354988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3"/>
          <p:cNvSpPr/>
          <p:nvPr/>
        </p:nvSpPr>
        <p:spPr>
          <a:xfrm>
            <a:off x="7080850" y="5"/>
            <a:ext cx="13023850" cy="2725420"/>
          </a:xfrm>
          <a:custGeom>
            <a:avLst/>
            <a:gdLst/>
            <a:ahLst/>
            <a:cxnLst/>
            <a:rect l="l" t="t" r="r" b="b"/>
            <a:pathLst>
              <a:path w="13023850" h="2725420">
                <a:moveTo>
                  <a:pt x="13023247" y="0"/>
                </a:moveTo>
                <a:lnTo>
                  <a:pt x="0" y="0"/>
                </a:lnTo>
                <a:lnTo>
                  <a:pt x="0" y="2725047"/>
                </a:lnTo>
                <a:lnTo>
                  <a:pt x="11804666" y="2725047"/>
                </a:lnTo>
                <a:lnTo>
                  <a:pt x="11852516" y="2724125"/>
                </a:lnTo>
                <a:lnTo>
                  <a:pt x="11899898" y="2721381"/>
                </a:lnTo>
                <a:lnTo>
                  <a:pt x="11946779" y="2716849"/>
                </a:lnTo>
                <a:lnTo>
                  <a:pt x="11993125" y="2710563"/>
                </a:lnTo>
                <a:lnTo>
                  <a:pt x="12038902" y="2702557"/>
                </a:lnTo>
                <a:lnTo>
                  <a:pt x="12084076" y="2692864"/>
                </a:lnTo>
                <a:lnTo>
                  <a:pt x="12128614" y="2681519"/>
                </a:lnTo>
                <a:lnTo>
                  <a:pt x="12172481" y="2668555"/>
                </a:lnTo>
                <a:lnTo>
                  <a:pt x="12215644" y="2654006"/>
                </a:lnTo>
                <a:lnTo>
                  <a:pt x="12258069" y="2637906"/>
                </a:lnTo>
                <a:lnTo>
                  <a:pt x="12299721" y="2620290"/>
                </a:lnTo>
                <a:lnTo>
                  <a:pt x="12340568" y="2601190"/>
                </a:lnTo>
                <a:lnTo>
                  <a:pt x="12380575" y="2580641"/>
                </a:lnTo>
                <a:lnTo>
                  <a:pt x="12419708" y="2558676"/>
                </a:lnTo>
                <a:lnTo>
                  <a:pt x="12457934" y="2535330"/>
                </a:lnTo>
                <a:lnTo>
                  <a:pt x="12495218" y="2510636"/>
                </a:lnTo>
                <a:lnTo>
                  <a:pt x="12531527" y="2484628"/>
                </a:lnTo>
                <a:lnTo>
                  <a:pt x="12566827" y="2457340"/>
                </a:lnTo>
                <a:lnTo>
                  <a:pt x="12601084" y="2428805"/>
                </a:lnTo>
                <a:lnTo>
                  <a:pt x="12634264" y="2399059"/>
                </a:lnTo>
                <a:lnTo>
                  <a:pt x="12666334" y="2368134"/>
                </a:lnTo>
                <a:lnTo>
                  <a:pt x="12697259" y="2336065"/>
                </a:lnTo>
                <a:lnTo>
                  <a:pt x="12727005" y="2302885"/>
                </a:lnTo>
                <a:lnTo>
                  <a:pt x="12755539" y="2268628"/>
                </a:lnTo>
                <a:lnTo>
                  <a:pt x="12782827" y="2233328"/>
                </a:lnTo>
                <a:lnTo>
                  <a:pt x="12808835" y="2197019"/>
                </a:lnTo>
                <a:lnTo>
                  <a:pt x="12833529" y="2159734"/>
                </a:lnTo>
                <a:lnTo>
                  <a:pt x="12856875" y="2121509"/>
                </a:lnTo>
                <a:lnTo>
                  <a:pt x="12878840" y="2082375"/>
                </a:lnTo>
                <a:lnTo>
                  <a:pt x="12899389" y="2042369"/>
                </a:lnTo>
                <a:lnTo>
                  <a:pt x="12918489" y="2001522"/>
                </a:lnTo>
                <a:lnTo>
                  <a:pt x="12936106" y="1959869"/>
                </a:lnTo>
                <a:lnTo>
                  <a:pt x="12952206" y="1917445"/>
                </a:lnTo>
                <a:lnTo>
                  <a:pt x="12966754" y="1874282"/>
                </a:lnTo>
                <a:lnTo>
                  <a:pt x="12979718" y="1830414"/>
                </a:lnTo>
                <a:lnTo>
                  <a:pt x="12991063" y="1785877"/>
                </a:lnTo>
                <a:lnTo>
                  <a:pt x="13000756" y="1740702"/>
                </a:lnTo>
                <a:lnTo>
                  <a:pt x="13008763" y="1694925"/>
                </a:lnTo>
                <a:lnTo>
                  <a:pt x="13015049" y="1648579"/>
                </a:lnTo>
                <a:lnTo>
                  <a:pt x="13019581" y="1601698"/>
                </a:lnTo>
                <a:lnTo>
                  <a:pt x="13022325" y="1554316"/>
                </a:lnTo>
                <a:lnTo>
                  <a:pt x="13023247" y="1506467"/>
                </a:lnTo>
                <a:lnTo>
                  <a:pt x="13023247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8612" y="1158875"/>
            <a:ext cx="10218978" cy="9624002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5894951" y="0"/>
            <a:ext cx="14209394" cy="11308715"/>
          </a:xfrm>
          <a:custGeom>
            <a:avLst/>
            <a:gdLst/>
            <a:ahLst/>
            <a:cxnLst/>
            <a:rect l="l" t="t" r="r" b="b"/>
            <a:pathLst>
              <a:path w="14209394" h="11308715">
                <a:moveTo>
                  <a:pt x="14209148" y="0"/>
                </a:moveTo>
                <a:lnTo>
                  <a:pt x="0" y="0"/>
                </a:lnTo>
                <a:lnTo>
                  <a:pt x="0" y="11308556"/>
                </a:lnTo>
                <a:lnTo>
                  <a:pt x="14209148" y="11308556"/>
                </a:lnTo>
                <a:lnTo>
                  <a:pt x="14209148" y="0"/>
                </a:lnTo>
                <a:close/>
              </a:path>
            </a:pathLst>
          </a:custGeom>
          <a:solidFill>
            <a:srgbClr val="F8F4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1308715" cy="11308715"/>
          </a:xfrm>
          <a:custGeom>
            <a:avLst/>
            <a:gdLst/>
            <a:ahLst/>
            <a:cxnLst/>
            <a:rect l="l" t="t" r="r" b="b"/>
            <a:pathLst>
              <a:path w="11308715" h="11308715">
                <a:moveTo>
                  <a:pt x="11308556" y="0"/>
                </a:moveTo>
                <a:lnTo>
                  <a:pt x="0" y="0"/>
                </a:lnTo>
                <a:lnTo>
                  <a:pt x="0" y="11308556"/>
                </a:lnTo>
                <a:lnTo>
                  <a:pt x="11308556" y="11308556"/>
                </a:lnTo>
                <a:lnTo>
                  <a:pt x="11308556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104726" cy="691104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2"/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BAD6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3"/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3" name="Imagen 2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D3C5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0" y="0"/>
            <a:ext cx="20104100" cy="11308715"/>
          </a:xfrm>
          <a:custGeom>
            <a:avLst/>
            <a:gdLst/>
            <a:ahLst/>
            <a:cxnLst/>
            <a:rect l="l" t="t" r="r" b="b"/>
            <a:pathLst>
              <a:path w="20104100" h="11308715">
                <a:moveTo>
                  <a:pt x="20104099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099" y="11308556"/>
                </a:lnTo>
                <a:lnTo>
                  <a:pt x="20104099" y="0"/>
                </a:lnTo>
                <a:close/>
              </a:path>
            </a:pathLst>
          </a:custGeom>
          <a:solidFill>
            <a:srgbClr val="E1EBE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3"/>
          <p:cNvSpPr/>
          <p:nvPr userDrawn="1"/>
        </p:nvSpPr>
        <p:spPr>
          <a:xfrm>
            <a:off x="2422668" y="1566986"/>
            <a:ext cx="15259050" cy="8174990"/>
          </a:xfrm>
          <a:custGeom>
            <a:avLst/>
            <a:gdLst/>
            <a:ahLst/>
            <a:cxnLst/>
            <a:rect l="l" t="t" r="r" b="b"/>
            <a:pathLst>
              <a:path w="15259050" h="8174990">
                <a:moveTo>
                  <a:pt x="15017165" y="0"/>
                </a:moveTo>
                <a:lnTo>
                  <a:pt x="241594" y="0"/>
                </a:lnTo>
                <a:lnTo>
                  <a:pt x="192901" y="4909"/>
                </a:lnTo>
                <a:lnTo>
                  <a:pt x="147550" y="18988"/>
                </a:lnTo>
                <a:lnTo>
                  <a:pt x="106511" y="41265"/>
                </a:lnTo>
                <a:lnTo>
                  <a:pt x="70757" y="70767"/>
                </a:lnTo>
                <a:lnTo>
                  <a:pt x="41257" y="106522"/>
                </a:lnTo>
                <a:lnTo>
                  <a:pt x="18984" y="147558"/>
                </a:lnTo>
                <a:lnTo>
                  <a:pt x="4907" y="192903"/>
                </a:lnTo>
                <a:lnTo>
                  <a:pt x="0" y="241584"/>
                </a:lnTo>
                <a:lnTo>
                  <a:pt x="0" y="7932994"/>
                </a:lnTo>
                <a:lnTo>
                  <a:pt x="4907" y="7981690"/>
                </a:lnTo>
                <a:lnTo>
                  <a:pt x="18984" y="8027043"/>
                </a:lnTo>
                <a:lnTo>
                  <a:pt x="41257" y="8068081"/>
                </a:lnTo>
                <a:lnTo>
                  <a:pt x="70757" y="8103835"/>
                </a:lnTo>
                <a:lnTo>
                  <a:pt x="106511" y="8133334"/>
                </a:lnTo>
                <a:lnTo>
                  <a:pt x="147550" y="8155606"/>
                </a:lnTo>
                <a:lnTo>
                  <a:pt x="192901" y="8169681"/>
                </a:lnTo>
                <a:lnTo>
                  <a:pt x="241594" y="8174588"/>
                </a:lnTo>
                <a:lnTo>
                  <a:pt x="1968442" y="8174588"/>
                </a:lnTo>
                <a:lnTo>
                  <a:pt x="2017738" y="8172068"/>
                </a:lnTo>
                <a:lnTo>
                  <a:pt x="2066142" y="8164604"/>
                </a:lnTo>
                <a:lnTo>
                  <a:pt x="2113306" y="8152342"/>
                </a:lnTo>
                <a:lnTo>
                  <a:pt x="2158880" y="8135427"/>
                </a:lnTo>
                <a:lnTo>
                  <a:pt x="2202514" y="8114004"/>
                </a:lnTo>
                <a:lnTo>
                  <a:pt x="2243857" y="8088219"/>
                </a:lnTo>
                <a:lnTo>
                  <a:pt x="2282561" y="8058217"/>
                </a:lnTo>
                <a:lnTo>
                  <a:pt x="2318274" y="8024143"/>
                </a:lnTo>
                <a:lnTo>
                  <a:pt x="2351677" y="7989048"/>
                </a:lnTo>
                <a:lnTo>
                  <a:pt x="2385310" y="7954175"/>
                </a:lnTo>
                <a:lnTo>
                  <a:pt x="2419173" y="7919526"/>
                </a:lnTo>
                <a:lnTo>
                  <a:pt x="2453263" y="7885101"/>
                </a:lnTo>
                <a:lnTo>
                  <a:pt x="2487581" y="7850901"/>
                </a:lnTo>
                <a:lnTo>
                  <a:pt x="2522124" y="7816929"/>
                </a:lnTo>
                <a:lnTo>
                  <a:pt x="2556891" y="7783184"/>
                </a:lnTo>
                <a:lnTo>
                  <a:pt x="2591882" y="7749669"/>
                </a:lnTo>
                <a:lnTo>
                  <a:pt x="2627095" y="7716384"/>
                </a:lnTo>
                <a:lnTo>
                  <a:pt x="2662528" y="7683331"/>
                </a:lnTo>
                <a:lnTo>
                  <a:pt x="2698181" y="7650511"/>
                </a:lnTo>
                <a:lnTo>
                  <a:pt x="2734052" y="7617924"/>
                </a:lnTo>
                <a:lnTo>
                  <a:pt x="2770141" y="7585573"/>
                </a:lnTo>
                <a:lnTo>
                  <a:pt x="2806445" y="7553459"/>
                </a:lnTo>
                <a:lnTo>
                  <a:pt x="2842964" y="7521582"/>
                </a:lnTo>
                <a:lnTo>
                  <a:pt x="2879696" y="7489944"/>
                </a:lnTo>
                <a:lnTo>
                  <a:pt x="2916641" y="7458547"/>
                </a:lnTo>
                <a:lnTo>
                  <a:pt x="2953796" y="7427390"/>
                </a:lnTo>
                <a:lnTo>
                  <a:pt x="2991161" y="7396477"/>
                </a:lnTo>
                <a:lnTo>
                  <a:pt x="3028735" y="7365807"/>
                </a:lnTo>
                <a:lnTo>
                  <a:pt x="3066516" y="7335382"/>
                </a:lnTo>
                <a:lnTo>
                  <a:pt x="3104503" y="7305203"/>
                </a:lnTo>
                <a:lnTo>
                  <a:pt x="3142695" y="7275271"/>
                </a:lnTo>
                <a:lnTo>
                  <a:pt x="3181091" y="7245588"/>
                </a:lnTo>
                <a:lnTo>
                  <a:pt x="3219689" y="7216155"/>
                </a:lnTo>
                <a:lnTo>
                  <a:pt x="3258489" y="7186973"/>
                </a:lnTo>
                <a:lnTo>
                  <a:pt x="3297488" y="7158044"/>
                </a:lnTo>
                <a:lnTo>
                  <a:pt x="3336686" y="7129367"/>
                </a:lnTo>
                <a:lnTo>
                  <a:pt x="3376082" y="7100946"/>
                </a:lnTo>
                <a:lnTo>
                  <a:pt x="3415674" y="7072780"/>
                </a:lnTo>
                <a:lnTo>
                  <a:pt x="3455461" y="7044871"/>
                </a:lnTo>
                <a:lnTo>
                  <a:pt x="3495442" y="7017221"/>
                </a:lnTo>
                <a:lnTo>
                  <a:pt x="3535615" y="6989830"/>
                </a:lnTo>
                <a:lnTo>
                  <a:pt x="3575980" y="6962700"/>
                </a:lnTo>
                <a:lnTo>
                  <a:pt x="3616535" y="6935831"/>
                </a:lnTo>
                <a:lnTo>
                  <a:pt x="3657280" y="6909226"/>
                </a:lnTo>
                <a:lnTo>
                  <a:pt x="3698211" y="6882885"/>
                </a:lnTo>
                <a:lnTo>
                  <a:pt x="3739330" y="6856810"/>
                </a:lnTo>
                <a:lnTo>
                  <a:pt x="3780634" y="6831001"/>
                </a:lnTo>
                <a:lnTo>
                  <a:pt x="3822122" y="6805461"/>
                </a:lnTo>
                <a:lnTo>
                  <a:pt x="3863792" y="6780189"/>
                </a:lnTo>
                <a:lnTo>
                  <a:pt x="3905645" y="6755188"/>
                </a:lnTo>
                <a:lnTo>
                  <a:pt x="3947678" y="6730459"/>
                </a:lnTo>
                <a:lnTo>
                  <a:pt x="3989890" y="6706002"/>
                </a:lnTo>
                <a:lnTo>
                  <a:pt x="4032280" y="6681820"/>
                </a:lnTo>
                <a:lnTo>
                  <a:pt x="4074847" y="6657912"/>
                </a:lnTo>
                <a:lnTo>
                  <a:pt x="4117589" y="6634281"/>
                </a:lnTo>
                <a:lnTo>
                  <a:pt x="4160506" y="6610928"/>
                </a:lnTo>
                <a:lnTo>
                  <a:pt x="4203595" y="6587853"/>
                </a:lnTo>
                <a:lnTo>
                  <a:pt x="4246857" y="6565059"/>
                </a:lnTo>
                <a:lnTo>
                  <a:pt x="4290289" y="6542546"/>
                </a:lnTo>
                <a:lnTo>
                  <a:pt x="4333891" y="6520315"/>
                </a:lnTo>
                <a:lnTo>
                  <a:pt x="4377661" y="6498368"/>
                </a:lnTo>
                <a:lnTo>
                  <a:pt x="4421598" y="6476706"/>
                </a:lnTo>
                <a:lnTo>
                  <a:pt x="4465701" y="6455331"/>
                </a:lnTo>
                <a:lnTo>
                  <a:pt x="4509968" y="6434242"/>
                </a:lnTo>
                <a:lnTo>
                  <a:pt x="4554398" y="6413442"/>
                </a:lnTo>
                <a:lnTo>
                  <a:pt x="4598991" y="6392932"/>
                </a:lnTo>
                <a:lnTo>
                  <a:pt x="4643745" y="6372712"/>
                </a:lnTo>
                <a:lnTo>
                  <a:pt x="4688658" y="6352785"/>
                </a:lnTo>
                <a:lnTo>
                  <a:pt x="4733729" y="6333151"/>
                </a:lnTo>
                <a:lnTo>
                  <a:pt x="4778958" y="6313812"/>
                </a:lnTo>
                <a:lnTo>
                  <a:pt x="4824343" y="6294769"/>
                </a:lnTo>
                <a:lnTo>
                  <a:pt x="4869883" y="6276022"/>
                </a:lnTo>
                <a:lnTo>
                  <a:pt x="4915576" y="6257574"/>
                </a:lnTo>
                <a:lnTo>
                  <a:pt x="4961421" y="6239425"/>
                </a:lnTo>
                <a:lnTo>
                  <a:pt x="5007418" y="6221577"/>
                </a:lnTo>
                <a:lnTo>
                  <a:pt x="5053564" y="6204031"/>
                </a:lnTo>
                <a:lnTo>
                  <a:pt x="5099859" y="6186788"/>
                </a:lnTo>
                <a:lnTo>
                  <a:pt x="5146302" y="6169849"/>
                </a:lnTo>
                <a:lnTo>
                  <a:pt x="5192891" y="6153215"/>
                </a:lnTo>
                <a:lnTo>
                  <a:pt x="5239624" y="6136889"/>
                </a:lnTo>
                <a:lnTo>
                  <a:pt x="5286502" y="6120870"/>
                </a:lnTo>
                <a:lnTo>
                  <a:pt x="5333522" y="6105160"/>
                </a:lnTo>
                <a:lnTo>
                  <a:pt x="5380683" y="6089760"/>
                </a:lnTo>
                <a:lnTo>
                  <a:pt x="5427985" y="6074673"/>
                </a:lnTo>
                <a:lnTo>
                  <a:pt x="5475425" y="6059897"/>
                </a:lnTo>
                <a:lnTo>
                  <a:pt x="5523003" y="6045436"/>
                </a:lnTo>
                <a:lnTo>
                  <a:pt x="5570718" y="6031290"/>
                </a:lnTo>
                <a:lnTo>
                  <a:pt x="5618567" y="6017460"/>
                </a:lnTo>
                <a:lnTo>
                  <a:pt x="5666551" y="6003948"/>
                </a:lnTo>
                <a:lnTo>
                  <a:pt x="5714667" y="5990755"/>
                </a:lnTo>
                <a:lnTo>
                  <a:pt x="5762915" y="5977881"/>
                </a:lnTo>
                <a:lnTo>
                  <a:pt x="5811294" y="5965329"/>
                </a:lnTo>
                <a:lnTo>
                  <a:pt x="5859801" y="5953100"/>
                </a:lnTo>
                <a:lnTo>
                  <a:pt x="5908436" y="5941193"/>
                </a:lnTo>
                <a:lnTo>
                  <a:pt x="5957198" y="5929612"/>
                </a:lnTo>
                <a:lnTo>
                  <a:pt x="6006086" y="5918357"/>
                </a:lnTo>
                <a:lnTo>
                  <a:pt x="6055097" y="5907429"/>
                </a:lnTo>
                <a:lnTo>
                  <a:pt x="6104232" y="5896829"/>
                </a:lnTo>
                <a:lnTo>
                  <a:pt x="6153488" y="5886560"/>
                </a:lnTo>
                <a:lnTo>
                  <a:pt x="6202865" y="5876621"/>
                </a:lnTo>
                <a:lnTo>
                  <a:pt x="6252361" y="5867014"/>
                </a:lnTo>
                <a:lnTo>
                  <a:pt x="6301976" y="5857740"/>
                </a:lnTo>
                <a:lnTo>
                  <a:pt x="6351707" y="5848801"/>
                </a:lnTo>
                <a:lnTo>
                  <a:pt x="6401554" y="5840198"/>
                </a:lnTo>
                <a:lnTo>
                  <a:pt x="6451515" y="5831932"/>
                </a:lnTo>
                <a:lnTo>
                  <a:pt x="6501590" y="5824004"/>
                </a:lnTo>
                <a:lnTo>
                  <a:pt x="6551776" y="5816415"/>
                </a:lnTo>
                <a:lnTo>
                  <a:pt x="6602074" y="5809166"/>
                </a:lnTo>
                <a:lnTo>
                  <a:pt x="6652481" y="5802260"/>
                </a:lnTo>
                <a:lnTo>
                  <a:pt x="6702996" y="5795696"/>
                </a:lnTo>
                <a:lnTo>
                  <a:pt x="6753618" y="5789477"/>
                </a:lnTo>
                <a:lnTo>
                  <a:pt x="6804346" y="5783603"/>
                </a:lnTo>
                <a:lnTo>
                  <a:pt x="6855179" y="5778076"/>
                </a:lnTo>
                <a:lnTo>
                  <a:pt x="6906115" y="5772897"/>
                </a:lnTo>
                <a:lnTo>
                  <a:pt x="6957154" y="5768066"/>
                </a:lnTo>
                <a:lnTo>
                  <a:pt x="7008293" y="5763586"/>
                </a:lnTo>
                <a:lnTo>
                  <a:pt x="7059533" y="5759457"/>
                </a:lnTo>
                <a:lnTo>
                  <a:pt x="7110871" y="5755681"/>
                </a:lnTo>
                <a:lnTo>
                  <a:pt x="7162306" y="5752259"/>
                </a:lnTo>
                <a:lnTo>
                  <a:pt x="7213837" y="5749192"/>
                </a:lnTo>
                <a:lnTo>
                  <a:pt x="7265463" y="5746481"/>
                </a:lnTo>
                <a:lnTo>
                  <a:pt x="7317183" y="5744128"/>
                </a:lnTo>
                <a:lnTo>
                  <a:pt x="7368995" y="5742133"/>
                </a:lnTo>
                <a:lnTo>
                  <a:pt x="7420899" y="5740499"/>
                </a:lnTo>
                <a:lnTo>
                  <a:pt x="7472892" y="5739225"/>
                </a:lnTo>
                <a:lnTo>
                  <a:pt x="7524975" y="5738314"/>
                </a:lnTo>
                <a:lnTo>
                  <a:pt x="7577145" y="5737767"/>
                </a:lnTo>
                <a:lnTo>
                  <a:pt x="7629401" y="5737584"/>
                </a:lnTo>
                <a:lnTo>
                  <a:pt x="7681656" y="5737767"/>
                </a:lnTo>
                <a:lnTo>
                  <a:pt x="7733824" y="5738314"/>
                </a:lnTo>
                <a:lnTo>
                  <a:pt x="7785905" y="5739225"/>
                </a:lnTo>
                <a:lnTo>
                  <a:pt x="7837897" y="5740499"/>
                </a:lnTo>
                <a:lnTo>
                  <a:pt x="7889800" y="5742133"/>
                </a:lnTo>
                <a:lnTo>
                  <a:pt x="7941611" y="5744128"/>
                </a:lnTo>
                <a:lnTo>
                  <a:pt x="7993330" y="5746481"/>
                </a:lnTo>
                <a:lnTo>
                  <a:pt x="8044955" y="5749192"/>
                </a:lnTo>
                <a:lnTo>
                  <a:pt x="8096485" y="5752259"/>
                </a:lnTo>
                <a:lnTo>
                  <a:pt x="8147919" y="5755681"/>
                </a:lnTo>
                <a:lnTo>
                  <a:pt x="8199256" y="5759457"/>
                </a:lnTo>
                <a:lnTo>
                  <a:pt x="8250494" y="5763586"/>
                </a:lnTo>
                <a:lnTo>
                  <a:pt x="8301633" y="5768066"/>
                </a:lnTo>
                <a:lnTo>
                  <a:pt x="8352670" y="5772897"/>
                </a:lnTo>
                <a:lnTo>
                  <a:pt x="8403605" y="5778076"/>
                </a:lnTo>
                <a:lnTo>
                  <a:pt x="8454437" y="5783603"/>
                </a:lnTo>
                <a:lnTo>
                  <a:pt x="8505165" y="5789477"/>
                </a:lnTo>
                <a:lnTo>
                  <a:pt x="8555786" y="5795696"/>
                </a:lnTo>
                <a:lnTo>
                  <a:pt x="8606300" y="5802260"/>
                </a:lnTo>
                <a:lnTo>
                  <a:pt x="8656706" y="5809166"/>
                </a:lnTo>
                <a:lnTo>
                  <a:pt x="8707003" y="5816415"/>
                </a:lnTo>
                <a:lnTo>
                  <a:pt x="8757189" y="5824004"/>
                </a:lnTo>
                <a:lnTo>
                  <a:pt x="8807263" y="5831932"/>
                </a:lnTo>
                <a:lnTo>
                  <a:pt x="8857223" y="5840198"/>
                </a:lnTo>
                <a:lnTo>
                  <a:pt x="8907069" y="5848801"/>
                </a:lnTo>
                <a:lnTo>
                  <a:pt x="8956800" y="5857740"/>
                </a:lnTo>
                <a:lnTo>
                  <a:pt x="9006413" y="5867014"/>
                </a:lnTo>
                <a:lnTo>
                  <a:pt x="9055909" y="5876621"/>
                </a:lnTo>
                <a:lnTo>
                  <a:pt x="9105285" y="5886560"/>
                </a:lnTo>
                <a:lnTo>
                  <a:pt x="9154541" y="5896829"/>
                </a:lnTo>
                <a:lnTo>
                  <a:pt x="9203675" y="5907429"/>
                </a:lnTo>
                <a:lnTo>
                  <a:pt x="9252686" y="5918357"/>
                </a:lnTo>
                <a:lnTo>
                  <a:pt x="9301573" y="5929612"/>
                </a:lnTo>
                <a:lnTo>
                  <a:pt x="9350334" y="5941193"/>
                </a:lnTo>
                <a:lnTo>
                  <a:pt x="9398969" y="5953100"/>
                </a:lnTo>
                <a:lnTo>
                  <a:pt x="9447476" y="5965329"/>
                </a:lnTo>
                <a:lnTo>
                  <a:pt x="9495853" y="5977881"/>
                </a:lnTo>
                <a:lnTo>
                  <a:pt x="9544101" y="5990755"/>
                </a:lnTo>
                <a:lnTo>
                  <a:pt x="9592217" y="6003948"/>
                </a:lnTo>
                <a:lnTo>
                  <a:pt x="9640200" y="6017460"/>
                </a:lnTo>
                <a:lnTo>
                  <a:pt x="9688049" y="6031290"/>
                </a:lnTo>
                <a:lnTo>
                  <a:pt x="9735763" y="6045436"/>
                </a:lnTo>
                <a:lnTo>
                  <a:pt x="9783341" y="6059897"/>
                </a:lnTo>
                <a:lnTo>
                  <a:pt x="9830781" y="6074673"/>
                </a:lnTo>
                <a:lnTo>
                  <a:pt x="9878082" y="6089760"/>
                </a:lnTo>
                <a:lnTo>
                  <a:pt x="9925243" y="6105160"/>
                </a:lnTo>
                <a:lnTo>
                  <a:pt x="9972263" y="6120870"/>
                </a:lnTo>
                <a:lnTo>
                  <a:pt x="10019140" y="6136889"/>
                </a:lnTo>
                <a:lnTo>
                  <a:pt x="10065873" y="6153215"/>
                </a:lnTo>
                <a:lnTo>
                  <a:pt x="10112462" y="6169849"/>
                </a:lnTo>
                <a:lnTo>
                  <a:pt x="10158904" y="6186788"/>
                </a:lnTo>
                <a:lnTo>
                  <a:pt x="10205199" y="6204031"/>
                </a:lnTo>
                <a:lnTo>
                  <a:pt x="10251345" y="6221577"/>
                </a:lnTo>
                <a:lnTo>
                  <a:pt x="10297341" y="6239425"/>
                </a:lnTo>
                <a:lnTo>
                  <a:pt x="10343186" y="6257574"/>
                </a:lnTo>
                <a:lnTo>
                  <a:pt x="10388879" y="6276022"/>
                </a:lnTo>
                <a:lnTo>
                  <a:pt x="10434418" y="6294769"/>
                </a:lnTo>
                <a:lnTo>
                  <a:pt x="10479803" y="6313812"/>
                </a:lnTo>
                <a:lnTo>
                  <a:pt x="10525032" y="6333151"/>
                </a:lnTo>
                <a:lnTo>
                  <a:pt x="10570103" y="6352785"/>
                </a:lnTo>
                <a:lnTo>
                  <a:pt x="10615016" y="6372712"/>
                </a:lnTo>
                <a:lnTo>
                  <a:pt x="10659769" y="6392932"/>
                </a:lnTo>
                <a:lnTo>
                  <a:pt x="10704362" y="6413442"/>
                </a:lnTo>
                <a:lnTo>
                  <a:pt x="10748792" y="6434242"/>
                </a:lnTo>
                <a:lnTo>
                  <a:pt x="10793059" y="6455331"/>
                </a:lnTo>
                <a:lnTo>
                  <a:pt x="10837162" y="6476706"/>
                </a:lnTo>
                <a:lnTo>
                  <a:pt x="10881099" y="6498368"/>
                </a:lnTo>
                <a:lnTo>
                  <a:pt x="10924869" y="6520315"/>
                </a:lnTo>
                <a:lnTo>
                  <a:pt x="10968470" y="6542546"/>
                </a:lnTo>
                <a:lnTo>
                  <a:pt x="11011902" y="6565059"/>
                </a:lnTo>
                <a:lnTo>
                  <a:pt x="11055164" y="6587853"/>
                </a:lnTo>
                <a:lnTo>
                  <a:pt x="11098254" y="6610928"/>
                </a:lnTo>
                <a:lnTo>
                  <a:pt x="11141170" y="6634281"/>
                </a:lnTo>
                <a:lnTo>
                  <a:pt x="11183912" y="6657912"/>
                </a:lnTo>
                <a:lnTo>
                  <a:pt x="11226479" y="6681820"/>
                </a:lnTo>
                <a:lnTo>
                  <a:pt x="11268869" y="6706002"/>
                </a:lnTo>
                <a:lnTo>
                  <a:pt x="11311081" y="6730459"/>
                </a:lnTo>
                <a:lnTo>
                  <a:pt x="11353114" y="6755188"/>
                </a:lnTo>
                <a:lnTo>
                  <a:pt x="11394966" y="6780189"/>
                </a:lnTo>
                <a:lnTo>
                  <a:pt x="11436637" y="6805461"/>
                </a:lnTo>
                <a:lnTo>
                  <a:pt x="11478125" y="6831001"/>
                </a:lnTo>
                <a:lnTo>
                  <a:pt x="11519429" y="6856810"/>
                </a:lnTo>
                <a:lnTo>
                  <a:pt x="11560547" y="6882885"/>
                </a:lnTo>
                <a:lnTo>
                  <a:pt x="11601479" y="6909226"/>
                </a:lnTo>
                <a:lnTo>
                  <a:pt x="11642223" y="6935831"/>
                </a:lnTo>
                <a:lnTo>
                  <a:pt x="11682779" y="6962700"/>
                </a:lnTo>
                <a:lnTo>
                  <a:pt x="11723144" y="6989830"/>
                </a:lnTo>
                <a:lnTo>
                  <a:pt x="11763317" y="7017221"/>
                </a:lnTo>
                <a:lnTo>
                  <a:pt x="11803298" y="7044871"/>
                </a:lnTo>
                <a:lnTo>
                  <a:pt x="11843085" y="7072780"/>
                </a:lnTo>
                <a:lnTo>
                  <a:pt x="11882677" y="7100946"/>
                </a:lnTo>
                <a:lnTo>
                  <a:pt x="11922073" y="7129367"/>
                </a:lnTo>
                <a:lnTo>
                  <a:pt x="11961271" y="7158044"/>
                </a:lnTo>
                <a:lnTo>
                  <a:pt x="12000270" y="7186973"/>
                </a:lnTo>
                <a:lnTo>
                  <a:pt x="12039070" y="7216155"/>
                </a:lnTo>
                <a:lnTo>
                  <a:pt x="12077668" y="7245588"/>
                </a:lnTo>
                <a:lnTo>
                  <a:pt x="12116063" y="7275271"/>
                </a:lnTo>
                <a:lnTo>
                  <a:pt x="12154256" y="7305203"/>
                </a:lnTo>
                <a:lnTo>
                  <a:pt x="12192243" y="7335382"/>
                </a:lnTo>
                <a:lnTo>
                  <a:pt x="12230024" y="7365807"/>
                </a:lnTo>
                <a:lnTo>
                  <a:pt x="12267598" y="7396477"/>
                </a:lnTo>
                <a:lnTo>
                  <a:pt x="12304963" y="7427390"/>
                </a:lnTo>
                <a:lnTo>
                  <a:pt x="12342119" y="7458547"/>
                </a:lnTo>
                <a:lnTo>
                  <a:pt x="12379063" y="7489944"/>
                </a:lnTo>
                <a:lnTo>
                  <a:pt x="12415795" y="7521582"/>
                </a:lnTo>
                <a:lnTo>
                  <a:pt x="12452314" y="7553459"/>
                </a:lnTo>
                <a:lnTo>
                  <a:pt x="12488619" y="7585573"/>
                </a:lnTo>
                <a:lnTo>
                  <a:pt x="12524707" y="7617924"/>
                </a:lnTo>
                <a:lnTo>
                  <a:pt x="12560578" y="7650511"/>
                </a:lnTo>
                <a:lnTo>
                  <a:pt x="12596231" y="7683331"/>
                </a:lnTo>
                <a:lnTo>
                  <a:pt x="12631665" y="7716384"/>
                </a:lnTo>
                <a:lnTo>
                  <a:pt x="12666877" y="7749669"/>
                </a:lnTo>
                <a:lnTo>
                  <a:pt x="12701868" y="7783184"/>
                </a:lnTo>
                <a:lnTo>
                  <a:pt x="12736636" y="7816929"/>
                </a:lnTo>
                <a:lnTo>
                  <a:pt x="12771179" y="7850901"/>
                </a:lnTo>
                <a:lnTo>
                  <a:pt x="12805496" y="7885101"/>
                </a:lnTo>
                <a:lnTo>
                  <a:pt x="12839587" y="7919526"/>
                </a:lnTo>
                <a:lnTo>
                  <a:pt x="12873449" y="7954175"/>
                </a:lnTo>
                <a:lnTo>
                  <a:pt x="12907082" y="7989048"/>
                </a:lnTo>
                <a:lnTo>
                  <a:pt x="12940485" y="8024143"/>
                </a:lnTo>
                <a:lnTo>
                  <a:pt x="12976193" y="8058217"/>
                </a:lnTo>
                <a:lnTo>
                  <a:pt x="13014894" y="8088219"/>
                </a:lnTo>
                <a:lnTo>
                  <a:pt x="13056237" y="8114004"/>
                </a:lnTo>
                <a:lnTo>
                  <a:pt x="13099872" y="8135427"/>
                </a:lnTo>
                <a:lnTo>
                  <a:pt x="13145448" y="8152342"/>
                </a:lnTo>
                <a:lnTo>
                  <a:pt x="13192614" y="8164604"/>
                </a:lnTo>
                <a:lnTo>
                  <a:pt x="13241021" y="8172068"/>
                </a:lnTo>
                <a:lnTo>
                  <a:pt x="13290317" y="8174588"/>
                </a:lnTo>
                <a:lnTo>
                  <a:pt x="15017165" y="8174588"/>
                </a:lnTo>
                <a:lnTo>
                  <a:pt x="15065858" y="8169681"/>
                </a:lnTo>
                <a:lnTo>
                  <a:pt x="15111210" y="8155606"/>
                </a:lnTo>
                <a:lnTo>
                  <a:pt x="15152248" y="8133334"/>
                </a:lnTo>
                <a:lnTo>
                  <a:pt x="15188003" y="8103835"/>
                </a:lnTo>
                <a:lnTo>
                  <a:pt x="15217503" y="8068081"/>
                </a:lnTo>
                <a:lnTo>
                  <a:pt x="15239776" y="8027043"/>
                </a:lnTo>
                <a:lnTo>
                  <a:pt x="15253852" y="7981690"/>
                </a:lnTo>
                <a:lnTo>
                  <a:pt x="15258760" y="7932994"/>
                </a:lnTo>
                <a:lnTo>
                  <a:pt x="15258760" y="241584"/>
                </a:lnTo>
                <a:lnTo>
                  <a:pt x="15253852" y="192903"/>
                </a:lnTo>
                <a:lnTo>
                  <a:pt x="15239776" y="147558"/>
                </a:lnTo>
                <a:lnTo>
                  <a:pt x="15217503" y="106522"/>
                </a:lnTo>
                <a:lnTo>
                  <a:pt x="15188003" y="70767"/>
                </a:lnTo>
                <a:lnTo>
                  <a:pt x="15152248" y="41265"/>
                </a:lnTo>
                <a:lnTo>
                  <a:pt x="15111210" y="18988"/>
                </a:lnTo>
                <a:lnTo>
                  <a:pt x="15065858" y="4909"/>
                </a:lnTo>
                <a:lnTo>
                  <a:pt x="15017165" y="0"/>
                </a:lnTo>
                <a:close/>
              </a:path>
            </a:pathLst>
          </a:custGeom>
          <a:solidFill>
            <a:srgbClr val="FCF5EB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2" name="Imagen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5250" y="10074275"/>
            <a:ext cx="2133600" cy="70058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-2" y="0"/>
            <a:ext cx="20104100" cy="1831975"/>
          </a:xfrm>
          <a:custGeom>
            <a:avLst/>
            <a:gdLst/>
            <a:ahLst/>
            <a:cxnLst/>
            <a:rect l="l" t="t" r="r" b="b"/>
            <a:pathLst>
              <a:path w="20104100" h="1831975">
                <a:moveTo>
                  <a:pt x="20104099" y="0"/>
                </a:moveTo>
                <a:lnTo>
                  <a:pt x="0" y="0"/>
                </a:lnTo>
                <a:lnTo>
                  <a:pt x="0" y="1831755"/>
                </a:lnTo>
                <a:lnTo>
                  <a:pt x="18885519" y="1831755"/>
                </a:lnTo>
                <a:lnTo>
                  <a:pt x="18933368" y="1830833"/>
                </a:lnTo>
                <a:lnTo>
                  <a:pt x="18980750" y="1828089"/>
                </a:lnTo>
                <a:lnTo>
                  <a:pt x="19027631" y="1823557"/>
                </a:lnTo>
                <a:lnTo>
                  <a:pt x="19073977" y="1817271"/>
                </a:lnTo>
                <a:lnTo>
                  <a:pt x="19119754" y="1809265"/>
                </a:lnTo>
                <a:lnTo>
                  <a:pt x="19164929" y="1799572"/>
                </a:lnTo>
                <a:lnTo>
                  <a:pt x="19209466" y="1788227"/>
                </a:lnTo>
                <a:lnTo>
                  <a:pt x="19253334" y="1775263"/>
                </a:lnTo>
                <a:lnTo>
                  <a:pt x="19296497" y="1760714"/>
                </a:lnTo>
                <a:lnTo>
                  <a:pt x="19338921" y="1744614"/>
                </a:lnTo>
                <a:lnTo>
                  <a:pt x="19380574" y="1726998"/>
                </a:lnTo>
                <a:lnTo>
                  <a:pt x="19421421" y="1707898"/>
                </a:lnTo>
                <a:lnTo>
                  <a:pt x="19461427" y="1687348"/>
                </a:lnTo>
                <a:lnTo>
                  <a:pt x="19500561" y="1665384"/>
                </a:lnTo>
                <a:lnTo>
                  <a:pt x="19538786" y="1642037"/>
                </a:lnTo>
                <a:lnTo>
                  <a:pt x="19576071" y="1617343"/>
                </a:lnTo>
                <a:lnTo>
                  <a:pt x="19612380" y="1591335"/>
                </a:lnTo>
                <a:lnTo>
                  <a:pt x="19647680" y="1564047"/>
                </a:lnTo>
                <a:lnTo>
                  <a:pt x="19681937" y="1535513"/>
                </a:lnTo>
                <a:lnTo>
                  <a:pt x="19715117" y="1505767"/>
                </a:lnTo>
                <a:lnTo>
                  <a:pt x="19747186" y="1474842"/>
                </a:lnTo>
                <a:lnTo>
                  <a:pt x="19778111" y="1442773"/>
                </a:lnTo>
                <a:lnTo>
                  <a:pt x="19807857" y="1409592"/>
                </a:lnTo>
                <a:lnTo>
                  <a:pt x="19836392" y="1375336"/>
                </a:lnTo>
                <a:lnTo>
                  <a:pt x="19863680" y="1340036"/>
                </a:lnTo>
                <a:lnTo>
                  <a:pt x="19889688" y="1303727"/>
                </a:lnTo>
                <a:lnTo>
                  <a:pt x="19914382" y="1266442"/>
                </a:lnTo>
                <a:lnTo>
                  <a:pt x="19937728" y="1228217"/>
                </a:lnTo>
                <a:lnTo>
                  <a:pt x="19959693" y="1189083"/>
                </a:lnTo>
                <a:lnTo>
                  <a:pt x="19980242" y="1149076"/>
                </a:lnTo>
                <a:lnTo>
                  <a:pt x="19999342" y="1108230"/>
                </a:lnTo>
                <a:lnTo>
                  <a:pt x="20016958" y="1066577"/>
                </a:lnTo>
                <a:lnTo>
                  <a:pt x="20033058" y="1024152"/>
                </a:lnTo>
                <a:lnTo>
                  <a:pt x="20047607" y="980990"/>
                </a:lnTo>
                <a:lnTo>
                  <a:pt x="20060571" y="937122"/>
                </a:lnTo>
                <a:lnTo>
                  <a:pt x="20071916" y="892585"/>
                </a:lnTo>
                <a:lnTo>
                  <a:pt x="20081609" y="847410"/>
                </a:lnTo>
                <a:lnTo>
                  <a:pt x="20089615" y="801633"/>
                </a:lnTo>
                <a:lnTo>
                  <a:pt x="20095901" y="755287"/>
                </a:lnTo>
                <a:lnTo>
                  <a:pt x="20100433" y="708406"/>
                </a:lnTo>
                <a:lnTo>
                  <a:pt x="20103177" y="661024"/>
                </a:lnTo>
                <a:lnTo>
                  <a:pt x="20104099" y="613175"/>
                </a:lnTo>
                <a:lnTo>
                  <a:pt x="20104099" y="0"/>
                </a:lnTo>
                <a:close/>
              </a:path>
            </a:pathLst>
          </a:custGeom>
          <a:solidFill>
            <a:srgbClr val="FF051E"/>
          </a:solidFill>
        </p:spPr>
        <p:txBody>
          <a:bodyPr wrap="square" lIns="0" tIns="0" rIns="0" bIns="0" rtlCol="0"/>
          <a:lstStyle/>
          <a:p/>
        </p:txBody>
      </p:sp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986250" y="549275"/>
            <a:ext cx="2088572" cy="6858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4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97"/>
            <a:ext cx="20347521" cy="11445478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9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image" Target="../media/image12.png"/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20.png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24.png"/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image" Target="../media/image21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28.png"/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9.xml"/><Relationship Id="rId4" Type="http://schemas.openxmlformats.org/officeDocument/2006/relationships/image" Target="../media/image32.png"/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9.xml"/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1822450" y="2835275"/>
            <a:ext cx="1607820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O" sz="6000" b="1" dirty="0" smtClean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Matemáticas Fundamentales</a:t>
            </a:r>
            <a:endParaRPr lang="es-CO" sz="6000" b="1" dirty="0" smtClean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endParaRPr lang="es-CO" sz="6000" b="1" dirty="0">
              <a:solidFill>
                <a:srgbClr val="FF0000"/>
              </a:solidFill>
              <a:latin typeface="Rockwell Extra Bold" panose="02060903040505020403" pitchFamily="18" charset="0"/>
              <a:ea typeface="Roboto" panose="02000000000000000000" pitchFamily="2" charset="0"/>
            </a:endParaRPr>
          </a:p>
          <a:p>
            <a:pPr algn="ctr"/>
            <a:r>
              <a:rPr lang="es-CO" sz="6000" b="1" smtClean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Semana </a:t>
            </a:r>
            <a:r>
              <a:rPr lang="es-CO" sz="6000" b="1" smtClean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8: </a:t>
            </a:r>
            <a:r>
              <a:rPr lang="es-CO" sz="6000" b="1" dirty="0" smtClean="0">
                <a:solidFill>
                  <a:srgbClr val="FF0000"/>
                </a:solidFill>
                <a:latin typeface="Rockwell Extra Bold" panose="02060903040505020403" pitchFamily="18" charset="0"/>
                <a:ea typeface="Roboto" panose="02000000000000000000" pitchFamily="2" charset="0"/>
              </a:rPr>
              <a:t>Función cuadrática y a trozos.</a:t>
            </a:r>
            <a:endParaRPr lang="es-MX" sz="3600" b="1" dirty="0">
              <a:solidFill>
                <a:srgbClr val="FF0000"/>
              </a:solidFill>
              <a:latin typeface="Sitka Text" panose="02000505000000020004" pitchFamily="2" charset="0"/>
              <a:ea typeface="Roboto" panose="02000000000000000000" pitchFamily="2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4309186" y="635655"/>
            <a:ext cx="9809328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2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sz="4000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FUNCIÓN CUADRÁTICA </a:t>
            </a:r>
            <a:endParaRPr lang="es-CO" sz="4000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2249" y="2149475"/>
            <a:ext cx="11032273" cy="2438400"/>
          </a:xfrm>
          <a:prstGeom prst="rect">
            <a:avLst/>
          </a:prstGeom>
          <a:ln w="38100" cap="sq">
            <a:solidFill>
              <a:schemeClr val="tx2">
                <a:lumMod val="75000"/>
              </a:schemeClr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4" name="Imagen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0850" y="2530475"/>
            <a:ext cx="7052442" cy="6705600"/>
          </a:xfrm>
          <a:prstGeom prst="rect">
            <a:avLst/>
          </a:prstGeom>
        </p:spPr>
      </p:pic>
      <p:sp>
        <p:nvSpPr>
          <p:cNvPr id="5" name="Rectángulo 4"/>
          <p:cNvSpPr/>
          <p:nvPr/>
        </p:nvSpPr>
        <p:spPr>
          <a:xfrm>
            <a:off x="761577" y="5273675"/>
            <a:ext cx="8452273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CO" sz="2800" b="1" dirty="0">
                <a:latin typeface="Georgia" panose="02040502050405020303" pitchFamily="18" charset="0"/>
              </a:rPr>
              <a:t>¿Qué necesitamos para graficar una función cuadrática (parábola)?</a:t>
            </a:r>
            <a:endParaRPr lang="es-CO" sz="2800" b="1" dirty="0">
              <a:latin typeface="Georgia" panose="02040502050405020303" pitchFamily="18" charset="0"/>
            </a:endParaRPr>
          </a:p>
        </p:txBody>
      </p:sp>
      <p:sp>
        <p:nvSpPr>
          <p:cNvPr id="6" name="Rectángulo 5"/>
          <p:cNvSpPr/>
          <p:nvPr/>
        </p:nvSpPr>
        <p:spPr>
          <a:xfrm>
            <a:off x="831850" y="6605806"/>
            <a:ext cx="7277100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Clr>
                <a:schemeClr val="accent1"/>
              </a:buClr>
              <a:buFont typeface="Wingdings" panose="05000000000000000000" pitchFamily="2" charset="2"/>
              <a:buChar char="v"/>
            </a:pPr>
            <a:r>
              <a:rPr lang="es-ES" sz="3600" dirty="0">
                <a:latin typeface="Georgia" panose="02040502050405020303" pitchFamily="18" charset="0"/>
              </a:rPr>
              <a:t>Signo del coeficiente principal</a:t>
            </a:r>
            <a:endParaRPr lang="es-ES" sz="3600" dirty="0">
              <a:latin typeface="Georgia" panose="02040502050405020303" pitchFamily="18" charset="0"/>
            </a:endParaRPr>
          </a:p>
          <a:p>
            <a:endParaRPr lang="es-ES" sz="3600" dirty="0">
              <a:latin typeface="Georgia" panose="02040502050405020303" pitchFamily="18" charset="0"/>
            </a:endParaRPr>
          </a:p>
          <a:p>
            <a:pPr marL="342900" indent="-342900">
              <a:buClr>
                <a:srgbClr val="3399FF"/>
              </a:buClr>
              <a:buFont typeface="Wingdings" panose="05000000000000000000" pitchFamily="2" charset="2"/>
              <a:buChar char="v"/>
            </a:pPr>
            <a:r>
              <a:rPr lang="es-ES" sz="3600" dirty="0">
                <a:latin typeface="Georgia" panose="02040502050405020303" pitchFamily="18" charset="0"/>
              </a:rPr>
              <a:t>Cortes con los ejes coordenados</a:t>
            </a:r>
            <a:endParaRPr lang="es-ES" sz="3600" dirty="0">
              <a:latin typeface="Georgia" panose="02040502050405020303" pitchFamily="18" charset="0"/>
            </a:endParaRPr>
          </a:p>
          <a:p>
            <a:endParaRPr lang="es-ES" sz="3600" dirty="0">
              <a:latin typeface="Georgia" panose="02040502050405020303" pitchFamily="18" charset="0"/>
            </a:endParaRPr>
          </a:p>
          <a:p>
            <a:pPr marL="342900" indent="-342900">
              <a:buClr>
                <a:schemeClr val="accent1">
                  <a:lumMod val="75000"/>
                </a:schemeClr>
              </a:buClr>
              <a:buFont typeface="Wingdings" panose="05000000000000000000" pitchFamily="2" charset="2"/>
              <a:buChar char="v"/>
            </a:pPr>
            <a:r>
              <a:rPr lang="es-ES" sz="3600" dirty="0">
                <a:latin typeface="Georgia" panose="02040502050405020303" pitchFamily="18" charset="0"/>
              </a:rPr>
              <a:t>Coordenadas del vértice </a:t>
            </a:r>
            <a:endParaRPr lang="es-ES" sz="3600" dirty="0"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 descr="🄰🄼🄰🄳🄴🄾 🄰🅁🅃🄰🄲🄷🄾 (MᴀᴛᴇᴍᴀᴛɪᴄᴀsCᴇʀᴄᴀɴᴀs) on Twitter: &quot;Una REGLA  MNEMOTÉCNICA sencilla para la concavidad de una FUNCIÓN CUADRÁTICA  (parábola) 😉. #Matemáticas… &quot;"/>
          <p:cNvPicPr>
            <a:picLocks noChangeAspect="1" noChangeArrowheads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42" y="2758532"/>
            <a:ext cx="6486631" cy="5747506"/>
          </a:xfrm>
          <a:prstGeom prst="rect">
            <a:avLst/>
          </a:prstGeom>
          <a:ln w="38100" cap="sq">
            <a:solidFill>
              <a:schemeClr val="accent1">
                <a:lumMod val="75000"/>
              </a:schemeClr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ángulo 2"/>
          <p:cNvSpPr/>
          <p:nvPr/>
        </p:nvSpPr>
        <p:spPr>
          <a:xfrm>
            <a:off x="226068" y="1928177"/>
            <a:ext cx="6104377" cy="584775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s-ES" sz="32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Signo del coeficiente principal</a:t>
            </a:r>
            <a:endParaRPr lang="es-ES" sz="32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7579824" y="2153635"/>
            <a:ext cx="662553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rgbClr val="3399FF"/>
              </a:buClr>
            </a:pPr>
            <a:r>
              <a:rPr lang="es-ES" sz="32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Cortes con los ejes coordenados</a:t>
            </a:r>
            <a:endParaRPr lang="es-ES" sz="32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Rectángulo 4"/>
          <p:cNvSpPr/>
          <p:nvPr/>
        </p:nvSpPr>
        <p:spPr>
          <a:xfrm>
            <a:off x="14597990" y="2109792"/>
            <a:ext cx="505619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buClr>
                <a:schemeClr val="accent1">
                  <a:lumMod val="75000"/>
                </a:schemeClr>
              </a:buClr>
            </a:pPr>
            <a:r>
              <a:rPr lang="es-ES" sz="3200" b="1" dirty="0">
                <a:ln w="0"/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Coordenadas del vértice </a:t>
            </a:r>
            <a:endParaRPr lang="es-ES" sz="3200" b="1" dirty="0">
              <a:ln w="0"/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6" name="Imagen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37350" y="2949317"/>
            <a:ext cx="7378946" cy="536650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83081" y="3208826"/>
            <a:ext cx="5314863" cy="365619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CuadroTexto 7"/>
              <p:cNvSpPr txBox="1"/>
              <p:nvPr/>
            </p:nvSpPr>
            <p:spPr>
              <a:xfrm>
                <a:off x="14597990" y="7491658"/>
                <a:ext cx="4800600" cy="1014380"/>
              </a:xfrm>
              <a:prstGeom prst="rect">
                <a:avLst/>
              </a:prstGeom>
              <a:ln w="28575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𝑎</m:t>
                      </m:r>
                      <m:sSup>
                        <m:sSupPr>
                          <m:ctrlPr>
                            <a:rPr lang="es-MX" sz="2400" b="0" i="1" smtClean="0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p>
                          <m:r>
                            <a:rPr lang="es-MX" sz="24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p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𝑏𝑥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MX" sz="2400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US" sz="24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𝑉</m:t>
                    </m:r>
                    <m:r>
                      <a:rPr lang="en-US" sz="2400" i="1" dirty="0" smtClean="0">
                        <a:latin typeface="Cambria Math" panose="02040503050406030204" pitchFamily="18" charset="0"/>
                      </a:rPr>
                      <m:t>(</m:t>
                    </m:r>
                    <m:f>
                      <m:fPr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s-MX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MX" sz="2400" b="0" i="1" dirty="0" smtClean="0"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s-MX" sz="2400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s-MX" sz="2400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a:rPr lang="es-MX" sz="2400" b="0" i="1" dirty="0" smtClean="0">
                        <a:latin typeface="Cambria Math" panose="02040503050406030204" pitchFamily="18" charset="0"/>
                      </a:rPr>
                      <m:t> , </m:t>
                    </m:r>
                    <m:r>
                      <a:rPr lang="es-MX" sz="2400" b="0" i="1" dirty="0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sz="2400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2400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2400" b="0" i="1" dirty="0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MX" sz="2400" b="0" i="1" dirty="0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s-MX" sz="2400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MX" sz="2400" b="0" i="1" dirty="0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2400" dirty="0"/>
                  <a:t>)</a:t>
                </a:r>
                <a:endParaRPr lang="en-US" sz="2400" dirty="0"/>
              </a:p>
            </p:txBody>
          </p:sp>
        </mc:Choice>
        <mc:Fallback>
          <p:sp>
            <p:nvSpPr>
              <p:cNvPr id="8" name="CuadroTexto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597990" y="7491658"/>
                <a:ext cx="4800600" cy="1014380"/>
              </a:xfrm>
              <a:prstGeom prst="rect">
                <a:avLst/>
              </a:prstGeom>
              <a:blipFill rotWithShape="1">
                <a:blip r:embed="rId4"/>
                <a:stretch>
                  <a:fillRect l="-304" t="-1433" r="-292" b="-1356"/>
                </a:stretch>
              </a:blipFill>
              <a:ln w="28575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Rectángulo 8"/>
          <p:cNvSpPr/>
          <p:nvPr/>
        </p:nvSpPr>
        <p:spPr>
          <a:xfrm>
            <a:off x="454922" y="9347005"/>
            <a:ext cx="685165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buClr>
                <a:schemeClr val="accent1"/>
              </a:buClr>
            </a:pPr>
            <a:r>
              <a:rPr lang="es-ES" sz="2800" b="1" dirty="0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rgbClr val="C00000"/>
                </a:solidFill>
                <a:latin typeface="Arial Black" panose="020B0A04020102020204" pitchFamily="34" charset="0"/>
              </a:rPr>
              <a:t>Ejemplo: </a:t>
            </a:r>
            <a:endParaRPr lang="es-ES" sz="2800" b="1" dirty="0">
              <a:ln w="22225">
                <a:solidFill>
                  <a:schemeClr val="accent2"/>
                </a:solidFill>
                <a:prstDash val="solid"/>
              </a:ln>
              <a:solidFill>
                <a:srgbClr val="C0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10" name="Imagen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18759" y="9147052"/>
            <a:ext cx="3848100" cy="96875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3250" y="2149475"/>
            <a:ext cx="8516771" cy="2812672"/>
          </a:xfrm>
          <a:prstGeom prst="rect">
            <a:avLst/>
          </a:prstGeom>
        </p:spPr>
      </p:pic>
      <p:pic>
        <p:nvPicPr>
          <p:cNvPr id="4" name="Imagen 3"/>
          <p:cNvPicPr>
            <a:picLocks noChangeAspect="1"/>
          </p:cNvPicPr>
          <p:nvPr/>
        </p:nvPicPr>
        <p:blipFill rotWithShape="1">
          <a:blip r:embed="rId2"/>
          <a:srcRect l="2216" t="744" r="5172" b="1074"/>
          <a:stretch>
            <a:fillRect/>
          </a:stretch>
        </p:blipFill>
        <p:spPr>
          <a:xfrm>
            <a:off x="603250" y="5210507"/>
            <a:ext cx="7162800" cy="5868318"/>
          </a:xfrm>
          <a:prstGeom prst="rect">
            <a:avLst/>
          </a:prstGeom>
        </p:spPr>
      </p:pic>
      <p:pic>
        <p:nvPicPr>
          <p:cNvPr id="5" name="Imagen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341" y="3055093"/>
            <a:ext cx="8017488" cy="1981200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2450" y="2086340"/>
            <a:ext cx="3848100" cy="968753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271250" y="4548839"/>
            <a:ext cx="5315037" cy="654548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727450" y="777875"/>
            <a:ext cx="11506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40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INTERSECCIONES</a:t>
            </a:r>
            <a:endParaRPr lang="es-CO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436716" y="2121323"/>
            <a:ext cx="10052050" cy="193899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s-CO" sz="2400" dirty="0" smtClean="0">
                <a:latin typeface="Georgia" panose="02040502050405020303" pitchFamily="18" charset="0"/>
              </a:rPr>
              <a:t>La gráfica de una ecuación cuadrática siempre interseca el eje Y en el punto (0,c), </a:t>
            </a:r>
            <a:r>
              <a:rPr lang="es-CO" sz="2400" dirty="0">
                <a:latin typeface="Georgia" panose="02040502050405020303" pitchFamily="18" charset="0"/>
              </a:rPr>
              <a:t>ya que al evaluar </a:t>
            </a:r>
            <a:r>
              <a:rPr lang="es-CO" sz="2400" dirty="0" smtClean="0">
                <a:latin typeface="Georgia" panose="02040502050405020303" pitchFamily="18" charset="0"/>
              </a:rPr>
              <a:t>f(0) </a:t>
            </a:r>
            <a:r>
              <a:rPr lang="es-CO" sz="2400" dirty="0">
                <a:latin typeface="Georgia" panose="02040502050405020303" pitchFamily="18" charset="0"/>
              </a:rPr>
              <a:t>se obtiene </a:t>
            </a:r>
            <a:r>
              <a:rPr lang="es-CO" sz="2400" dirty="0" smtClean="0">
                <a:latin typeface="Georgia" panose="02040502050405020303" pitchFamily="18" charset="0"/>
              </a:rPr>
              <a:t>c.</a:t>
            </a:r>
            <a:endParaRPr lang="es-CO" sz="2400" dirty="0" smtClean="0">
              <a:latin typeface="Georgia" panose="02040502050405020303" pitchFamily="18" charset="0"/>
            </a:endParaRPr>
          </a:p>
          <a:p>
            <a:endParaRPr lang="es-CO" sz="2400" dirty="0">
              <a:latin typeface="Georgia" panose="02040502050405020303" pitchFamily="18" charset="0"/>
            </a:endParaRPr>
          </a:p>
          <a:p>
            <a:r>
              <a:rPr lang="es-CO" sz="2400" dirty="0">
                <a:latin typeface="Georgia" panose="02040502050405020303" pitchFamily="18" charset="0"/>
              </a:rPr>
              <a:t>Para conocer si la gráfica corta el eje X, se debe </a:t>
            </a:r>
            <a:r>
              <a:rPr lang="es-CO" sz="2400" b="1" dirty="0">
                <a:latin typeface="Georgia" panose="02040502050405020303" pitchFamily="18" charset="0"/>
              </a:rPr>
              <a:t>resolver la ecuación </a:t>
            </a:r>
            <a:r>
              <a:rPr lang="es-CO" sz="2400" b="1" dirty="0" smtClean="0">
                <a:latin typeface="Georgia" panose="02040502050405020303" pitchFamily="18" charset="0"/>
              </a:rPr>
              <a:t>cuadrática</a:t>
            </a:r>
            <a:endParaRPr lang="es-CO" sz="2400" dirty="0">
              <a:latin typeface="Georgia" panose="02040502050405020303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ángulo 3"/>
              <p:cNvSpPr/>
              <p:nvPr/>
            </p:nvSpPr>
            <p:spPr>
              <a:xfrm>
                <a:off x="467841" y="4072725"/>
                <a:ext cx="10052050" cy="2316660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s-CO" sz="2400">
                          <a:latin typeface="Cambria Math" panose="02040503050406030204" pitchFamily="18" charset="0"/>
                        </a:rPr>
                        <m:t>𝒂</m:t>
                      </m:r>
                      <m:sSup>
                        <m:sSupPr>
                          <m:ctrlPr>
                            <a:rPr lang="es-CO" sz="240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s-CO" sz="2400">
                              <a:latin typeface="Cambria Math" panose="02040503050406030204" pitchFamily="18" charset="0"/>
                            </a:rPr>
                            <m:t>𝒙</m:t>
                          </m:r>
                        </m:e>
                        <m:sup>
                          <m:r>
                            <a:rPr lang="es-CO" sz="2400">
                              <a:latin typeface="Cambria Math" panose="02040503050406030204" pitchFamily="18" charset="0"/>
                            </a:rPr>
                            <m:t>𝟐</m:t>
                          </m:r>
                        </m:sup>
                      </m:sSup>
                      <m:r>
                        <a:rPr lang="es-CO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sz="2400">
                          <a:latin typeface="Cambria Math" panose="02040503050406030204" pitchFamily="18" charset="0"/>
                        </a:rPr>
                        <m:t>𝒃𝒙</m:t>
                      </m:r>
                      <m:r>
                        <a:rPr lang="es-CO" sz="240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s-CO" sz="2400">
                          <a:latin typeface="Cambria Math" panose="02040503050406030204" pitchFamily="18" charset="0"/>
                        </a:rPr>
                        <m:t>𝒄</m:t>
                      </m:r>
                      <m:r>
                        <a:rPr lang="es-CO" sz="240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s-CO" sz="240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CO" sz="2400">
                          <a:latin typeface="Cambria Math" panose="02040503050406030204" pitchFamily="18" charset="0"/>
                        </a:rPr>
                        <m:t>  ,  (</m:t>
                      </m:r>
                      <m:r>
                        <a:rPr lang="es-CO" sz="2400">
                          <a:latin typeface="Cambria Math" panose="02040503050406030204" pitchFamily="18" charset="0"/>
                        </a:rPr>
                        <m:t>𝒂</m:t>
                      </m:r>
                      <m:r>
                        <a:rPr lang="es-CO" sz="2400">
                          <a:latin typeface="Cambria Math" panose="02040503050406030204" pitchFamily="18" charset="0"/>
                        </a:rPr>
                        <m:t>≠</m:t>
                      </m:r>
                      <m:r>
                        <a:rPr lang="es-CO" sz="2400"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s-CO" sz="240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s-CO" sz="2400" dirty="0">
                  <a:latin typeface="Georgia" panose="02040502050405020303" pitchFamily="18" charset="0"/>
                </a:endParaRPr>
              </a:p>
              <a:p>
                <a:endParaRPr lang="es-CO" sz="2400" dirty="0">
                  <a:latin typeface="Georgia" panose="02040502050405020303" pitchFamily="18" charset="0"/>
                </a:endParaRPr>
              </a:p>
              <a:p>
                <a:r>
                  <a:rPr lang="es-CO" sz="2400" dirty="0">
                    <a:latin typeface="Georgia" panose="02040502050405020303" pitchFamily="18" charset="0"/>
                  </a:rPr>
                  <a:t>donde </a:t>
                </a:r>
                <a14:m>
                  <m:oMath xmlns:m="http://schemas.openxmlformats.org/officeDocument/2006/math">
                    <m:r>
                      <a:rPr lang="es-CO" sz="2400" dirty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CO" sz="2400" dirty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s-CO" sz="2400" dirty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s-CO" sz="2400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sz="2400" dirty="0">
                    <a:latin typeface="Georgia" panose="02040502050405020303" pitchFamily="18" charset="0"/>
                  </a:rPr>
                  <a:t>y </a:t>
                </a:r>
                <a14:m>
                  <m:oMath xmlns:m="http://schemas.openxmlformats.org/officeDocument/2006/math">
                    <m:r>
                      <a:rPr lang="es-CO" sz="2400" dirty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s-CO" sz="2400" dirty="0">
                    <a:latin typeface="Georgia" panose="02040502050405020303" pitchFamily="18" charset="0"/>
                  </a:rPr>
                  <a:t> son constantes, se denomina una ecuación cuadrática o ecuación de segundo grado en la variable </a:t>
                </a:r>
                <a14:m>
                  <m:oMath xmlns:m="http://schemas.openxmlformats.org/officeDocument/2006/math">
                    <m:r>
                      <a:rPr lang="es-CO" sz="2400" dirty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s-CO" sz="2400" dirty="0">
                    <a:latin typeface="Georgia" panose="02040502050405020303" pitchFamily="18" charset="0"/>
                  </a:rPr>
                  <a:t>. Existen </a:t>
                </a:r>
                <a:r>
                  <a:rPr lang="es-CO" sz="2400" dirty="0" smtClean="0">
                    <a:latin typeface="Georgia" panose="02040502050405020303" pitchFamily="18" charset="0"/>
                  </a:rPr>
                  <a:t>dos </a:t>
                </a:r>
                <a:r>
                  <a:rPr lang="es-CO" sz="2400" dirty="0">
                    <a:latin typeface="Georgia" panose="02040502050405020303" pitchFamily="18" charset="0"/>
                  </a:rPr>
                  <a:t>métodos para resolver una ecuación de ese tipo: factorizando y usando la fórmula cuadrática.</a:t>
                </a:r>
                <a:endParaRPr lang="es-CO" sz="2400" dirty="0">
                  <a:latin typeface="Georgia" panose="02040502050405020303" pitchFamily="18" charset="0"/>
                </a:endParaRPr>
              </a:p>
            </p:txBody>
          </p:sp>
        </mc:Choice>
        <mc:Fallback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841" y="4072725"/>
                <a:ext cx="10052050" cy="2316660"/>
              </a:xfrm>
              <a:prstGeom prst="rect">
                <a:avLst/>
              </a:prstGeom>
              <a:blipFill rotWithShape="1">
                <a:blip r:embed="rId1"/>
                <a:stretch>
                  <a:fillRect l="-5" t="-20" r="5" b="1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Imagen 4"/>
          <p:cNvPicPr>
            <a:picLocks noChangeAspect="1"/>
          </p:cNvPicPr>
          <p:nvPr/>
        </p:nvPicPr>
        <p:blipFill>
          <a:blip r:embed="rId2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934179" y="8891008"/>
            <a:ext cx="9448904" cy="12814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a 5"/>
              <p:cNvGraphicFramePr>
                <a:graphicFrameLocks noGrp="1"/>
              </p:cNvGraphicFramePr>
              <p:nvPr/>
            </p:nvGraphicFramePr>
            <p:xfrm>
              <a:off x="10594448" y="2347730"/>
              <a:ext cx="9278403" cy="782472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343802"/>
                    <a:gridCol w="5934601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2800" dirty="0" smtClean="0"/>
                            <a:t>FACTORIZANDO</a:t>
                          </a:r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sz="2800" dirty="0" smtClean="0"/>
                            <a:t>FORMULA CUADRATICA</a:t>
                          </a:r>
                          <a:endParaRPr lang="en-US" sz="2800" dirty="0"/>
                        </a:p>
                      </a:txBody>
                      <a:tcPr/>
                    </a:tc>
                  </a:tr>
                  <a:tr h="370840">
                    <a:tc>
                      <a:txBody>
                        <a:bodyPr/>
                        <a:lstStyle/>
                        <a:p>
                          <a:endParaRPr lang="es-ES" sz="2800" dirty="0" smtClean="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p>
                                  <m:sSupPr>
                                    <m:ctrlPr>
                                      <a:rPr lang="es-ES" sz="28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pPr>
                                  <m:e>
                                    <m:r>
                                      <a:rPr lang="es-ES" sz="2800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s-ES" sz="28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a:rPr lang="es-ES" sz="2800" b="0" i="1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" sz="28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ES" sz="28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sz="28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sz="2800" b="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  <m:r>
                                  <a:rPr lang="es-ES" sz="28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2800" b="0" i="1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sz="2800" b="0" i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s-ES" sz="2800" b="0" i="0" dirty="0" smtClean="0">
                            <a:latin typeface="Cambria Math" panose="02040503050406030204" pitchFamily="18" charset="0"/>
                          </a:endParaRPr>
                        </a:p>
                        <a:p>
                          <a:endParaRPr lang="es-ES" sz="2800" b="0" i="0" dirty="0" smtClean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)(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)=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 </m:t>
                                </m:r>
                              </m:oMath>
                            </m:oMathPara>
                          </a14:m>
                          <a:endParaRPr lang="es-ES" sz="2800" b="0" i="0" dirty="0" smtClean="0">
                            <a:latin typeface="Cambria Math" panose="02040503050406030204" pitchFamily="18" charset="0"/>
                          </a:endParaRPr>
                        </a:p>
                        <a:p>
                          <a:endParaRPr lang="es-ES" sz="2800" b="0" i="0" dirty="0" smtClean="0">
                            <a:latin typeface="Cambria Math" panose="02040503050406030204" pitchFamily="18" charset="0"/>
                          </a:endParaRPr>
                        </a:p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𝑜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  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8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2800" b="0" i="1" dirty="0" smtClean="0"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oMath>
                            </m:oMathPara>
                          </a14:m>
                          <a:endParaRPr lang="es-ES" sz="2800" b="0" dirty="0" smtClean="0"/>
                        </a:p>
                        <a:p>
                          <a:endParaRPr lang="es-ES" sz="2800" b="0" i="0" dirty="0" smtClean="0">
                            <a:latin typeface="+mn-lt"/>
                          </a:endParaRPr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s-ES" sz="2800" b="0" i="0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s-ES" sz="2800" dirty="0" smtClean="0"/>
                            <a:t>     </a:t>
                          </a:r>
                          <a14:m>
                            <m:oMath xmlns:m="http://schemas.openxmlformats.org/officeDocument/2006/math">
                              <m:r>
                                <a:rPr lang="es-ES" sz="2800" b="0" i="1" dirty="0" smtClean="0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s-ES" sz="2800" b="0" i="1" dirty="0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s-ES" sz="2800" b="0" i="1" dirty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endParaRPr lang="es-ES" sz="2800" dirty="0" smtClean="0"/>
                        </a:p>
                        <a:p>
                          <a:endParaRPr lang="es-ES" sz="2800" dirty="0" smtClean="0"/>
                        </a:p>
                        <a:p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       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       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=−</m:t>
                                </m:r>
                                <m:r>
                                  <a:rPr lang="es-ES" sz="2400" b="0" i="1" smtClean="0"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</m:oMath>
                            </m:oMathPara>
                          </a14:m>
                          <a:endParaRPr lang="en-US" sz="2400" i="1" dirty="0" smtClean="0">
                            <a:latin typeface="Cambria Math" panose="02040503050406030204" pitchFamily="18" charset="0"/>
                          </a:endParaRPr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±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en-US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n-US" sz="2400" i="1" smtClean="0">
                                                <a:latin typeface="Cambria Math" panose="02040503050406030204" pitchFamily="18" charset="0"/>
                                              </a:rPr>
                                              <m:t>𝑏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  <m:t>𝑎𝑐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 smtClean="0"/>
                        </a:p>
                        <a:p>
                          <a:endParaRPr lang="es-ES" sz="2400" dirty="0" smtClean="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±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sSup>
                                          <m:sSupPr>
                                            <m:ctrlPr>
                                              <a:rPr lang="en-US" sz="240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a:rPr lang="es-ES" sz="2400" b="0" i="1" smtClean="0">
                                                <a:latin typeface="Cambria Math" panose="02040503050406030204" pitchFamily="18" charset="0"/>
                                              </a:rPr>
                                              <m:t>5</m:t>
                                            </m:r>
                                          </m:e>
                                          <m:sup>
                                            <m:r>
                                              <a:rPr lang="en-US" sz="2400" i="1" smtClean="0">
                                                <a:latin typeface="Cambria Math" panose="02040503050406030204" pitchFamily="18" charset="0"/>
                                              </a:rPr>
                                              <m:t>2</m:t>
                                            </m:r>
                                          </m:sup>
                                        </m:sSup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  <m:r>
                                          <a:rPr lang="en-US" sz="240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∙</m:t>
                                        </m:r>
                                        <m:r>
                                          <a:rPr lang="es-E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1</m:t>
                                        </m:r>
                                        <m:r>
                                          <a:rPr lang="es-E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∙(−</m:t>
                                        </m:r>
                                        <m:r>
                                          <a:rPr lang="es-E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24</m:t>
                                        </m:r>
                                        <m:r>
                                          <a:rPr lang="es-ES" sz="2400" b="0" i="1" smtClean="0">
                                            <a:latin typeface="Cambria Math" panose="02040503050406030204" pitchFamily="18" charset="0"/>
                                            <a:ea typeface="Cambria Math" panose="02040503050406030204" pitchFamily="18" charset="0"/>
                                          </a:rPr>
                                          <m:t>)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∙</m:t>
                                    </m:r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  <a:ea typeface="Cambria Math" panose="02040503050406030204" pitchFamily="18" charset="0"/>
                                      </a:rPr>
                                      <m:t>1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 smtClean="0"/>
                        </a:p>
                        <a:p>
                          <a:endParaRPr lang="es-ES" sz="2400" dirty="0" smtClean="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±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sz="2400" b="0" i="1" smtClean="0">
                                            <a:latin typeface="Cambria Math" panose="02040503050406030204" pitchFamily="18" charset="0"/>
                                          </a:rPr>
                                          <m:t>25</m:t>
                                        </m:r>
                                        <m:r>
                                          <a:rPr lang="es-ES" sz="2400" b="0" i="1" smtClean="0">
                                            <a:latin typeface="Cambria Math" panose="02040503050406030204" pitchFamily="18" charset="0"/>
                                          </a:rPr>
                                          <m:t>+</m:t>
                                        </m:r>
                                        <m:r>
                                          <a:rPr lang="es-ES" sz="2400" b="0" i="1" smtClean="0">
                                            <a:latin typeface="Cambria Math" panose="02040503050406030204" pitchFamily="18" charset="0"/>
                                          </a:rPr>
                                          <m:t>96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 smtClean="0"/>
                        </a:p>
                        <a:p>
                          <a:endParaRPr lang="es-ES" sz="2400" dirty="0" smtClean="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±</m:t>
                                    </m:r>
                                    <m:rad>
                                      <m:radPr>
                                        <m:degHide m:val="on"/>
                                        <m:ctrlPr>
                                          <a:rPr lang="en-US" sz="240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radPr>
                                      <m:deg/>
                                      <m:e>
                                        <m:r>
                                          <a:rPr lang="es-ES" sz="2400" b="0" i="1" smtClean="0">
                                            <a:latin typeface="Cambria Math" panose="02040503050406030204" pitchFamily="18" charset="0"/>
                                          </a:rPr>
                                          <m:t>121</m:t>
                                        </m:r>
                                      </m:e>
                                    </m:rad>
                                  </m:num>
                                  <m:den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 smtClean="0"/>
                        </a:p>
                        <a:p>
                          <a:endParaRPr lang="es-ES" sz="2400" dirty="0" smtClean="0"/>
                        </a:p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sz="240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f>
                                  <m:fPr>
                                    <m:ctrlP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</a:rPr>
                                      <m:t>5</m:t>
                                    </m:r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±</m:t>
                                    </m:r>
                                    <m:r>
                                      <a:rPr lang="es-ES" sz="240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  <m:r>
                                      <a:rPr lang="es-ES" sz="24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240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2400" dirty="0" smtClean="0"/>
                        </a:p>
                        <a:p>
                          <a:endParaRPr lang="en-US" sz="2400" dirty="0" smtClean="0"/>
                        </a:p>
                        <a:p>
                          <a:pPr algn="ctr"/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+</m:t>
                                  </m:r>
                                  <m:r>
                                    <a:rPr lang="es-ES" sz="28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f>
                                <m:fPr>
                                  <m:ctrlP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6</m:t>
                                  </m:r>
                                </m:num>
                                <m:den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  <m:r>
                                <a:rPr lang="es-ES" sz="2800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oMath>
                          </a14:m>
                          <a:r>
                            <a:rPr lang="en-US" sz="2800" dirty="0" smtClean="0"/>
                            <a:t>   </a:t>
                          </a:r>
                          <a:endParaRPr lang="en-US" sz="2800" dirty="0" smtClean="0"/>
                        </a:p>
                        <a:p>
                          <a:pPr algn="ctr"/>
                          <a:r>
                            <a:rPr lang="en-US" sz="2800" dirty="0" smtClean="0"/>
                            <a:t>  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5</m:t>
                                  </m:r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s-ES" sz="280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  <m: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sz="280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s-ES" sz="2800" b="0" i="0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f>
                                <m:fPr>
                                  <m:ctrlPr>
                                    <a:rPr lang="es-ES" sz="280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s-ES" sz="2800" b="0" i="0" smtClean="0">
                                      <a:latin typeface="Cambria Math" panose="02040503050406030204" pitchFamily="18" charset="0"/>
                                    </a:rPr>
                                    <m:t>16</m:t>
                                  </m:r>
                                </m:num>
                                <m:den>
                                  <m:r>
                                    <a:rPr lang="es-ES" sz="2800" b="0" i="0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  <m:r>
                                <a:rPr lang="es-ES" sz="2800" b="0" i="0" smtClean="0">
                                  <a:latin typeface="Cambria Math" panose="02040503050406030204" pitchFamily="18" charset="0"/>
                                </a:rPr>
                                <m:t>=−</m:t>
                              </m:r>
                              <m:r>
                                <a:rPr lang="es-ES" sz="2800" b="0" i="0" smtClean="0">
                                  <a:latin typeface="Cambria Math" panose="02040503050406030204" pitchFamily="18" charset="0"/>
                                </a:rPr>
                                <m:t>8</m:t>
                              </m:r>
                            </m:oMath>
                          </a14:m>
                          <a:endParaRPr lang="en-US" sz="2800" dirty="0"/>
                        </a:p>
                      </a:txBody>
                      <a:tcPr/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a 5"/>
              <p:cNvGraphicFramePr>
                <a:graphicFrameLocks noGrp="1"/>
              </p:cNvGraphicFramePr>
              <p:nvPr/>
            </p:nvGraphicFramePr>
            <p:xfrm>
              <a:off x="10594448" y="2347730"/>
              <a:ext cx="9278403" cy="7824724"/>
            </p:xfrm>
            <a:graphic>
              <a:graphicData uri="http://schemas.openxmlformats.org/drawingml/2006/table">
                <a:tbl>
                  <a:tblPr firstRow="1" bandRow="1">
                    <a:tableStyleId>{21E4AEA4-8DFA-4A89-87EB-49C32662AFE0}</a:tableStyleId>
                  </a:tblPr>
                  <a:tblGrid>
                    <a:gridCol w="3343802"/>
                    <a:gridCol w="5934601"/>
                  </a:tblGrid>
                  <a:tr h="370840">
                    <a:tc>
                      <a:txBody>
                        <a:bodyPr/>
                        <a:lstStyle/>
                        <a:p>
                          <a:r>
                            <a:rPr lang="es-ES" sz="2800" dirty="0" smtClean="0"/>
                            <a:t>FACTORIZANDO</a:t>
                          </a:r>
                          <a:endParaRPr lang="en-US" sz="28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s-ES" sz="2800" dirty="0" smtClean="0"/>
                            <a:t>FORMULA CUADRATICA</a:t>
                          </a:r>
                          <a:endParaRPr lang="en-US" sz="2800" dirty="0"/>
                        </a:p>
                      </a:txBody>
                      <a:tcPr/>
                    </a:tc>
                  </a:tr>
                  <a:tr h="7289165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</a:blipFill>
                      </a:tcPr>
                    </a:tc>
                  </a:tr>
                </a:tbl>
              </a:graphicData>
            </a:graphic>
          </p:graphicFrame>
        </mc:Fallback>
      </mc:AlternateContent>
      <p:pic>
        <p:nvPicPr>
          <p:cNvPr id="1026" name="Picture 2" descr="Resolver Ecuaciones Cuadráticas con la Fórmula General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212" b="25574"/>
          <a:stretch>
            <a:fillRect/>
          </a:stretch>
        </p:blipFill>
        <p:spPr bwMode="auto">
          <a:xfrm>
            <a:off x="2319491" y="6632400"/>
            <a:ext cx="6286500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/>
          <p:cNvSpPr txBox="1"/>
          <p:nvPr/>
        </p:nvSpPr>
        <p:spPr>
          <a:xfrm>
            <a:off x="5168735" y="720399"/>
            <a:ext cx="7098323" cy="707886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40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CO" dirty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DISCRIMINANTE</a:t>
            </a:r>
            <a:endParaRPr lang="es-CO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pic>
        <p:nvPicPr>
          <p:cNvPr id="3" name="Imagen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191" y="2225607"/>
            <a:ext cx="11343232" cy="254767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  <a:headEnd/>
            <a:tailEnd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4" name="Rectángulo 3"/>
              <p:cNvSpPr/>
              <p:nvPr/>
            </p:nvSpPr>
            <p:spPr>
              <a:xfrm>
                <a:off x="12033250" y="2311410"/>
                <a:ext cx="6851650" cy="532966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>
                  <a:buClr>
                    <a:schemeClr val="accent1"/>
                  </a:buClr>
                </a:pPr>
                <a:r>
                  <a:rPr lang="es-ES" sz="2800" b="1" dirty="0" smtClean="0">
                    <a:ln w="22225">
                      <a:solidFill>
                        <a:schemeClr val="accent2"/>
                      </a:solidFill>
                      <a:prstDash val="solid"/>
                    </a:ln>
                    <a:solidFill>
                      <a:srgbClr val="C00000"/>
                    </a:solidFill>
                    <a:latin typeface="Arial Black" panose="020B0A04020102020204" pitchFamily="34" charset="0"/>
                  </a:rPr>
                  <a:t>Ejemplo: </a:t>
                </a:r>
                <a14:m>
                  <m:oMath xmlns:m="http://schemas.openxmlformats.org/officeDocument/2006/math">
                    <m:r>
                      <a:rPr lang="es-ES" sz="2400" b="0" i="1" smtClean="0">
                        <a:ln w="22225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a:rPr lang="es-ES" sz="2400" b="0" i="1" smtClean="0">
                        <a:ln w="22225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s-ES" sz="2400" b="0" i="1" smtClean="0">
                        <a:ln w="22225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400" b="0" i="1" smtClean="0">
                        <a:ln w="22225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)=</m:t>
                    </m:r>
                    <m:sSup>
                      <m:sSupPr>
                        <m:ctrlPr>
                          <a:rPr lang="es-ES" sz="2400" b="0" i="1" smtClean="0">
                            <a:ln w="22225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2400" b="0" i="1" smtClean="0">
                            <a:ln w="22225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ES" sz="2400" b="0" i="1" smtClean="0">
                            <a:ln w="22225">
                              <a:solidFill>
                                <a:schemeClr val="tx1"/>
                              </a:solidFill>
                              <a:prstDash val="solid"/>
                            </a:ln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2400" b="0" i="1" smtClean="0">
                        <a:ln w="22225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400" b="0" i="1" smtClean="0">
                        <a:ln w="22225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s-ES" sz="2400" b="0" i="1" smtClean="0">
                        <a:ln w="22225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2400" b="0" i="1" smtClean="0">
                        <a:ln w="22225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s-ES" sz="2400" b="0" i="1" smtClean="0">
                        <a:ln w="22225">
                          <a:solidFill>
                            <a:schemeClr val="tx1"/>
                          </a:solidFill>
                          <a:prstDash val="solid"/>
                        </a:ln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lang="es-ES" sz="2400" dirty="0" smtClean="0">
                    <a:ln w="22225">
                      <a:solidFill>
                        <a:schemeClr val="tx1"/>
                      </a:solidFill>
                      <a:prstDash val="solid"/>
                    </a:ln>
                    <a:solidFill>
                      <a:schemeClr val="tx1"/>
                    </a:solidFill>
                    <a:latin typeface="Arial Black" panose="020B0A04020102020204" pitchFamily="34" charset="0"/>
                  </a:rPr>
                  <a:t> </a:t>
                </a:r>
                <a:endParaRPr lang="es-ES" sz="2400" dirty="0">
                  <a:ln w="22225">
                    <a:solidFill>
                      <a:schemeClr val="tx1"/>
                    </a:solidFill>
                    <a:prstDash val="solid"/>
                  </a:ln>
                  <a:solidFill>
                    <a:srgbClr val="C00000"/>
                  </a:solidFill>
                  <a:latin typeface="Arial Black" panose="020B0A04020102020204" pitchFamily="34" charset="0"/>
                </a:endParaRPr>
              </a:p>
            </p:txBody>
          </p:sp>
        </mc:Choice>
        <mc:Fallback>
          <p:sp>
            <p:nvSpPr>
              <p:cNvPr id="4" name="Rectángulo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033250" y="2311410"/>
                <a:ext cx="6851650" cy="532966"/>
              </a:xfrm>
              <a:prstGeom prst="rect">
                <a:avLst/>
              </a:prstGeom>
              <a:blipFill rotWithShape="1">
                <a:blip r:embed="rId2"/>
                <a:stretch>
                  <a:fillRect t="-2" b="40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CuadroTexto 4"/>
          <p:cNvSpPr txBox="1"/>
          <p:nvPr/>
        </p:nvSpPr>
        <p:spPr>
          <a:xfrm>
            <a:off x="-194490" y="5308996"/>
            <a:ext cx="10726449" cy="523220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es-CO"/>
            </a:defPPr>
            <a:lvl1pPr algn="ctr">
              <a:defRPr sz="2800" b="1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es-MX" dirty="0"/>
              <a:t>Valor Máximo y mínimo de una función cuadrática: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CuadroTexto 5"/>
              <p:cNvSpPr txBox="1"/>
              <p:nvPr/>
            </p:nvSpPr>
            <p:spPr>
              <a:xfrm>
                <a:off x="577355" y="6111875"/>
                <a:ext cx="9182758" cy="3152401"/>
              </a:xfrm>
              <a:prstGeom prst="rect">
                <a:avLst/>
              </a:prstGeom>
              <a:ln w="28575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 wrap="square" rtlCol="0">
                <a:spAutoFit/>
              </a:bodyPr>
              <a:lstStyle/>
              <a:p>
                <a:r>
                  <a:rPr lang="es-MX" sz="3200" dirty="0" smtClean="0"/>
                  <a:t>Si  </a:t>
                </a:r>
                <a14:m>
                  <m:oMath xmlns:m="http://schemas.openxmlformats.org/officeDocument/2006/math"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MX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s-MX" sz="32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32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s-MX" sz="32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𝑏𝑥</m:t>
                    </m:r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3200" dirty="0"/>
                  <a:t>  </a:t>
                </a:r>
                <a:r>
                  <a:rPr lang="es-CO" sz="3200" dirty="0"/>
                  <a:t>donde</a:t>
                </a:r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≠</m:t>
                    </m:r>
                    <m:r>
                      <a:rPr lang="es-MX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0</m:t>
                    </m:r>
                    <m:r>
                      <a:rPr lang="es-MX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</m:t>
                    </m:r>
                  </m:oMath>
                </a14:m>
                <a:r>
                  <a:rPr lang="en-US" sz="3200" dirty="0"/>
                  <a:t>  </a:t>
                </a:r>
                <a:r>
                  <a:rPr lang="es-CO" sz="3200" dirty="0"/>
                  <a:t>entonces</a:t>
                </a:r>
                <a:r>
                  <a:rPr lang="en-US" sz="3200" dirty="0"/>
                  <a:t>  </a:t>
                </a:r>
                <a14:m>
                  <m:oMath xmlns:m="http://schemas.openxmlformats.org/officeDocument/2006/math">
                    <m:r>
                      <a:rPr lang="es-MX" sz="3200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s-MX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num>
                          <m:den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s-MX" sz="3200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den>
                        </m:f>
                      </m:e>
                    </m:d>
                  </m:oMath>
                </a14:m>
                <a:r>
                  <a:rPr lang="en-US" sz="3200" dirty="0"/>
                  <a:t> </a:t>
                </a:r>
                <a:r>
                  <a:rPr lang="en-US" sz="3200" dirty="0" smtClean="0"/>
                  <a:t>es:</a:t>
                </a:r>
                <a:endParaRPr lang="en-US" sz="3200" dirty="0"/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s-MX" sz="3200" dirty="0" smtClean="0"/>
                  <a:t>El </a:t>
                </a:r>
                <a:r>
                  <a:rPr lang="es-MX" sz="3200" dirty="0"/>
                  <a:t>valor máximo de </a:t>
                </a:r>
                <a14:m>
                  <m:oMath xmlns:m="http://schemas.openxmlformats.org/officeDocument/2006/math"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MX" sz="3200" dirty="0"/>
                  <a:t> si </a:t>
                </a:r>
                <a14:m>
                  <m:oMath xmlns:m="http://schemas.openxmlformats.org/officeDocument/2006/math"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s-ES" sz="3200" dirty="0" smtClean="0"/>
              </a:p>
              <a:p>
                <a:pPr marL="514350" indent="-514350">
                  <a:lnSpc>
                    <a:spcPct val="200000"/>
                  </a:lnSpc>
                  <a:buFont typeface="+mj-lt"/>
                  <a:buAutoNum type="arabicPeriod"/>
                </a:pPr>
                <a:r>
                  <a:rPr lang="es-MX" sz="3200" dirty="0"/>
                  <a:t>El valor mínimo de </a:t>
                </a:r>
                <a14:m>
                  <m:oMath xmlns:m="http://schemas.openxmlformats.org/officeDocument/2006/math"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es-MX" sz="3200" dirty="0"/>
                  <a:t> si </a:t>
                </a:r>
                <a14:m>
                  <m:oMath xmlns:m="http://schemas.openxmlformats.org/officeDocument/2006/math"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&gt;</m:t>
                    </m:r>
                    <m:r>
                      <a:rPr lang="es-MX" sz="3200" i="1" dirty="0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endParaRPr lang="en-US" sz="3200" dirty="0"/>
              </a:p>
            </p:txBody>
          </p:sp>
        </mc:Choice>
        <mc:Fallback>
          <p:sp>
            <p:nvSpPr>
              <p:cNvPr id="6" name="CuadroTexto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355" y="6111875"/>
                <a:ext cx="9182758" cy="3152401"/>
              </a:xfrm>
              <a:prstGeom prst="rect">
                <a:avLst/>
              </a:prstGeom>
              <a:blipFill rotWithShape="1">
                <a:blip r:embed="rId3"/>
                <a:stretch>
                  <a:fillRect l="-161" t="-463" r="-150" b="-2268"/>
                </a:stretch>
              </a:blipFill>
              <a:ln w="28575"/>
            </p:spPr>
            <p:style>
              <a:lnRef idx="2">
                <a:schemeClr val="accent5"/>
              </a:lnRef>
              <a:fillRef idx="1">
                <a:schemeClr val="lt1"/>
              </a:fillRef>
              <a:effectRef idx="0">
                <a:schemeClr val="accent5"/>
              </a:effectRef>
              <a:fontRef idx="minor">
                <a:schemeClr val="dk1"/>
              </a:fontRef>
            </p:style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ángulo 7"/>
              <p:cNvSpPr/>
              <p:nvPr/>
            </p:nvSpPr>
            <p:spPr>
              <a:xfrm>
                <a:off x="11820525" y="3738356"/>
                <a:ext cx="7277100" cy="5078313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 algn="just">
                  <a:buClr>
                    <a:schemeClr val="accent1"/>
                  </a:buClr>
                  <a:buFont typeface="Wingdings" panose="05000000000000000000" pitchFamily="2" charset="2"/>
                  <a:buChar char="v"/>
                </a:pPr>
                <a:r>
                  <a:rPr lang="es-ES" sz="3600" dirty="0" smtClean="0">
                    <a:latin typeface="Georgia" panose="02040502050405020303" pitchFamily="18" charset="0"/>
                  </a:rPr>
                  <a:t>La altura sobre el piso a la que llega un cohete de juguete lanzado hacia arriba desde la azotea de un edificio, se termina con </a:t>
                </a:r>
                <a14:m>
                  <m:oMath xmlns:m="http://schemas.openxmlformats.org/officeDocument/2006/math">
                    <m:r>
                      <a:rPr lang="es-ES" sz="3600" b="0" i="1" smtClean="0">
                        <a:latin typeface="Cambria Math" panose="02040503050406030204" pitchFamily="18" charset="0"/>
                      </a:rPr>
                      <m:t>𝑠</m:t>
                    </m:r>
                    <m:d>
                      <m:dPr>
                        <m:ctrlPr>
                          <a:rPr lang="es-ES" sz="36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</m:d>
                    <m:r>
                      <a:rPr lang="es-ES" sz="3600" b="0" i="1" smtClean="0">
                        <a:latin typeface="Cambria Math" panose="02040503050406030204" pitchFamily="18" charset="0"/>
                      </a:rPr>
                      <m:t>=−</m:t>
                    </m:r>
                    <m:r>
                      <a:rPr lang="es-ES" sz="3600" b="0" i="1" smtClean="0">
                        <a:latin typeface="Cambria Math" panose="02040503050406030204" pitchFamily="18" charset="0"/>
                      </a:rPr>
                      <m:t>16</m:t>
                    </m:r>
                    <m:sSup>
                      <m:sSupPr>
                        <m:ctrlPr>
                          <a:rPr lang="es-ES" sz="3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ES" sz="3600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s-ES" sz="3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ES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3600" b="0" i="1" smtClean="0">
                        <a:latin typeface="Cambria Math" panose="02040503050406030204" pitchFamily="18" charset="0"/>
                      </a:rPr>
                      <m:t>96</m:t>
                    </m:r>
                    <m:r>
                      <a:rPr lang="es-ES" sz="3600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s-ES" sz="36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s-ES" sz="3600" b="0" i="1" smtClean="0">
                        <a:latin typeface="Cambria Math" panose="02040503050406030204" pitchFamily="18" charset="0"/>
                      </a:rPr>
                      <m:t>256</m:t>
                    </m:r>
                  </m:oMath>
                </a14:m>
                <a:r>
                  <a:rPr lang="es-ES" sz="3600" dirty="0" smtClean="0">
                    <a:latin typeface="Georgia" panose="02040502050405020303" pitchFamily="18" charset="0"/>
                  </a:rPr>
                  <a:t> </a:t>
                </a:r>
                <a:endParaRPr lang="es-ES" sz="3600" dirty="0" smtClean="0">
                  <a:latin typeface="Georgia" panose="02040502050405020303" pitchFamily="18" charset="0"/>
                </a:endParaRPr>
              </a:p>
              <a:p>
                <a:pPr marL="742950" indent="-742950" algn="just">
                  <a:buClr>
                    <a:schemeClr val="accent1"/>
                  </a:buClr>
                  <a:buAutoNum type="alphaLcPeriod"/>
                </a:pPr>
                <a:r>
                  <a:rPr lang="es-ES" sz="3600" dirty="0" smtClean="0">
                    <a:latin typeface="Georgia" panose="02040502050405020303" pitchFamily="18" charset="0"/>
                  </a:rPr>
                  <a:t>¿Cuál es l a altura máxima que alcanza el cohete</a:t>
                </a:r>
                <a:endParaRPr lang="es-ES" sz="3600" dirty="0" smtClean="0">
                  <a:latin typeface="Georgia" panose="02040502050405020303" pitchFamily="18" charset="0"/>
                </a:endParaRPr>
              </a:p>
              <a:p>
                <a:pPr marL="742950" indent="-742950" algn="just">
                  <a:buClr>
                    <a:schemeClr val="accent1"/>
                  </a:buClr>
                  <a:buAutoNum type="alphaLcPeriod"/>
                </a:pPr>
                <a:r>
                  <a:rPr lang="es-ES" sz="3600" dirty="0" smtClean="0">
                    <a:latin typeface="Georgia" panose="02040502050405020303" pitchFamily="18" charset="0"/>
                  </a:rPr>
                  <a:t>Calcule el tiempo para que el cohete llegue al suelo?</a:t>
                </a:r>
                <a:endParaRPr lang="es-ES" sz="3600" dirty="0">
                  <a:latin typeface="Georgia" panose="02040502050405020303" pitchFamily="18" charset="0"/>
                </a:endParaRPr>
              </a:p>
            </p:txBody>
          </p:sp>
        </mc:Choice>
        <mc:Fallback>
          <p:sp>
            <p:nvSpPr>
              <p:cNvPr id="8" name="Rectángulo 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20525" y="3738356"/>
                <a:ext cx="7277100" cy="5078313"/>
              </a:xfrm>
              <a:prstGeom prst="rect">
                <a:avLst/>
              </a:prstGeom>
              <a:blipFill rotWithShape="1">
                <a:blip r:embed="rId4"/>
                <a:stretch>
                  <a:fillRect t="-2" b="6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/>
          <p:cNvSpPr/>
          <p:nvPr/>
        </p:nvSpPr>
        <p:spPr>
          <a:xfrm>
            <a:off x="3956050" y="776261"/>
            <a:ext cx="11506200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4000" b="1" dirty="0" smtClean="0">
                <a:ln w="22225">
                  <a:solidFill>
                    <a:schemeClr val="bg1"/>
                  </a:solidFill>
                  <a:prstDash val="solid"/>
                </a:ln>
                <a:solidFill>
                  <a:schemeClr val="bg1"/>
                </a:solidFill>
              </a:rPr>
              <a:t>FUNCIÓN DEFINIDA A TROZOS</a:t>
            </a:r>
            <a:endParaRPr lang="es-CO" sz="4000" b="1" dirty="0">
              <a:ln w="22225">
                <a:solidFill>
                  <a:schemeClr val="bg1"/>
                </a:solidFill>
                <a:prstDash val="solid"/>
              </a:ln>
              <a:solidFill>
                <a:schemeClr val="bg1"/>
              </a:solidFill>
            </a:endParaRPr>
          </a:p>
        </p:txBody>
      </p:sp>
      <p:sp>
        <p:nvSpPr>
          <p:cNvPr id="3" name="Rectángulo 2"/>
          <p:cNvSpPr/>
          <p:nvPr/>
        </p:nvSpPr>
        <p:spPr>
          <a:xfrm>
            <a:off x="358311" y="2037851"/>
            <a:ext cx="10052050" cy="2554545"/>
          </a:xfrm>
          <a:prstGeom prst="rect">
            <a:avLst/>
          </a:prstGeom>
        </p:spPr>
        <p:txBody>
          <a:bodyPr>
            <a:spAutoFit/>
          </a:bodyPr>
          <a:lstStyle/>
          <a:p>
            <a:pPr algn="just"/>
            <a:r>
              <a:rPr lang="es-CO" sz="3200" dirty="0">
                <a:latin typeface="Georgia" panose="02040502050405020303" pitchFamily="18" charset="0"/>
              </a:rPr>
              <a:t>Una función f puede contener dos o más expresiones o </a:t>
            </a:r>
            <a:r>
              <a:rPr lang="es-CO" sz="3200" dirty="0" smtClean="0">
                <a:latin typeface="Georgia" panose="02040502050405020303" pitchFamily="18" charset="0"/>
              </a:rPr>
              <a:t>fórmulas</a:t>
            </a:r>
            <a:r>
              <a:rPr lang="es-CO" sz="3200" dirty="0">
                <a:latin typeface="Georgia" panose="02040502050405020303" pitchFamily="18" charset="0"/>
              </a:rPr>
              <a:t>, y </a:t>
            </a:r>
            <a:r>
              <a:rPr lang="es-CO" sz="3200" dirty="0" smtClean="0">
                <a:latin typeface="Georgia" panose="02040502050405020303" pitchFamily="18" charset="0"/>
              </a:rPr>
              <a:t>estando </a:t>
            </a:r>
            <a:r>
              <a:rPr lang="es-CO" sz="3200" dirty="0">
                <a:latin typeface="Georgia" panose="02040502050405020303" pitchFamily="18" charset="0"/>
              </a:rPr>
              <a:t>definida cada fórmula para diferentes partes del dominio de f. Una </a:t>
            </a:r>
            <a:r>
              <a:rPr lang="es-CO" sz="3200" dirty="0" smtClean="0">
                <a:latin typeface="Georgia" panose="02040502050405020303" pitchFamily="18" charset="0"/>
              </a:rPr>
              <a:t>función </a:t>
            </a:r>
            <a:r>
              <a:rPr lang="es-CO" sz="3200" dirty="0">
                <a:latin typeface="Georgia" panose="02040502050405020303" pitchFamily="18" charset="0"/>
              </a:rPr>
              <a:t>definida de esta manera se llama función definida en intervalos (o </a:t>
            </a:r>
            <a:r>
              <a:rPr lang="es-CO" sz="3200" dirty="0" smtClean="0">
                <a:latin typeface="Georgia" panose="02040502050405020303" pitchFamily="18" charset="0"/>
              </a:rPr>
              <a:t>función definida a trozos). Por ejemplo</a:t>
            </a:r>
            <a:endParaRPr lang="en-US" sz="3200" dirty="0">
              <a:latin typeface="Georgia" panose="02040502050405020303" pitchFamily="18" charset="0"/>
            </a:endParaRPr>
          </a:p>
        </p:txBody>
      </p:sp>
      <p:pic>
        <p:nvPicPr>
          <p:cNvPr id="4" name="Imagen 3"/>
          <p:cNvPicPr>
            <a:picLocks noChangeAspect="1"/>
          </p:cNvPicPr>
          <p:nvPr/>
        </p:nvPicPr>
        <p:blipFill>
          <a:blip r:embed="rId1">
            <a:duotone>
              <a:schemeClr val="accent2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279650" y="5146100"/>
            <a:ext cx="6067596" cy="1956375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ángulo 4"/>
              <p:cNvSpPr/>
              <p:nvPr/>
            </p:nvSpPr>
            <p:spPr>
              <a:xfrm>
                <a:off x="358311" y="7656179"/>
                <a:ext cx="10052050" cy="3046988"/>
              </a:xfrm>
              <a:prstGeom prst="rect">
                <a:avLst/>
              </a:prstGeom>
            </p:spPr>
            <p:txBody>
              <a:bodyPr>
                <a:spAutoFit/>
              </a:bodyPr>
              <a:lstStyle/>
              <a:p>
                <a:r>
                  <a:rPr lang="es-CO" sz="3200" dirty="0" smtClean="0">
                    <a:latin typeface="Georgia" panose="02040502050405020303" pitchFamily="18" charset="0"/>
                  </a:rPr>
                  <a:t>no son dos funciones, sino una sola en la que la regla de correspondencia está en dos partes</a:t>
                </a:r>
                <a:r>
                  <a:rPr lang="es-CO" sz="3200" dirty="0">
                    <a:latin typeface="Georgia" panose="02040502050405020303" pitchFamily="18" charset="0"/>
                  </a:rPr>
                  <a:t>. En este caso, una parte se usa para los números </a:t>
                </a:r>
                <a:r>
                  <a:rPr lang="es-CO" sz="3200" dirty="0" smtClean="0">
                    <a:latin typeface="Georgia" panose="02040502050405020303" pitchFamily="18" charset="0"/>
                  </a:rPr>
                  <a:t>reales negativos </a:t>
                </a:r>
                <a14:m>
                  <m:oMath xmlns:m="http://schemas.openxmlformats.org/officeDocument/2006/math"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&lt;</m:t>
                    </m:r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0</m:t>
                    </m:r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s-CO" sz="3200" dirty="0" smtClean="0">
                    <a:latin typeface="Georgia" panose="02040502050405020303" pitchFamily="18" charset="0"/>
                  </a:rPr>
                  <a:t>y </a:t>
                </a:r>
                <a:r>
                  <a:rPr lang="es-CO" sz="3200" dirty="0">
                    <a:latin typeface="Georgia" panose="02040502050405020303" pitchFamily="18" charset="0"/>
                  </a:rPr>
                  <a:t>la </a:t>
                </a:r>
                <a:r>
                  <a:rPr lang="es-CO" sz="3200" dirty="0" smtClean="0">
                    <a:latin typeface="Georgia" panose="02040502050405020303" pitchFamily="18" charset="0"/>
                  </a:rPr>
                  <a:t>otra </a:t>
                </a:r>
                <a:r>
                  <a:rPr lang="es-CO" sz="3200" dirty="0">
                    <a:latin typeface="Georgia" panose="02040502050405020303" pitchFamily="18" charset="0"/>
                  </a:rPr>
                  <a:t>parte para los números no negativos </a:t>
                </a:r>
                <a14:m>
                  <m:oMath xmlns:m="http://schemas.openxmlformats.org/officeDocument/2006/math"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≥</m:t>
                    </m:r>
                    <m:r>
                      <a:rPr lang="es-ES" sz="3200" b="0" i="1" smtClean="0"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s-CO" sz="3200" dirty="0" smtClean="0">
                    <a:latin typeface="Georgia" panose="02040502050405020303" pitchFamily="18" charset="0"/>
                  </a:rPr>
                  <a:t>; </a:t>
                </a:r>
                <a:r>
                  <a:rPr lang="es-CO" sz="3200" dirty="0">
                    <a:latin typeface="Georgia" panose="02040502050405020303" pitchFamily="18" charset="0"/>
                  </a:rPr>
                  <a:t>el dominio de </a:t>
                </a:r>
                <a:r>
                  <a:rPr lang="es-CO" sz="3200" dirty="0" smtClean="0">
                    <a:latin typeface="Georgia" panose="02040502050405020303" pitchFamily="18" charset="0"/>
                  </a:rPr>
                  <a:t>f(x) es </a:t>
                </a:r>
                <a:r>
                  <a:rPr lang="es-CO" sz="3200" dirty="0">
                    <a:latin typeface="Georgia" panose="02040502050405020303" pitchFamily="18" charset="0"/>
                  </a:rPr>
                  <a:t>la unión de los </a:t>
                </a:r>
                <a:r>
                  <a:rPr lang="es-CO" sz="3200" dirty="0" smtClean="0">
                    <a:latin typeface="Georgia" panose="02040502050405020303" pitchFamily="18" charset="0"/>
                  </a:rPr>
                  <a:t>intervalos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s-ES" sz="32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2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s-E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∞,</m:t>
                        </m:r>
                        <m:r>
                          <a:rPr lang="es-E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a:rPr lang="es-ES" sz="32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∪</m:t>
                    </m:r>
                    <m:d>
                      <m:dPr>
                        <m:begChr m:val="["/>
                        <m:endChr m:val=""/>
                        <m:ctrlPr>
                          <a:rPr lang="es-E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s-E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  <m:r>
                          <a:rPr lang="es-ES" sz="32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,∞)=(−∞,∞)</m:t>
                        </m:r>
                      </m:e>
                    </m:d>
                  </m:oMath>
                </a14:m>
                <a:endParaRPr lang="en-US" sz="3200" dirty="0">
                  <a:latin typeface="Georgia" panose="02040502050405020303" pitchFamily="18" charset="0"/>
                </a:endParaRPr>
              </a:p>
            </p:txBody>
          </p:sp>
        </mc:Choice>
        <mc:Fallback>
          <p:sp>
            <p:nvSpPr>
              <p:cNvPr id="5" name="Rectángulo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11" y="7656179"/>
                <a:ext cx="10052050" cy="3046988"/>
              </a:xfrm>
              <a:prstGeom prst="rect">
                <a:avLst/>
              </a:prstGeom>
              <a:blipFill rotWithShape="1">
                <a:blip r:embed="rId2"/>
                <a:stretch>
                  <a:fillRect l="-2" t="-20" r="2" b="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7" name="Imagen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80352" y="2835275"/>
            <a:ext cx="5662085" cy="2103060"/>
          </a:xfrm>
          <a:prstGeom prst="rect">
            <a:avLst/>
          </a:prstGeom>
        </p:spPr>
      </p:pic>
      <p:pic>
        <p:nvPicPr>
          <p:cNvPr id="8" name="Imagen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80352" y="4938335"/>
            <a:ext cx="7146266" cy="5764832"/>
          </a:xfrm>
          <a:prstGeom prst="rect">
            <a:avLst/>
          </a:prstGeom>
        </p:spPr>
      </p:pic>
      <p:sp>
        <p:nvSpPr>
          <p:cNvPr id="9" name="Rectángulo 8"/>
          <p:cNvSpPr/>
          <p:nvPr/>
        </p:nvSpPr>
        <p:spPr>
          <a:xfrm>
            <a:off x="9709150" y="2073331"/>
            <a:ext cx="115062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s-CO" sz="2800" dirty="0" smtClean="0">
                <a:ln w="22225">
                  <a:solidFill>
                    <a:sysClr val="windowText" lastClr="000000"/>
                  </a:solidFill>
                  <a:prstDash val="solid"/>
                </a:ln>
              </a:rPr>
              <a:t>GRAFICAR UNA FUNCIÓN DEFINIDA A TROZOS</a:t>
            </a:r>
            <a:endParaRPr lang="es-CO" sz="2800" dirty="0">
              <a:ln w="22225">
                <a:solidFill>
                  <a:sysClr val="windowText" lastClr="000000"/>
                </a:solidFill>
                <a:prstDash val="solid"/>
              </a:ln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9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n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18974" y="5190942"/>
            <a:ext cx="5429477" cy="1761563"/>
          </a:xfrm>
          <a:prstGeom prst="rect">
            <a:avLst/>
          </a:prstGeom>
        </p:spPr>
      </p:pic>
      <p:sp>
        <p:nvSpPr>
          <p:cNvPr id="3" name="Rectángulo 2"/>
          <p:cNvSpPr/>
          <p:nvPr/>
        </p:nvSpPr>
        <p:spPr>
          <a:xfrm>
            <a:off x="603250" y="2096466"/>
            <a:ext cx="9067800" cy="25545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3200" dirty="0" smtClean="0">
                <a:latin typeface="Georgia" panose="02040502050405020303" pitchFamily="18" charset="0"/>
              </a:rPr>
              <a:t>1. trace </a:t>
            </a:r>
            <a:r>
              <a:rPr lang="es-CO" sz="3200" dirty="0">
                <a:latin typeface="Georgia" panose="02040502050405020303" pitchFamily="18" charset="0"/>
              </a:rPr>
              <a:t>la gráfica de la función definida en intervalos que se </a:t>
            </a:r>
            <a:r>
              <a:rPr lang="es-CO" sz="3200" dirty="0" smtClean="0">
                <a:latin typeface="Georgia" panose="02040502050405020303" pitchFamily="18" charset="0"/>
              </a:rPr>
              <a:t>indique</a:t>
            </a:r>
            <a:r>
              <a:rPr lang="es-CO" sz="3200" dirty="0">
                <a:latin typeface="Georgia" panose="02040502050405020303" pitchFamily="18" charset="0"/>
              </a:rPr>
              <a:t>. </a:t>
            </a:r>
            <a:r>
              <a:rPr lang="es-CO" sz="3200" dirty="0" smtClean="0">
                <a:latin typeface="Georgia" panose="02040502050405020303" pitchFamily="18" charset="0"/>
              </a:rPr>
              <a:t>Calcule </a:t>
            </a:r>
            <a:r>
              <a:rPr lang="es-CO" sz="3200" dirty="0">
                <a:latin typeface="Georgia" panose="02040502050405020303" pitchFamily="18" charset="0"/>
              </a:rPr>
              <a:t>todas las intersecciones con los ejes de la gráfica. Indique todos los </a:t>
            </a:r>
            <a:r>
              <a:rPr lang="es-CO" sz="3200" dirty="0" smtClean="0">
                <a:latin typeface="Georgia" panose="02040502050405020303" pitchFamily="18" charset="0"/>
              </a:rPr>
              <a:t>números </a:t>
            </a:r>
            <a:r>
              <a:rPr lang="es-CO" sz="3200" dirty="0">
                <a:latin typeface="Georgia" panose="02040502050405020303" pitchFamily="18" charset="0"/>
              </a:rPr>
              <a:t>para los cuales la función es discontinua.</a:t>
            </a:r>
            <a:endParaRPr lang="en-US" sz="3200" dirty="0">
              <a:latin typeface="Georgia" panose="02040502050405020303" pitchFamily="18" charset="0"/>
            </a:endParaRPr>
          </a:p>
        </p:txBody>
      </p:sp>
      <p:sp>
        <p:nvSpPr>
          <p:cNvPr id="4" name="Rectángulo 3"/>
          <p:cNvSpPr/>
          <p:nvPr/>
        </p:nvSpPr>
        <p:spPr>
          <a:xfrm>
            <a:off x="10304280" y="2096466"/>
            <a:ext cx="8534400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s-CO" sz="1800" dirty="0" smtClean="0">
                <a:solidFill>
                  <a:srgbClr val="151818"/>
                </a:solidFill>
                <a:effectLst/>
                <a:latin typeface="Times-Roman"/>
              </a:rPr>
              <a:t>2</a:t>
            </a:r>
            <a:r>
              <a:rPr lang="es-CO" sz="2400" dirty="0" smtClean="0">
                <a:solidFill>
                  <a:srgbClr val="151818"/>
                </a:solidFill>
                <a:effectLst/>
                <a:latin typeface="Times-Roman"/>
              </a:rPr>
              <a:t>. </a:t>
            </a:r>
            <a:r>
              <a:rPr lang="es-CO" sz="3200" dirty="0">
                <a:latin typeface="Georgia" panose="02040502050405020303" pitchFamily="18" charset="0"/>
              </a:rPr>
              <a:t>Deduzca una fórmula definida en intervalos, para la </a:t>
            </a:r>
            <a:r>
              <a:rPr lang="es-CO" sz="3200" dirty="0" smtClean="0">
                <a:latin typeface="Georgia" panose="02040502050405020303" pitchFamily="18" charset="0"/>
              </a:rPr>
              <a:t>función </a:t>
            </a:r>
            <a:r>
              <a:rPr lang="es-CO" sz="3200" dirty="0">
                <a:latin typeface="Georgia" panose="02040502050405020303" pitchFamily="18" charset="0"/>
              </a:rPr>
              <a:t>f cuya gráfica se muestra. Suponga que el dominio </a:t>
            </a:r>
            <a:r>
              <a:rPr lang="es-CO" sz="3200" dirty="0" smtClean="0">
                <a:latin typeface="Georgia" panose="02040502050405020303" pitchFamily="18" charset="0"/>
              </a:rPr>
              <a:t>de f son todos los reales.</a:t>
            </a:r>
            <a:endParaRPr lang="en-US" sz="3200" dirty="0">
              <a:latin typeface="Georgia" panose="02040502050405020303" pitchFamily="18" charset="0"/>
            </a:endParaRPr>
          </a:p>
        </p:txBody>
      </p:sp>
      <p:pic>
        <p:nvPicPr>
          <p:cNvPr id="5" name="Imagen 4"/>
          <p:cNvPicPr>
            <a:picLocks noChangeAspect="1"/>
          </p:cNvPicPr>
          <p:nvPr/>
        </p:nvPicPr>
        <p:blipFill rotWithShape="1">
          <a:blip r:embed="rId2"/>
          <a:srcRect l="15143" t="3540"/>
          <a:stretch>
            <a:fillRect/>
          </a:stretch>
        </p:blipFill>
        <p:spPr>
          <a:xfrm>
            <a:off x="14876280" y="4450276"/>
            <a:ext cx="4464071" cy="4049991"/>
          </a:xfrm>
          <a:prstGeom prst="rect">
            <a:avLst/>
          </a:prstGeo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99480" y="4350138"/>
            <a:ext cx="4572000" cy="4250266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3569" y="8169275"/>
            <a:ext cx="5584882" cy="20792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Picture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777875"/>
            <a:ext cx="11716385" cy="338074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13010" y="2682875"/>
            <a:ext cx="9457690" cy="414337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0850" y="7178675"/>
            <a:ext cx="12261850" cy="305244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808648-60b0-4918-966f-b210d93cfb0d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FCDE58CE99D8342A8E0214B3B5575A9" ma:contentTypeVersion="11" ma:contentTypeDescription="Crear nuevo documento." ma:contentTypeScope="" ma:versionID="291568386eb012268d74aa0d43a45c1a">
  <xsd:schema xmlns:xsd="http://www.w3.org/2001/XMLSchema" xmlns:xs="http://www.w3.org/2001/XMLSchema" xmlns:p="http://schemas.microsoft.com/office/2006/metadata/properties" xmlns:ns3="8a808648-60b0-4918-966f-b210d93cfb0d" targetNamespace="http://schemas.microsoft.com/office/2006/metadata/properties" ma:root="true" ma:fieldsID="a2bfbbfb6545a576a46cf13cea747d5c" ns3:_="">
    <xsd:import namespace="8a808648-60b0-4918-966f-b210d93cfb0d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SearchProperties" minOccurs="0"/>
                <xsd:element ref="ns3:MediaServiceObjectDetectorVersion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OCR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808648-60b0-4918-966f-b210d93cfb0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2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ystemTags" ma:index="13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_activity" ma:index="18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68C8323-79AA-45A3-8FB6-9E2E0E00D0DD}">
  <ds:schemaRefs/>
</ds:datastoreItem>
</file>

<file path=customXml/itemProps2.xml><?xml version="1.0" encoding="utf-8"?>
<ds:datastoreItem xmlns:ds="http://schemas.openxmlformats.org/officeDocument/2006/customXml" ds:itemID="{AA327D51-DC68-401A-A781-7AE13751AD86}">
  <ds:schemaRefs/>
</ds:datastoreItem>
</file>

<file path=customXml/itemProps3.xml><?xml version="1.0" encoding="utf-8"?>
<ds:datastoreItem xmlns:ds="http://schemas.openxmlformats.org/officeDocument/2006/customXml" ds:itemID="{0B3644BD-7B65-43D5-AA9A-9EE54A54B55F}">
  <ds:schemaRefs/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2535</Words>
  <Application>WPS Presentation</Application>
  <PresentationFormat>Personalizado</PresentationFormat>
  <Paragraphs>89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Rockwell Extra Bold</vt:lpstr>
      <vt:lpstr>Roboto</vt:lpstr>
      <vt:lpstr>Times New Roman</vt:lpstr>
      <vt:lpstr>Sitka Text</vt:lpstr>
      <vt:lpstr>Georgia</vt:lpstr>
      <vt:lpstr>Cambria Math</vt:lpstr>
      <vt:lpstr>Arial Black</vt:lpstr>
      <vt:lpstr>Times-Roman</vt:lpstr>
      <vt:lpstr>Microsoft YaHei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OTROS recursos pptx</dc:title>
  <dc:creator>Maira Alejandra Palacios Arce</dc:creator>
  <cp:lastModifiedBy>Maira Alejandra Palacios Arce</cp:lastModifiedBy>
  <cp:revision>114</cp:revision>
  <dcterms:created xsi:type="dcterms:W3CDTF">2024-11-07T16:52:00Z</dcterms:created>
  <dcterms:modified xsi:type="dcterms:W3CDTF">2025-09-18T20:21:36Z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2024-11-06T19:00:00Z</vt:filetime>
  </property>
  <property fmtid="{D5CDD505-2E9C-101B-9397-08002B2CF9AE}" pid="3" name="Creator">
    <vt:lpwstr>Adobe Illustrator 29.0 (Macintosh)</vt:lpwstr>
  </property>
  <property fmtid="{D5CDD505-2E9C-101B-9397-08002B2CF9AE}" pid="4" name="CreatorVersion">
    <vt:lpwstr>21.0.0</vt:lpwstr>
  </property>
  <property fmtid="{D5CDD505-2E9C-101B-9397-08002B2CF9AE}" pid="5" name="LastSaved">
    <vt:filetime>2024-11-06T19:00:00Z</vt:filetime>
  </property>
  <property fmtid="{D5CDD505-2E9C-101B-9397-08002B2CF9AE}" pid="6" name="Producer">
    <vt:lpwstr>Adobe PDF library 17.00</vt:lpwstr>
  </property>
  <property fmtid="{D5CDD505-2E9C-101B-9397-08002B2CF9AE}" pid="7" name="ContentTypeId">
    <vt:lpwstr>0x010100AFCDE58CE99D8342A8E0214B3B5575A9</vt:lpwstr>
  </property>
  <property fmtid="{D5CDD505-2E9C-101B-9397-08002B2CF9AE}" pid="8" name="ICV">
    <vt:lpwstr>67C89EDB40C346B78633FDF26F02D557_12</vt:lpwstr>
  </property>
  <property fmtid="{D5CDD505-2E9C-101B-9397-08002B2CF9AE}" pid="9" name="KSOProductBuildVer">
    <vt:lpwstr>1033-12.2.0.22549</vt:lpwstr>
  </property>
</Properties>
</file>
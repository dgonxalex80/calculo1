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64" r:id="rId5"/>
    <p:sldId id="309" r:id="rId6"/>
    <p:sldId id="310" r:id="rId7"/>
    <p:sldId id="311" r:id="rId8"/>
    <p:sldId id="312" r:id="rId9"/>
    <p:sldId id="313" r:id="rId10"/>
    <p:sldId id="316" r:id="rId11"/>
    <p:sldId id="317" r:id="rId12"/>
    <p:sldId id="314" r:id="rId13"/>
    <p:sldId id="315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6"/>
    <p:restoredTop sz="94709"/>
  </p:normalViewPr>
  <p:slideViewPr>
    <p:cSldViewPr>
      <p:cViewPr varScale="1">
        <p:scale>
          <a:sx n="29" d="100"/>
          <a:sy n="29" d="100"/>
        </p:scale>
        <p:origin x="1146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C5E482D-F719-B93C-146E-075116A55649}"/>
              </a:ext>
            </a:extLst>
          </p:cNvPr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EBD430-8494-9D92-E55A-A006C2237126}"/>
              </a:ext>
            </a:extLst>
          </p:cNvPr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png"/><Relationship Id="rId5" Type="http://schemas.openxmlformats.org/officeDocument/2006/relationships/image" Target="../media/image350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0.png"/><Relationship Id="rId5" Type="http://schemas.openxmlformats.org/officeDocument/2006/relationships/image" Target="../media/image43.png"/><Relationship Id="rId4" Type="http://schemas.openxmlformats.org/officeDocument/2006/relationships/image" Target="../media/image4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E56C6D1-0E3F-0C43-BB0F-988973017F01}"/>
              </a:ext>
            </a:extLst>
          </p:cNvPr>
          <p:cNvSpPr txBox="1"/>
          <p:nvPr/>
        </p:nvSpPr>
        <p:spPr>
          <a:xfrm>
            <a:off x="1822450" y="2835275"/>
            <a:ext cx="1607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</a:t>
            </a:r>
            <a:r>
              <a:rPr lang="es-CO" sz="6000" b="1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9: </a:t>
            </a:r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Composición de funciones y función inversa.</a:t>
            </a:r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163284" y="860910"/>
            <a:ext cx="9809328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COMBINACIÓN DE FUNCIONES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995328" y="1977358"/>
                <a:ext cx="7467600" cy="2554545"/>
              </a:xfrm>
              <a:prstGeom prst="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es-MX" sz="3200" dirty="0"/>
                  <a:t>Dos funciones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sz="3200" dirty="0"/>
                  <a:t> y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sz="3200" dirty="0"/>
                  <a:t> pueden combinarse para formar nuevas funciones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sz="3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sz="3200" dirty="0"/>
                  <a:t>, </a:t>
                </a:r>
                <a14:m>
                  <m:oMath xmlns:m="http://schemas.openxmlformats.org/officeDocument/2006/math">
                    <m:r>
                      <a:rPr lang="es-MX" sz="3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sz="3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3200" i="1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s-MX" sz="3200" dirty="0"/>
                  <a:t>, </a:t>
                </a:r>
                <a14:m>
                  <m:oMath xmlns:m="http://schemas.openxmlformats.org/officeDocument/2006/math">
                    <m:r>
                      <a:rPr lang="es-MX" sz="3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sz="32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MX" sz="32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3200" dirty="0"/>
                  <a:t>y </a:t>
                </a:r>
                <a14:m>
                  <m:oMath xmlns:m="http://schemas.openxmlformats.org/officeDocument/2006/math">
                    <m:r>
                      <a:rPr lang="es-MX" sz="3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sz="32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MX" sz="32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3200" dirty="0"/>
                  <a:t>de un modo semejante a como sumamos, restamos, multiplicamos y dividimos números reales. </a:t>
                </a:r>
                <a:endParaRPr lang="es-CO" sz="3200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328" y="1977358"/>
                <a:ext cx="7467600" cy="2554545"/>
              </a:xfrm>
              <a:prstGeom prst="rect">
                <a:avLst/>
              </a:prstGeom>
              <a:blipFill>
                <a:blip r:embed="rId2"/>
                <a:stretch>
                  <a:fillRect l="-1954" t="-2607" r="-1954" b="-6398"/>
                </a:stretch>
              </a:blipFill>
              <a:ln w="19050"/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/>
          <p:cNvSpPr txBox="1"/>
          <p:nvPr/>
        </p:nvSpPr>
        <p:spPr>
          <a:xfrm>
            <a:off x="257496" y="4940466"/>
            <a:ext cx="894326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3600" dirty="0">
                <a:solidFill>
                  <a:srgbClr val="FF0000"/>
                </a:solidFill>
                <a:latin typeface="Britannic Bold" panose="020B0903060703020204" pitchFamily="34" charset="0"/>
              </a:rPr>
              <a:t>SUMA, DIFERENCIAS, PRODUCTOS Y COCIENTES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96" y="6286475"/>
            <a:ext cx="8677640" cy="3654273"/>
          </a:xfrm>
          <a:prstGeom prst="rect">
            <a:avLst/>
          </a:prstGeom>
          <a:ln w="19050" cap="sq">
            <a:solidFill>
              <a:schemeClr val="tx2">
                <a:lumMod val="75000"/>
              </a:schemeClr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uadroTexto 5"/>
          <p:cNvSpPr txBox="1"/>
          <p:nvPr/>
        </p:nvSpPr>
        <p:spPr>
          <a:xfrm>
            <a:off x="9272490" y="2626917"/>
            <a:ext cx="237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EJEMPLO: </a:t>
            </a:r>
            <a:endParaRPr lang="en-US" sz="3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948" y="3620255"/>
            <a:ext cx="10717121" cy="2381582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190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13" y="3826105"/>
            <a:ext cx="6274311" cy="276216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3" y="1902559"/>
            <a:ext cx="8762851" cy="2001482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191541" y="6983859"/>
                <a:ext cx="8055581" cy="2251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MX" sz="2800" dirty="0"/>
                  <a:t>Ahora consideremos una forma muy importante de combinar dos funciones para obtener una nueva función. Suponga que </a:t>
                </a:r>
                <a14:m>
                  <m:oMath xmlns:m="http://schemas.openxmlformats.org/officeDocument/2006/math"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MX" sz="2800" dirty="0"/>
                  <a:t> y </a:t>
                </a:r>
                <a14:m>
                  <m:oMath xmlns:m="http://schemas.openxmlformats.org/officeDocument/2006/math">
                    <m:r>
                      <a:rPr lang="es-MX" sz="280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s-MX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CO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28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MX" sz="2800" dirty="0"/>
                  <a:t>. Podemos definir una nueva función </a:t>
                </a:r>
                <a14:m>
                  <m:oMath xmlns:m="http://schemas.openxmlformats.org/officeDocument/2006/math">
                    <m:r>
                      <a:rPr lang="es-MX" sz="28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800" dirty="0"/>
                  <a:t>como:</a:t>
                </a:r>
                <a:endParaRPr lang="es-CO" sz="2800" dirty="0"/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41" y="6983859"/>
                <a:ext cx="8055581" cy="2251578"/>
              </a:xfrm>
              <a:prstGeom prst="rect">
                <a:avLst/>
              </a:prstGeom>
              <a:blipFill>
                <a:blip r:embed="rId4"/>
                <a:stretch>
                  <a:fillRect l="-1513" t="-2981" r="-1513" b="-6775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67" y="9492460"/>
            <a:ext cx="10149495" cy="111307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161208" y="750961"/>
            <a:ext cx="9809328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000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COMPOSICIÓN DE FUNCIONES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049" y="2755243"/>
            <a:ext cx="8367385" cy="754952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  <p:sp>
        <p:nvSpPr>
          <p:cNvPr id="9" name="CuadroTexto 8"/>
          <p:cNvSpPr txBox="1"/>
          <p:nvPr/>
        </p:nvSpPr>
        <p:spPr>
          <a:xfrm>
            <a:off x="8971574" y="1856473"/>
            <a:ext cx="237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EJEMPLO: </a:t>
            </a:r>
            <a:endParaRPr lang="en-US" sz="3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911" y="3775791"/>
            <a:ext cx="8985250" cy="1773534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ángulo 10"/>
          <p:cNvSpPr/>
          <p:nvPr/>
        </p:nvSpPr>
        <p:spPr>
          <a:xfrm>
            <a:off x="9220435" y="6049840"/>
            <a:ext cx="7010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3600" dirty="0" smtClean="0"/>
              <a:t>Ejemplo: Un </a:t>
            </a:r>
            <a:r>
              <a:rPr lang="es-CO" sz="3600" dirty="0"/>
              <a:t>globo meteorológico se infla con un gas. Si el radio del </a:t>
            </a:r>
            <a:r>
              <a:rPr lang="es-CO" sz="3600" dirty="0" smtClean="0"/>
              <a:t>globo aumenta </a:t>
            </a:r>
            <a:r>
              <a:rPr lang="es-CO" sz="3600" dirty="0"/>
              <a:t>con una </a:t>
            </a:r>
            <a:r>
              <a:rPr lang="es-CO" sz="3600" dirty="0" smtClean="0"/>
              <a:t>velocidad </a:t>
            </a:r>
            <a:r>
              <a:rPr lang="es-CO" sz="3600" dirty="0"/>
              <a:t>de 5 cm/s, expresar el volumen del globo en función del tiempo t, en </a:t>
            </a:r>
            <a:r>
              <a:rPr lang="es-CO" sz="3600" dirty="0" smtClean="0"/>
              <a:t>segundos</a:t>
            </a:r>
            <a:endParaRPr lang="es-419" sz="3600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4250" y="5601925"/>
            <a:ext cx="2919472" cy="454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3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75" y="2060845"/>
            <a:ext cx="9672062" cy="1856979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75" y="4359275"/>
            <a:ext cx="9263690" cy="1371600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13" y="6192682"/>
            <a:ext cx="4041105" cy="350357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450" y="6192682"/>
            <a:ext cx="4114800" cy="437814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4382" y="3917825"/>
            <a:ext cx="4896868" cy="36417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CuadroTexto 6"/>
          <p:cNvSpPr txBox="1"/>
          <p:nvPr/>
        </p:nvSpPr>
        <p:spPr>
          <a:xfrm>
            <a:off x="10260088" y="2104631"/>
            <a:ext cx="2290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EJEMPLO: </a:t>
            </a:r>
            <a:endParaRPr lang="en-US" sz="24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0579" y="2911475"/>
            <a:ext cx="4850671" cy="607333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37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98450" y="1818447"/>
            <a:ext cx="1752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 algn="just">
              <a:defRPr sz="2400"/>
            </a:lvl1pPr>
          </a:lstStyle>
          <a:p>
            <a:r>
              <a:rPr lang="es-CO" sz="3600" dirty="0"/>
              <a:t>Las funciones uno a uno </a:t>
            </a:r>
            <a:r>
              <a:rPr lang="es-CO" sz="3600" dirty="0" smtClean="0"/>
              <a:t>son aquellas funciones </a:t>
            </a:r>
            <a:r>
              <a:rPr lang="es-CO" sz="3600" dirty="0"/>
              <a:t>que poseen funciones inversas de acuerdo con la siguiente definición.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533178" y="792549"/>
            <a:ext cx="9809328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000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LA INVERSA DE UNA FUNCIÓN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98" y="3305116"/>
            <a:ext cx="9594850" cy="2502553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8" y="7202838"/>
            <a:ext cx="4496427" cy="254353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CuadroTexto 5"/>
          <p:cNvSpPr txBox="1"/>
          <p:nvPr/>
        </p:nvSpPr>
        <p:spPr>
          <a:xfrm>
            <a:off x="646405" y="5906332"/>
            <a:ext cx="3191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IMPORTANTE</a:t>
            </a:r>
            <a:endParaRPr lang="en-US" sz="3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414" y="7288575"/>
            <a:ext cx="4210638" cy="237205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204" y="6270790"/>
            <a:ext cx="4210638" cy="121937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5084309" y="6404521"/>
            <a:ext cx="4210638" cy="350709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10325378" y="3448136"/>
            <a:ext cx="2951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EJEMPLO: </a:t>
            </a:r>
            <a:endParaRPr lang="en-US" sz="3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9990018" y="4185197"/>
                <a:ext cx="990599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3200" dirty="0" smtClean="0"/>
                  <a:t>Inversa</a:t>
                </a:r>
                <a:r>
                  <a:rPr lang="en-US" sz="3200" dirty="0" smtClean="0"/>
                  <a:t> para valores específicos. Si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3200" dirty="0" smtClean="0"/>
                  <a:t> ,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3200" dirty="0" smtClean="0"/>
                  <a:t> y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r>
                  <a:rPr lang="en-US" sz="3200" dirty="0" smtClean="0"/>
                  <a:t>. Hallar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E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s-E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018" y="4185197"/>
                <a:ext cx="9905999" cy="1077218"/>
              </a:xfrm>
              <a:prstGeom prst="rect">
                <a:avLst/>
              </a:prstGeom>
              <a:blipFill>
                <a:blip r:embed="rId6"/>
                <a:stretch>
                  <a:fillRect l="-1600" t="-7386" b="-1818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0693" y="6705911"/>
            <a:ext cx="8855358" cy="320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2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878906"/>
            <a:ext cx="11333448" cy="3316832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6292458"/>
            <a:ext cx="8964276" cy="666843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uadroTexto 3"/>
          <p:cNvSpPr txBox="1"/>
          <p:nvPr/>
        </p:nvSpPr>
        <p:spPr>
          <a:xfrm>
            <a:off x="603250" y="5338902"/>
            <a:ext cx="237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EJEMPLO: </a:t>
            </a:r>
            <a:endParaRPr lang="en-US" sz="3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11830034" y="4675499"/>
                <a:ext cx="7056120" cy="3289618"/>
              </a:xfrm>
              <a:prstGeom prst="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" sz="3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Demuestre que las funciones son sus inversas: </a:t>
                </a:r>
              </a:p>
              <a:p>
                <a:endParaRPr lang="es-ES" sz="20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3−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                    </m:t>
                    </m:r>
                  </m:oMath>
                </a14:m>
                <a:endParaRPr lang="es-ES" sz="32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</m:oMath>
                  </m:oMathPara>
                </a14:m>
                <a:endParaRPr lang="es-ES" sz="3200" b="0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num>
                      <m:den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4+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034" y="4675499"/>
                <a:ext cx="7056120" cy="3289618"/>
              </a:xfrm>
              <a:prstGeom prst="rect">
                <a:avLst/>
              </a:prstGeom>
              <a:blipFill>
                <a:blip r:embed="rId4"/>
                <a:stretch>
                  <a:fillRect l="-2155" t="-2210" r="-2069"/>
                </a:stretch>
              </a:blipFill>
              <a:ln w="19050"/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797" y="7407275"/>
            <a:ext cx="11420920" cy="358140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1850578" y="3399169"/>
            <a:ext cx="237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EJEMPLO: </a:t>
            </a:r>
            <a:endParaRPr lang="en-US" sz="3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838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t="26524"/>
          <a:stretch>
            <a:fillRect/>
          </a:stretch>
        </p:blipFill>
        <p:spPr>
          <a:xfrm>
            <a:off x="450850" y="1582008"/>
            <a:ext cx="11854445" cy="2200536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651250" y="306371"/>
            <a:ext cx="12322441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000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COMO HALLAR LA INVERSA DE UNA FUNCIÓN UNO A UNO </a:t>
            </a:r>
            <a:endParaRPr lang="es-CO" sz="40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734949" y="4276542"/>
                <a:ext cx="8402701" cy="62100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sz="3200" b="1" dirty="0" smtClean="0"/>
                  <a:t>Ejemplo: </a:t>
                </a:r>
                <a:r>
                  <a:rPr lang="es-ES" sz="3200" dirty="0" smtClean="0"/>
                  <a:t>Encuentre la inversa de la siguiente función: </a:t>
                </a:r>
              </a:p>
              <a:p>
                <a:endParaRPr lang="es-ES" sz="3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s-ES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32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s-ES" sz="3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s-ES" sz="3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s-ES" sz="3200" b="0" dirty="0" smtClean="0"/>
                  <a:t> </a:t>
                </a:r>
                <a:r>
                  <a:rPr lang="es-ES" sz="3200" b="1" dirty="0" smtClean="0"/>
                  <a:t>Paso 1</a:t>
                </a:r>
                <a:r>
                  <a:rPr lang="es-ES" sz="3200" b="0" dirty="0" smtClean="0"/>
                  <a:t>: Escribimos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3200" b="0" dirty="0" smtClean="0"/>
              </a:p>
              <a:p>
                <a:endParaRPr lang="es-ES" sz="32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ES" b="0" dirty="0" smtClean="0"/>
              </a:p>
              <a:p>
                <a:endParaRPr lang="es-ES" dirty="0" smtClean="0"/>
              </a:p>
              <a:p>
                <a:r>
                  <a:rPr lang="es-ES" sz="1800" b="0" dirty="0" smtClean="0"/>
                  <a:t> </a:t>
                </a:r>
                <a:endParaRPr lang="es-ES" sz="3200" b="0" dirty="0" smtClean="0"/>
              </a:p>
              <a:p>
                <a:endParaRPr lang="es-ES" sz="3200" b="0" dirty="0" smtClean="0"/>
              </a:p>
              <a:p>
                <a:endParaRPr lang="es-419" sz="3200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49" y="4276542"/>
                <a:ext cx="8402701" cy="6210098"/>
              </a:xfrm>
              <a:prstGeom prst="rect">
                <a:avLst/>
              </a:prstGeom>
              <a:blipFill>
                <a:blip r:embed="rId3"/>
                <a:stretch>
                  <a:fillRect l="-1887" t="-127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8909050" y="4276542"/>
                <a:ext cx="10052050" cy="647215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s-ES" sz="2800" b="1" dirty="0" smtClean="0"/>
                  <a:t>Paso 2: </a:t>
                </a:r>
                <a:r>
                  <a:rPr lang="es-ES" sz="2800" dirty="0" smtClean="0"/>
                  <a:t>Despejamos x de esta ecuación en términos de 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s-ES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𝑦𝑥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s-ES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𝑦𝑥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ES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ES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s-419" sz="2800" dirty="0" smtClean="0"/>
              </a:p>
              <a:p>
                <a:endParaRPr lang="es-ES" sz="2800" dirty="0"/>
              </a:p>
              <a:p>
                <a:r>
                  <a:rPr lang="es-ES" sz="2800" b="1" dirty="0" smtClean="0"/>
                  <a:t>Paso 3</a:t>
                </a:r>
                <a:r>
                  <a:rPr lang="es-ES" sz="2800" dirty="0" smtClean="0"/>
                  <a:t>: Intercambiar x por y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s-419" sz="2800" dirty="0" smtClean="0"/>
              </a:p>
              <a:p>
                <a:endParaRPr lang="es-ES" sz="2800" dirty="0"/>
              </a:p>
              <a:p>
                <a:r>
                  <a:rPr lang="es-ES" sz="2800" b="1" dirty="0" smtClean="0"/>
                  <a:t>Paso 4: </a:t>
                </a:r>
                <a:r>
                  <a:rPr lang="es-ES" sz="2800" dirty="0" smtClean="0"/>
                  <a:t>Cambiar </a:t>
                </a:r>
                <a14:m>
                  <m:oMath xmlns:m="http://schemas.openxmlformats.org/officeDocument/2006/math"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s-419" sz="2800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050" y="4276542"/>
                <a:ext cx="10052050" cy="6472156"/>
              </a:xfrm>
              <a:prstGeom prst="rect">
                <a:avLst/>
              </a:prstGeom>
              <a:blipFill>
                <a:blip r:embed="rId4"/>
                <a:stretch>
                  <a:fillRect l="-1213" t="-103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58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450850" y="2530475"/>
                <a:ext cx="17297400" cy="1997022"/>
              </a:xfrm>
              <a:prstGeom prst="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ES" sz="4000" dirty="0" smtClean="0"/>
                  <a:t>Encuentre la inversa de las siguientes funciones </a:t>
                </a:r>
              </a:p>
              <a:p>
                <a:endParaRPr lang="es-ES" sz="40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s-ES" sz="4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                    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sz="4000" i="1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2530475"/>
                <a:ext cx="17297400" cy="1997022"/>
              </a:xfrm>
              <a:prstGeom prst="rect">
                <a:avLst/>
              </a:prstGeom>
              <a:blipFill>
                <a:blip r:embed="rId2"/>
                <a:stretch>
                  <a:fillRect l="-1232" t="-5136"/>
                </a:stretch>
              </a:blipFill>
              <a:ln w="19050"/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225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4184650" y="802428"/>
                <a:ext cx="9809328" cy="7218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36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</a:defRPr>
                </a:lvl1pPr>
              </a:lstStyle>
              <a:p>
                <a:r>
                  <a:rPr lang="es-CO" sz="4000" dirty="0" smtClean="0">
                    <a:ln w="22225">
                      <a:solidFill>
                        <a:schemeClr val="bg1"/>
                      </a:solidFill>
                      <a:prstDash val="solid"/>
                    </a:ln>
                    <a:solidFill>
                      <a:schemeClr val="bg1"/>
                    </a:solidFill>
                  </a:rPr>
                  <a:t>GRÁFICAS DE F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4000" i="1">
                            <a:ln w="22225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4000">
                            <a:ln w="22225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s-ES" sz="4000">
                            <a:ln w="22225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4000">
                            <a:ln w="22225">
                              <a:solidFill>
                                <a:schemeClr val="bg1"/>
                              </a:solidFill>
                              <a:prstDash val="solid"/>
                            </a:ln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s-CO" sz="4000" dirty="0">
                  <a:ln w="22225">
                    <a:solidFill>
                      <a:schemeClr val="bg1"/>
                    </a:solidFill>
                    <a:prstDash val="solid"/>
                  </a:ln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650" y="802428"/>
                <a:ext cx="9809328" cy="7218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688" y="6082265"/>
            <a:ext cx="5420010" cy="464396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59132"/>
            <a:ext cx="5206723" cy="4125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309651" y="2161902"/>
                <a:ext cx="10052050" cy="405418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/>
                <a:r>
                  <a:rPr lang="es-CO" sz="3200" dirty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Supongamos que (</a:t>
                </a:r>
                <a:r>
                  <a:rPr lang="es-CO" sz="3200" dirty="0" err="1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a,b</a:t>
                </a:r>
                <a:r>
                  <a:rPr lang="es-CO" sz="3200" dirty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) es un punto en la gráfica de una función uno a uno f. Entonces, f(a)=b, y al aplicar la inversa: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3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CO" sz="3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p>
                          <m:r>
                            <a:rPr lang="es-CO" sz="3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3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1</m:t>
                          </m:r>
                        </m:sup>
                      </m:sSup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(</m:t>
                      </m:r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𝑏</m:t>
                      </m:r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)=</m:t>
                      </m:r>
                      <m:sSup>
                        <m:sSupPr>
                          <m:ctrlPr>
                            <a:rPr lang="es-ES" sz="3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CO" sz="3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p>
                          <m:r>
                            <a:rPr lang="es-CO" sz="3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3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1</m:t>
                          </m:r>
                        </m:sup>
                      </m:sSup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(</m:t>
                      </m:r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𝑓</m:t>
                      </m:r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(</m:t>
                      </m:r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))=</m:t>
                      </m:r>
                      <m:r>
                        <a:rPr lang="es-CO" sz="320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𝑎</m:t>
                      </m:r>
                    </m:oMath>
                  </m:oMathPara>
                </a14:m>
                <a:endParaRPr lang="es-CO" sz="3200" dirty="0">
                  <a:solidFill>
                    <a:schemeClr val="dk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algn="just"/>
                <a:r>
                  <a:rPr lang="es-CO" sz="3200" dirty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esto implica que el punto (</a:t>
                </a:r>
                <a:r>
                  <a:rPr lang="es-CO" sz="3200" dirty="0" err="1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b,a</a:t>
                </a:r>
                <a:r>
                  <a:rPr lang="es-CO" sz="3200" dirty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)  pertenece a la gráfica de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32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CO" sz="3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p>
                        <m:r>
                          <a:rPr lang="es-CO" sz="3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3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s-CO" sz="3200" dirty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 Como se observa en la figura, los puntos (</a:t>
                </a:r>
                <a:r>
                  <a:rPr lang="es-CO" sz="3200" dirty="0" err="1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a,b</a:t>
                </a:r>
                <a:r>
                  <a:rPr lang="es-CO" sz="3200" dirty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) y (</a:t>
                </a:r>
                <a:r>
                  <a:rPr lang="es-CO" sz="3200" dirty="0" err="1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b,a</a:t>
                </a:r>
                <a:r>
                  <a:rPr lang="es-CO" sz="3200" dirty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) son reflejos entre sí con respecto a la recta y=x. </a:t>
                </a: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51" y="2161902"/>
                <a:ext cx="10052050" cy="4054187"/>
              </a:xfrm>
              <a:prstGeom prst="rect">
                <a:avLst/>
              </a:prstGeom>
              <a:blipFill>
                <a:blip r:embed="rId5"/>
                <a:stretch>
                  <a:fillRect l="-1577" t="-1955" r="-1516" b="-391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2673" y="2547539"/>
            <a:ext cx="3974777" cy="373888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3628" y="2547539"/>
            <a:ext cx="3641243" cy="365272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67335" y="6565492"/>
            <a:ext cx="4757115" cy="4151194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1591694" y="1844675"/>
            <a:ext cx="2951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EJEMPLO: </a:t>
            </a:r>
            <a:endParaRPr lang="en-US" sz="3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0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413250" y="755711"/>
            <a:ext cx="9809328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kern="0"/>
            </a:defPPr>
            <a:lvl1pPr algn="ctr">
              <a:defRPr sz="4400" b="1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defRPr>
            </a:lvl1pPr>
          </a:lstStyle>
          <a:p>
            <a:r>
              <a:rPr lang="es-CO" dirty="0" smtClean="0"/>
              <a:t>ACTIVIDAD 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59335" y="1871236"/>
                <a:ext cx="5753541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AutoNum type="arabicPeriod"/>
                </a:pPr>
                <a:r>
                  <a:rPr lang="es-MX" sz="2800" dirty="0" smtClean="0"/>
                  <a:t>La función f es uno a uno. Determine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CO" sz="2800" dirty="0" smtClean="0"/>
                  <a:t> Trace la gráfica de </a:t>
                </a:r>
                <a14:m>
                  <m:oMath xmlns:m="http://schemas.openxmlformats.org/officeDocument/2006/math"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sz="28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8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CO" sz="2800" dirty="0" smtClean="0"/>
                  <a:t> en los mismos ejes coordenados. </a:t>
                </a:r>
              </a:p>
              <a:p>
                <a:pPr algn="just"/>
                <a:endParaRPr lang="es-CO" sz="2400" dirty="0"/>
              </a:p>
              <a:p>
                <a:pPr algn="just"/>
                <a:r>
                  <a:rPr lang="es-CO" sz="2400" dirty="0" smtClean="0"/>
                  <a:t>a.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s-CO" sz="24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35" y="1871236"/>
                <a:ext cx="5753541" cy="2554545"/>
              </a:xfrm>
              <a:prstGeom prst="rect">
                <a:avLst/>
              </a:prstGeom>
              <a:blipFill>
                <a:blip r:embed="rId2"/>
                <a:stretch>
                  <a:fillRect l="-1907" t="-2625" r="-2119" b="-477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4771865"/>
            <a:ext cx="5601141" cy="61241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633448" y="2024461"/>
                <a:ext cx="6236209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MX" sz="3200" dirty="0" smtClean="0"/>
                  <a:t>2. </a:t>
                </a:r>
                <a:r>
                  <a:rPr lang="es-ES" sz="3200" dirty="0" smtClean="0"/>
                  <a:t>Trace la gráfica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CO" sz="3200" dirty="0" smtClean="0"/>
                  <a:t> a partir de la gráfica dada. </a:t>
                </a:r>
                <a:endParaRPr lang="es-CO" sz="3200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448" y="2024461"/>
                <a:ext cx="6236209" cy="1077218"/>
              </a:xfrm>
              <a:prstGeom prst="rect">
                <a:avLst/>
              </a:prstGeom>
              <a:blipFill>
                <a:blip r:embed="rId4"/>
                <a:stretch>
                  <a:fillRect l="-2444" t="-7345" r="-2542" b="-17514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310" y="4130675"/>
            <a:ext cx="6258798" cy="62492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13390229" y="2570955"/>
                <a:ext cx="6321425" cy="52629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800" dirty="0" smtClean="0"/>
                  <a:t>Un sensor convierte la temperatura T (en °C) en un voltaje V (en V) mediante la función: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)=0.02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+1.2 </m:t>
                      </m:r>
                    </m:oMath>
                  </m:oMathPara>
                </a14:m>
                <a:endParaRPr lang="es-CO" sz="2800" dirty="0"/>
              </a:p>
              <a:p>
                <a:pPr algn="just"/>
                <a:r>
                  <a:rPr lang="es-CO" sz="2800" dirty="0"/>
                  <a:t>Un sistema de control convierte ese voltaje en una señal digital con la función: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)=25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CO" sz="2800" i="1" dirty="0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s-419" sz="2800" dirty="0" smtClean="0"/>
              </a:p>
              <a:p>
                <a:pPr algn="l"/>
                <a:r>
                  <a:rPr lang="es-ES" sz="2800" dirty="0" smtClean="0"/>
                  <a:t>a. Encuentra la función compuestas </a:t>
                </a:r>
                <a14:m>
                  <m:oMath xmlns:m="http://schemas.openxmlformats.org/officeDocument/2006/math"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800" dirty="0" smtClean="0"/>
                  <a:t>) que da la señal digital directa </a:t>
                </a:r>
              </a:p>
              <a:p>
                <a:pPr algn="l"/>
                <a:endParaRPr lang="es-ES" sz="2800" dirty="0"/>
              </a:p>
              <a:p>
                <a:pPr algn="l"/>
                <a:endParaRPr lang="es-419" sz="2800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0229" y="2570955"/>
                <a:ext cx="6321425" cy="5262979"/>
              </a:xfrm>
              <a:prstGeom prst="rect">
                <a:avLst/>
              </a:prstGeom>
              <a:blipFill>
                <a:blip r:embed="rId6"/>
                <a:stretch>
                  <a:fillRect l="-2025" t="-1275" r="-1929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43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Props1.xml><?xml version="1.0" encoding="utf-8"?>
<ds:datastoreItem xmlns:ds="http://schemas.openxmlformats.org/officeDocument/2006/customXml" ds:itemID="{268C8323-79AA-45A3-8FB6-9E2E0E00D0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3644BD-7B65-43D5-AA9A-9EE54A54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08648-60b0-4918-966f-b210d93c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27D51-DC68-401A-A781-7AE13751AD86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dcmitype/"/>
    <ds:schemaRef ds:uri="http://purl.org/dc/elements/1.1/"/>
    <ds:schemaRef ds:uri="8a808648-60b0-4918-966f-b210d93cfb0d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1948</TotalTime>
  <Words>858</Words>
  <Application>Microsoft Office PowerPoint</Application>
  <PresentationFormat>Personalizado</PresentationFormat>
  <Paragraphs>64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Arial</vt:lpstr>
      <vt:lpstr>Britannic Bold</vt:lpstr>
      <vt:lpstr>Calibri</vt:lpstr>
      <vt:lpstr>Cambria Math</vt:lpstr>
      <vt:lpstr>Cooper Black</vt:lpstr>
      <vt:lpstr>Roboto</vt:lpstr>
      <vt:lpstr>Rockwell Extra Bold</vt:lpstr>
      <vt:lpstr>Sitka Text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134</cp:revision>
  <dcterms:created xsi:type="dcterms:W3CDTF">2024-11-07T16:52:39Z</dcterms:created>
  <dcterms:modified xsi:type="dcterms:W3CDTF">2025-07-21T14:26:37Z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</Properties>
</file>
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96" r:id="rId6"/>
    <p:sldId id="297" r:id="rId7"/>
    <p:sldId id="317" r:id="rId8"/>
    <p:sldId id="298" r:id="rId9"/>
    <p:sldId id="316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36"/>
    <p:restoredTop sz="94709"/>
  </p:normalViewPr>
  <p:slideViewPr>
    <p:cSldViewPr>
      <p:cViewPr varScale="1">
        <p:scale>
          <a:sx n="36" d="100"/>
          <a:sy n="36" d="100"/>
        </p:scale>
        <p:origin x="1052" y="5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389561A-75C5-A438-9BB0-84BEB3E26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86650" cy="113549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EC5E482D-F719-B93C-146E-075116A55649}"/>
              </a:ext>
            </a:extLst>
          </p:cNvPr>
          <p:cNvSpPr/>
          <p:nvPr/>
        </p:nvSpPr>
        <p:spPr>
          <a:xfrm>
            <a:off x="7080850" y="5"/>
            <a:ext cx="13023850" cy="2725420"/>
          </a:xfrm>
          <a:custGeom>
            <a:avLst/>
            <a:gdLst/>
            <a:ahLst/>
            <a:cxnLst/>
            <a:rect l="l" t="t" r="r" b="b"/>
            <a:pathLst>
              <a:path w="13023850" h="2725420">
                <a:moveTo>
                  <a:pt x="13023247" y="0"/>
                </a:moveTo>
                <a:lnTo>
                  <a:pt x="0" y="0"/>
                </a:lnTo>
                <a:lnTo>
                  <a:pt x="0" y="2725047"/>
                </a:lnTo>
                <a:lnTo>
                  <a:pt x="11804666" y="2725047"/>
                </a:lnTo>
                <a:lnTo>
                  <a:pt x="11852516" y="2724125"/>
                </a:lnTo>
                <a:lnTo>
                  <a:pt x="11899898" y="2721381"/>
                </a:lnTo>
                <a:lnTo>
                  <a:pt x="11946779" y="2716849"/>
                </a:lnTo>
                <a:lnTo>
                  <a:pt x="11993125" y="2710563"/>
                </a:lnTo>
                <a:lnTo>
                  <a:pt x="12038902" y="2702557"/>
                </a:lnTo>
                <a:lnTo>
                  <a:pt x="12084076" y="2692864"/>
                </a:lnTo>
                <a:lnTo>
                  <a:pt x="12128614" y="2681519"/>
                </a:lnTo>
                <a:lnTo>
                  <a:pt x="12172481" y="2668555"/>
                </a:lnTo>
                <a:lnTo>
                  <a:pt x="12215644" y="2654006"/>
                </a:lnTo>
                <a:lnTo>
                  <a:pt x="12258069" y="2637906"/>
                </a:lnTo>
                <a:lnTo>
                  <a:pt x="12299721" y="2620290"/>
                </a:lnTo>
                <a:lnTo>
                  <a:pt x="12340568" y="2601190"/>
                </a:lnTo>
                <a:lnTo>
                  <a:pt x="12380575" y="2580641"/>
                </a:lnTo>
                <a:lnTo>
                  <a:pt x="12419708" y="2558676"/>
                </a:lnTo>
                <a:lnTo>
                  <a:pt x="12457934" y="2535330"/>
                </a:lnTo>
                <a:lnTo>
                  <a:pt x="12495218" y="2510636"/>
                </a:lnTo>
                <a:lnTo>
                  <a:pt x="12531527" y="2484628"/>
                </a:lnTo>
                <a:lnTo>
                  <a:pt x="12566827" y="2457340"/>
                </a:lnTo>
                <a:lnTo>
                  <a:pt x="12601084" y="2428805"/>
                </a:lnTo>
                <a:lnTo>
                  <a:pt x="12634264" y="2399059"/>
                </a:lnTo>
                <a:lnTo>
                  <a:pt x="12666334" y="2368134"/>
                </a:lnTo>
                <a:lnTo>
                  <a:pt x="12697259" y="2336065"/>
                </a:lnTo>
                <a:lnTo>
                  <a:pt x="12727005" y="2302885"/>
                </a:lnTo>
                <a:lnTo>
                  <a:pt x="12755539" y="2268628"/>
                </a:lnTo>
                <a:lnTo>
                  <a:pt x="12782827" y="2233328"/>
                </a:lnTo>
                <a:lnTo>
                  <a:pt x="12808835" y="2197019"/>
                </a:lnTo>
                <a:lnTo>
                  <a:pt x="12833529" y="2159734"/>
                </a:lnTo>
                <a:lnTo>
                  <a:pt x="12856875" y="2121509"/>
                </a:lnTo>
                <a:lnTo>
                  <a:pt x="12878840" y="2082375"/>
                </a:lnTo>
                <a:lnTo>
                  <a:pt x="12899389" y="2042369"/>
                </a:lnTo>
                <a:lnTo>
                  <a:pt x="12918489" y="2001522"/>
                </a:lnTo>
                <a:lnTo>
                  <a:pt x="12936106" y="1959869"/>
                </a:lnTo>
                <a:lnTo>
                  <a:pt x="12952206" y="1917445"/>
                </a:lnTo>
                <a:lnTo>
                  <a:pt x="12966754" y="1874282"/>
                </a:lnTo>
                <a:lnTo>
                  <a:pt x="12979718" y="1830414"/>
                </a:lnTo>
                <a:lnTo>
                  <a:pt x="12991063" y="1785877"/>
                </a:lnTo>
                <a:lnTo>
                  <a:pt x="13000756" y="1740702"/>
                </a:lnTo>
                <a:lnTo>
                  <a:pt x="13008763" y="1694925"/>
                </a:lnTo>
                <a:lnTo>
                  <a:pt x="13015049" y="1648579"/>
                </a:lnTo>
                <a:lnTo>
                  <a:pt x="13019581" y="1601698"/>
                </a:lnTo>
                <a:lnTo>
                  <a:pt x="13022325" y="1554316"/>
                </a:lnTo>
                <a:lnTo>
                  <a:pt x="13023247" y="1506467"/>
                </a:lnTo>
                <a:lnTo>
                  <a:pt x="13023247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63857B-7F5B-147A-E9FA-539F65C25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612" y="1158875"/>
            <a:ext cx="10218978" cy="96240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C4688C-435E-AA60-7F63-BBA53F1780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2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94951" y="0"/>
            <a:ext cx="14209394" cy="11308715"/>
          </a:xfrm>
          <a:custGeom>
            <a:avLst/>
            <a:gdLst/>
            <a:ahLst/>
            <a:cxnLst/>
            <a:rect l="l" t="t" r="r" b="b"/>
            <a:pathLst>
              <a:path w="14209394" h="11308715">
                <a:moveTo>
                  <a:pt x="14209148" y="0"/>
                </a:moveTo>
                <a:lnTo>
                  <a:pt x="0" y="0"/>
                </a:lnTo>
                <a:lnTo>
                  <a:pt x="0" y="11308556"/>
                </a:lnTo>
                <a:lnTo>
                  <a:pt x="14209148" y="11308556"/>
                </a:lnTo>
                <a:lnTo>
                  <a:pt x="14209148" y="0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91930B7-9C38-5C2D-663B-E2625F67AC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308715" cy="11308715"/>
          </a:xfrm>
          <a:custGeom>
            <a:avLst/>
            <a:gdLst/>
            <a:ahLst/>
            <a:cxnLst/>
            <a:rect l="l" t="t" r="r" b="b"/>
            <a:pathLst>
              <a:path w="11308715" h="11308715">
                <a:moveTo>
                  <a:pt x="11308556" y="0"/>
                </a:moveTo>
                <a:lnTo>
                  <a:pt x="0" y="0"/>
                </a:lnTo>
                <a:lnTo>
                  <a:pt x="0" y="11308556"/>
                </a:lnTo>
                <a:lnTo>
                  <a:pt x="11308556" y="11308556"/>
                </a:lnTo>
                <a:lnTo>
                  <a:pt x="11308556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8F4E27-A30C-9E6F-A950-F3C285D35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FBBFD-8B9D-A60D-32EE-0466FF9D066A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8C968B-6900-E09C-728E-6CF848948DE2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9B4F45-D38D-274D-5546-722F82FC6E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F2B4810-D27F-08E0-675B-A5D389A65BDF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BA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74F20A5-52F5-4DD4-9770-8E43C3C71DA3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3387D5-A49A-1FBF-34B1-4BE90F9FC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B181B7-B39F-29DC-B535-9E0FF177020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D3C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405629-822C-F927-24BD-4A62DDF405D5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91B221-6367-4694-A4D3-D53A7B0011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15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EF966DF-49B0-7B68-7000-BF5DF1EE111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1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B042B35-C874-136A-B17C-304D839CDE28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070EC6-3944-52FF-4319-00DC2B30E0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3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EBD430-8494-9D92-E55A-A006C2237126}"/>
              </a:ext>
            </a:extLst>
          </p:cNvPr>
          <p:cNvSpPr/>
          <p:nvPr/>
        </p:nvSpPr>
        <p:spPr>
          <a:xfrm>
            <a:off x="-2" y="0"/>
            <a:ext cx="20104100" cy="1831975"/>
          </a:xfrm>
          <a:custGeom>
            <a:avLst/>
            <a:gdLst/>
            <a:ahLst/>
            <a:cxnLst/>
            <a:rect l="l" t="t" r="r" b="b"/>
            <a:pathLst>
              <a:path w="20104100" h="1831975">
                <a:moveTo>
                  <a:pt x="20104099" y="0"/>
                </a:moveTo>
                <a:lnTo>
                  <a:pt x="0" y="0"/>
                </a:lnTo>
                <a:lnTo>
                  <a:pt x="0" y="1831755"/>
                </a:lnTo>
                <a:lnTo>
                  <a:pt x="18885519" y="1831755"/>
                </a:lnTo>
                <a:lnTo>
                  <a:pt x="18933368" y="1830833"/>
                </a:lnTo>
                <a:lnTo>
                  <a:pt x="18980750" y="1828089"/>
                </a:lnTo>
                <a:lnTo>
                  <a:pt x="19027631" y="1823557"/>
                </a:lnTo>
                <a:lnTo>
                  <a:pt x="19073977" y="1817271"/>
                </a:lnTo>
                <a:lnTo>
                  <a:pt x="19119754" y="1809265"/>
                </a:lnTo>
                <a:lnTo>
                  <a:pt x="19164929" y="1799572"/>
                </a:lnTo>
                <a:lnTo>
                  <a:pt x="19209466" y="1788227"/>
                </a:lnTo>
                <a:lnTo>
                  <a:pt x="19253334" y="1775263"/>
                </a:lnTo>
                <a:lnTo>
                  <a:pt x="19296497" y="1760714"/>
                </a:lnTo>
                <a:lnTo>
                  <a:pt x="19338921" y="1744614"/>
                </a:lnTo>
                <a:lnTo>
                  <a:pt x="19380574" y="1726998"/>
                </a:lnTo>
                <a:lnTo>
                  <a:pt x="19421421" y="1707898"/>
                </a:lnTo>
                <a:lnTo>
                  <a:pt x="19461427" y="1687348"/>
                </a:lnTo>
                <a:lnTo>
                  <a:pt x="19500561" y="1665384"/>
                </a:lnTo>
                <a:lnTo>
                  <a:pt x="19538786" y="1642037"/>
                </a:lnTo>
                <a:lnTo>
                  <a:pt x="19576071" y="1617343"/>
                </a:lnTo>
                <a:lnTo>
                  <a:pt x="19612380" y="1591335"/>
                </a:lnTo>
                <a:lnTo>
                  <a:pt x="19647680" y="1564047"/>
                </a:lnTo>
                <a:lnTo>
                  <a:pt x="19681937" y="1535513"/>
                </a:lnTo>
                <a:lnTo>
                  <a:pt x="19715117" y="1505767"/>
                </a:lnTo>
                <a:lnTo>
                  <a:pt x="19747186" y="1474842"/>
                </a:lnTo>
                <a:lnTo>
                  <a:pt x="19778111" y="1442773"/>
                </a:lnTo>
                <a:lnTo>
                  <a:pt x="19807857" y="1409592"/>
                </a:lnTo>
                <a:lnTo>
                  <a:pt x="19836392" y="1375336"/>
                </a:lnTo>
                <a:lnTo>
                  <a:pt x="19863680" y="1340036"/>
                </a:lnTo>
                <a:lnTo>
                  <a:pt x="19889688" y="1303727"/>
                </a:lnTo>
                <a:lnTo>
                  <a:pt x="19914382" y="1266442"/>
                </a:lnTo>
                <a:lnTo>
                  <a:pt x="19937728" y="1228217"/>
                </a:lnTo>
                <a:lnTo>
                  <a:pt x="19959693" y="1189083"/>
                </a:lnTo>
                <a:lnTo>
                  <a:pt x="19980242" y="1149076"/>
                </a:lnTo>
                <a:lnTo>
                  <a:pt x="19999342" y="1108230"/>
                </a:lnTo>
                <a:lnTo>
                  <a:pt x="20016958" y="1066577"/>
                </a:lnTo>
                <a:lnTo>
                  <a:pt x="20033058" y="1024152"/>
                </a:lnTo>
                <a:lnTo>
                  <a:pt x="20047607" y="980990"/>
                </a:lnTo>
                <a:lnTo>
                  <a:pt x="20060571" y="937122"/>
                </a:lnTo>
                <a:lnTo>
                  <a:pt x="20071916" y="892585"/>
                </a:lnTo>
                <a:lnTo>
                  <a:pt x="20081609" y="847410"/>
                </a:lnTo>
                <a:lnTo>
                  <a:pt x="20089615" y="801633"/>
                </a:lnTo>
                <a:lnTo>
                  <a:pt x="20095901" y="755287"/>
                </a:lnTo>
                <a:lnTo>
                  <a:pt x="20100433" y="708406"/>
                </a:lnTo>
                <a:lnTo>
                  <a:pt x="20103177" y="661024"/>
                </a:lnTo>
                <a:lnTo>
                  <a:pt x="20104099" y="613175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A436CE-D75D-AEE7-F474-1353DD2234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5B2940-E47F-E285-A95F-0F8473646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7"/>
            <a:ext cx="20347521" cy="114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38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513013" y="3573549"/>
            <a:ext cx="15078075" cy="2214639"/>
          </a:xfrm>
        </p:spPr>
        <p:txBody>
          <a:bodyPr anchor="b">
            <a:noAutofit/>
          </a:bodyPr>
          <a:lstStyle>
            <a:lvl1pPr algn="ctr">
              <a:defRPr sz="8245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2513013" y="5940028"/>
            <a:ext cx="15078075" cy="2446449"/>
          </a:xfrm>
        </p:spPr>
        <p:txBody>
          <a:bodyPr>
            <a:normAutofit/>
          </a:bodyPr>
          <a:lstStyle>
            <a:lvl1pPr marL="0" indent="0" algn="ctr">
              <a:buNone/>
              <a:defRPr sz="4123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8268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371686" y="1869698"/>
            <a:ext cx="17339786" cy="2227894"/>
          </a:xfrm>
        </p:spPr>
        <p:txBody>
          <a:bodyPr anchor="b">
            <a:normAutofit/>
          </a:bodyPr>
          <a:lstStyle>
            <a:lvl1pPr>
              <a:defRPr sz="6596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1371686" y="4327057"/>
            <a:ext cx="17339786" cy="5621893"/>
          </a:xfrm>
        </p:spPr>
        <p:txBody>
          <a:bodyPr/>
          <a:lstStyle>
            <a:lvl1pPr marL="0" indent="0">
              <a:buNone/>
              <a:defRPr sz="3958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7692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70" r:id="rId10"/>
    <p:sldLayoutId id="2147483671" r:id="rId11"/>
    <p:sldLayoutId id="2147483672" r:id="rId1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E56C6D1-0E3F-0C43-BB0F-988973017F01}"/>
              </a:ext>
            </a:extLst>
          </p:cNvPr>
          <p:cNvSpPr txBox="1"/>
          <p:nvPr/>
        </p:nvSpPr>
        <p:spPr>
          <a:xfrm>
            <a:off x="4645256" y="1628225"/>
            <a:ext cx="10139051" cy="6486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936" b="1" dirty="0">
                <a:solidFill>
                  <a:srgbClr val="C00000"/>
                </a:solidFill>
                <a:latin typeface="Sitka Text" panose="02000505000000020004" pitchFamily="2" charset="0"/>
                <a:ea typeface="Roboto" panose="02000000000000000000" pitchFamily="2" charset="0"/>
              </a:rPr>
              <a:t>Fundamentos en Matemáticas y Matemáticas fundamentales</a:t>
            </a:r>
          </a:p>
          <a:p>
            <a:pPr algn="ctr"/>
            <a:endParaRPr lang="es-CO" sz="5936" b="1" dirty="0">
              <a:solidFill>
                <a:srgbClr val="C00000"/>
              </a:solidFill>
              <a:latin typeface="Sitka Text" panose="02000505000000020004" pitchFamily="2" charset="0"/>
              <a:ea typeface="Roboto" panose="02000000000000000000" pitchFamily="2" charset="0"/>
            </a:endParaRPr>
          </a:p>
          <a:p>
            <a:pPr algn="ctr"/>
            <a:endParaRPr lang="es-CO" sz="5936" b="1" dirty="0">
              <a:solidFill>
                <a:srgbClr val="C00000"/>
              </a:solidFill>
              <a:latin typeface="Sitka Text" panose="02000505000000020004" pitchFamily="2" charset="0"/>
              <a:ea typeface="Roboto" panose="02000000000000000000" pitchFamily="2" charset="0"/>
            </a:endParaRPr>
          </a:p>
          <a:p>
            <a:pPr algn="ctr"/>
            <a:r>
              <a:rPr lang="es-CO" sz="5936" b="1" dirty="0">
                <a:solidFill>
                  <a:srgbClr val="C00000"/>
                </a:solidFill>
                <a:latin typeface="Sitka Text" panose="02000505000000020004" pitchFamily="2" charset="0"/>
                <a:ea typeface="Roboto" panose="02000000000000000000" pitchFamily="2" charset="0"/>
              </a:rPr>
              <a:t>Función exponencial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7311885-50AF-45CE-8131-2D5E08327ED6}"/>
              </a:ext>
            </a:extLst>
          </p:cNvPr>
          <p:cNvSpPr txBox="1"/>
          <p:nvPr/>
        </p:nvSpPr>
        <p:spPr>
          <a:xfrm>
            <a:off x="2192920" y="2952968"/>
            <a:ext cx="16175173" cy="10057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5936" dirty="0"/>
              <a:t>FUNCIONES EXPONENCIALES</a:t>
            </a:r>
          </a:p>
        </p:txBody>
      </p:sp>
      <p:pic>
        <p:nvPicPr>
          <p:cNvPr id="3" name="Picture 2" descr="Definición de Función Exponencial » Concepto en DefinicionAB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080" y="4721566"/>
            <a:ext cx="9544854" cy="5159934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033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554" y="3348076"/>
            <a:ext cx="13902041" cy="2670448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499" y="7074151"/>
            <a:ext cx="8671103" cy="1916439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2740150" y="6241831"/>
            <a:ext cx="3755021" cy="59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98" dirty="0">
                <a:latin typeface="Bodoni MT Black" panose="02070A03080606020203" pitchFamily="18" charset="0"/>
              </a:rPr>
              <a:t>Ejemplos: </a:t>
            </a:r>
            <a:endParaRPr lang="es-419" sz="3298" dirty="0">
              <a:latin typeface="Bodoni MT Black" panose="02070A03080606020203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7311885-50AF-45CE-8131-2D5E08327ED6}"/>
              </a:ext>
            </a:extLst>
          </p:cNvPr>
          <p:cNvSpPr txBox="1"/>
          <p:nvPr/>
        </p:nvSpPr>
        <p:spPr>
          <a:xfrm>
            <a:off x="2192920" y="2087841"/>
            <a:ext cx="16175173" cy="10057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5936" dirty="0"/>
              <a:t>DEFINICIÓN:</a:t>
            </a:r>
          </a:p>
        </p:txBody>
      </p:sp>
    </p:spTree>
    <p:extLst>
      <p:ext uri="{BB962C8B-B14F-4D97-AF65-F5344CB8AC3E}">
        <p14:creationId xmlns:p14="http://schemas.microsoft.com/office/powerpoint/2010/main" val="118031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133" y="4179196"/>
            <a:ext cx="15924226" cy="5527937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7717235" y="2796694"/>
            <a:ext cx="9444358" cy="1107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596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Recordar </a:t>
            </a:r>
            <a:endParaRPr lang="es-419" sz="6596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356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t="8875"/>
          <a:stretch/>
        </p:blipFill>
        <p:spPr>
          <a:xfrm>
            <a:off x="3865689" y="3265380"/>
            <a:ext cx="12640364" cy="7080543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7311885-50AF-45CE-8131-2D5E08327ED6}"/>
              </a:ext>
            </a:extLst>
          </p:cNvPr>
          <p:cNvSpPr txBox="1"/>
          <p:nvPr/>
        </p:nvSpPr>
        <p:spPr>
          <a:xfrm>
            <a:off x="523868" y="1909792"/>
            <a:ext cx="18862091" cy="10057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5936" dirty="0"/>
              <a:t>GRÁFICAS DE FUNCIONES EXPONENCIALES</a:t>
            </a:r>
          </a:p>
        </p:txBody>
      </p:sp>
    </p:spTree>
    <p:extLst>
      <p:ext uri="{BB962C8B-B14F-4D97-AF65-F5344CB8AC3E}">
        <p14:creationId xmlns:p14="http://schemas.microsoft.com/office/powerpoint/2010/main" val="2948656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6317239" y="2196618"/>
            <a:ext cx="8345380" cy="904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MX" sz="5277" dirty="0"/>
              <a:t>FUNCIÓN LOGARÍTMICA</a:t>
            </a:r>
            <a:endParaRPr lang="en-US" sz="5277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t="20539"/>
          <a:stretch/>
        </p:blipFill>
        <p:spPr>
          <a:xfrm>
            <a:off x="753905" y="4065655"/>
            <a:ext cx="10550581" cy="2133167"/>
          </a:xfrm>
          <a:prstGeom prst="rect">
            <a:avLst/>
          </a:prstGeom>
          <a:ln w="38100" cap="sq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uadroTexto 5"/>
          <p:cNvSpPr txBox="1"/>
          <p:nvPr/>
        </p:nvSpPr>
        <p:spPr>
          <a:xfrm>
            <a:off x="3668032" y="7103589"/>
            <a:ext cx="6011901" cy="2223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617" dirty="0">
                <a:latin typeface="Book Antiqua" panose="02040602050305030304" pitchFamily="18" charset="0"/>
              </a:rPr>
              <a:t>la función logarítmica es la inversa de la función exponencial.</a:t>
            </a:r>
            <a:endParaRPr lang="en-US" sz="4617" dirty="0">
              <a:latin typeface="Book Antiqua" panose="02040602050305030304" pitchFamily="18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8225" y="3160888"/>
            <a:ext cx="6660413" cy="7508672"/>
          </a:xfrm>
          <a:prstGeom prst="rect">
            <a:avLst/>
          </a:prstGeom>
          <a:ln w="38100" cap="sq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1165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29352" y="3800961"/>
            <a:ext cx="14247628" cy="5765027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7311885-50AF-45CE-8131-2D5E08327ED6}"/>
              </a:ext>
            </a:extLst>
          </p:cNvPr>
          <p:cNvSpPr txBox="1"/>
          <p:nvPr/>
        </p:nvSpPr>
        <p:spPr>
          <a:xfrm>
            <a:off x="517100" y="2575544"/>
            <a:ext cx="19587000" cy="904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5277" dirty="0"/>
              <a:t>PROPIEDADES DE UNA FUNCIONES EXPONENCIALES</a:t>
            </a:r>
          </a:p>
        </p:txBody>
      </p:sp>
    </p:spTree>
    <p:extLst>
      <p:ext uri="{BB962C8B-B14F-4D97-AF65-F5344CB8AC3E}">
        <p14:creationId xmlns:p14="http://schemas.microsoft.com/office/powerpoint/2010/main" val="58407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56" y="2772109"/>
            <a:ext cx="9048108" cy="6519036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ángulo 2"/>
              <p:cNvSpPr/>
              <p:nvPr/>
            </p:nvSpPr>
            <p:spPr>
              <a:xfrm>
                <a:off x="10593314" y="3717593"/>
                <a:ext cx="8616734" cy="2031325"/>
              </a:xfrm>
              <a:prstGeom prst="rect">
                <a:avLst/>
              </a:prstGeom>
              <a:ln w="1905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/>
                <a:r>
                  <a:rPr lang="es-CO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La Figura muestra las gráficas de la familia de funciones exponenciales  </a:t>
                </a:r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s-CO" sz="1319" i="1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s-CO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para varios valores de la base </a:t>
                </a:r>
                <a:r>
                  <a:rPr lang="es-CO" i="1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lang="es-CO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Todas estas gráficas pasan por el punto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b="0" i="1" dirty="0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dirty="0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s-CO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porque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s-ES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s-ES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CO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para todo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≠0.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Se puede ver que hay dos clases de funciones exponenciales: </a:t>
                </a:r>
                <a:endParaRPr lang="es-CO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/>
                <a:r>
                  <a:rPr lang="es-CO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CO" i="1" dirty="0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0 &lt; </m:t>
                    </m:r>
                    <m:r>
                      <a:rPr lang="es-CO" i="1" dirty="0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i="1" dirty="0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 &lt; 1</m:t>
                    </m:r>
                  </m:oMath>
                </a14:m>
                <a:r>
                  <a:rPr lang="es-CO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la función exponencial decrece rápidamente; si </a:t>
                </a:r>
                <a14:m>
                  <m:oMath xmlns:m="http://schemas.openxmlformats.org/officeDocument/2006/math">
                    <m:r>
                      <a:rPr lang="es-CO" i="1" dirty="0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i="1" dirty="0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 &gt; 1</m:t>
                    </m:r>
                  </m:oMath>
                </a14:m>
                <a:r>
                  <a:rPr lang="es-CO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la función aumenta </a:t>
                </a:r>
                <a:endParaRPr lang="es-CO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/>
                <a:r>
                  <a:rPr lang="es-CO" dirty="0">
                    <a:solidFill>
                      <a:srgbClr val="231F2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rápidamente</a:t>
                </a:r>
                <a:endParaRPr lang="es-419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3314" y="3717593"/>
                <a:ext cx="8616734" cy="2031325"/>
              </a:xfrm>
              <a:prstGeom prst="rect">
                <a:avLst/>
              </a:prstGeom>
              <a:blipFill>
                <a:blip r:embed="rId3"/>
                <a:stretch>
                  <a:fillRect l="-565" t="-1488" r="-424" b="-3274"/>
                </a:stretch>
              </a:blipFill>
              <a:ln w="19050"/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8207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7311885-50AF-45CE-8131-2D5E08327ED6}"/>
                  </a:ext>
                </a:extLst>
              </p:cNvPr>
              <p:cNvSpPr txBox="1"/>
              <p:nvPr/>
            </p:nvSpPr>
            <p:spPr>
              <a:xfrm>
                <a:off x="407882" y="2248856"/>
                <a:ext cx="18862091" cy="9044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ctr">
                  <a:defRPr sz="4000" b="1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</a:defRPr>
                </a:lvl1pPr>
              </a:lstStyle>
              <a:p>
                <a:r>
                  <a:rPr lang="es-CO" sz="5277" dirty="0"/>
                  <a:t>GRAFICAR FUNCIONES EXPONENCIALES, PARA </a:t>
                </a:r>
                <a14:m>
                  <m:oMath xmlns:m="http://schemas.openxmlformats.org/officeDocument/2006/math">
                    <m:r>
                      <a:rPr lang="es-CO" sz="5277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sz="5277" dirty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s-CO" sz="5277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7311885-50AF-45CE-8131-2D5E08327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82" y="2248856"/>
                <a:ext cx="18862091" cy="9044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909" y="5685218"/>
            <a:ext cx="6676121" cy="155514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2309" y="3593198"/>
            <a:ext cx="6016363" cy="66604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/>
              <p:cNvSpPr txBox="1"/>
              <p:nvPr/>
            </p:nvSpPr>
            <p:spPr>
              <a:xfrm>
                <a:off x="3843943" y="4067271"/>
                <a:ext cx="4508925" cy="802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617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" sz="461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4617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4617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4617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4617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s-ES" sz="4617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s-419" sz="4617" dirty="0"/>
              </a:p>
            </p:txBody>
          </p:sp>
        </mc:Choice>
        <mc:Fallback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943" y="4067271"/>
                <a:ext cx="4508925" cy="8028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591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7311885-50AF-45CE-8131-2D5E08327ED6}"/>
                  </a:ext>
                </a:extLst>
              </p:cNvPr>
              <p:cNvSpPr txBox="1"/>
              <p:nvPr/>
            </p:nvSpPr>
            <p:spPr>
              <a:xfrm>
                <a:off x="623420" y="2240234"/>
                <a:ext cx="18862091" cy="8028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s-CO"/>
                </a:defPPr>
                <a:lvl1pPr algn="ctr">
                  <a:defRPr sz="4000" b="1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</a:defRPr>
                </a:lvl1pPr>
              </a:lstStyle>
              <a:p>
                <a:r>
                  <a:rPr lang="es-CO" sz="4617" dirty="0"/>
                  <a:t>GRAFICAR FUNCIONES EXPONENCIALES, PARA </a:t>
                </a:r>
                <a14:m>
                  <m:oMath xmlns:m="http://schemas.openxmlformats.org/officeDocument/2006/math">
                    <m:r>
                      <a:rPr lang="es-ES" sz="4617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sz="4617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CO" sz="4617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4617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CO" sz="4617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CO" sz="4617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7311885-50AF-45CE-8131-2D5E08327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20" y="2240234"/>
                <a:ext cx="18862091" cy="8028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/>
              <p:cNvSpPr txBox="1"/>
              <p:nvPr/>
            </p:nvSpPr>
            <p:spPr>
              <a:xfrm>
                <a:off x="3668032" y="4058648"/>
                <a:ext cx="4508925" cy="1771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617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" sz="461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4617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4617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4617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461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4617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4617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ES" sz="4617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sz="4617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s-419" sz="4617" dirty="0"/>
              </a:p>
            </p:txBody>
          </p:sp>
        </mc:Choice>
        <mc:Fallback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032" y="4058648"/>
                <a:ext cx="4508925" cy="17713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431" y="6436831"/>
            <a:ext cx="6456201" cy="168081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0799" y="3750727"/>
            <a:ext cx="6330534" cy="629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67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/>
              <p:cNvSpPr txBox="1"/>
              <p:nvPr/>
            </p:nvSpPr>
            <p:spPr>
              <a:xfrm>
                <a:off x="3668032" y="3103001"/>
                <a:ext cx="4508925" cy="1771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4617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" sz="461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4617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4617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4617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461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4617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4617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ES" sz="4617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sz="4617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s-419" sz="4617" dirty="0"/>
              </a:p>
            </p:txBody>
          </p:sp>
        </mc:Choice>
        <mc:Fallback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032" y="3103001"/>
                <a:ext cx="4508925" cy="17713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431" y="5481184"/>
            <a:ext cx="6456201" cy="168081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799" y="2795080"/>
            <a:ext cx="6330534" cy="629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69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7311885-50AF-45CE-8131-2D5E08327ED6}"/>
              </a:ext>
            </a:extLst>
          </p:cNvPr>
          <p:cNvSpPr txBox="1"/>
          <p:nvPr/>
        </p:nvSpPr>
        <p:spPr>
          <a:xfrm>
            <a:off x="477473" y="1766585"/>
            <a:ext cx="18862091" cy="9044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5277" dirty="0"/>
              <a:t>TRANSFORMACIÓN DE FUNCIONES EXPONENCIALES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710" y="2730855"/>
            <a:ext cx="9707866" cy="1115304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1521339" y="2486407"/>
            <a:ext cx="3755021" cy="80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617" dirty="0">
                <a:latin typeface="Bodoni MT Black" panose="02070A03080606020203" pitchFamily="18" charset="0"/>
              </a:rPr>
              <a:t>Ejemplo: </a:t>
            </a:r>
            <a:endParaRPr lang="es-419" sz="4617" dirty="0">
              <a:latin typeface="Bodoni MT Black" panose="02070A03080606020203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414" y="3967496"/>
            <a:ext cx="14420421" cy="6848915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387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7311885-50AF-45CE-8131-2D5E08327ED6}"/>
              </a:ext>
            </a:extLst>
          </p:cNvPr>
          <p:cNvSpPr txBox="1"/>
          <p:nvPr/>
        </p:nvSpPr>
        <p:spPr>
          <a:xfrm>
            <a:off x="726839" y="2242087"/>
            <a:ext cx="19587000" cy="10057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5936" dirty="0"/>
              <a:t>LA FUNCIÓN EXPONENCIAL NATURAL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537" y="3757353"/>
            <a:ext cx="12274358" cy="6319348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/>
              <p:cNvSpPr txBox="1"/>
              <p:nvPr/>
            </p:nvSpPr>
            <p:spPr>
              <a:xfrm>
                <a:off x="1052265" y="5010887"/>
                <a:ext cx="6271231" cy="1477328"/>
              </a:xfrm>
              <a:prstGeom prst="rect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CO" dirty="0"/>
                  <a:t>Es la función exponencial </a:t>
                </a:r>
              </a:p>
              <a:p>
                <a:endParaRPr lang="es-CO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s-CO" dirty="0"/>
              </a:p>
              <a:p>
                <a:endParaRPr lang="es-CO" dirty="0"/>
              </a:p>
              <a:p>
                <a:r>
                  <a:rPr lang="es-CO" dirty="0"/>
                  <a:t>Con base </a:t>
                </a:r>
                <a:r>
                  <a:rPr lang="es-CO" i="1" dirty="0"/>
                  <a:t>e</a:t>
                </a:r>
                <a:r>
                  <a:rPr lang="es-CO" dirty="0"/>
                  <a:t>. Es frecuente llamarla </a:t>
                </a:r>
                <a:r>
                  <a:rPr lang="es-CO" i="1" dirty="0"/>
                  <a:t>la</a:t>
                </a:r>
                <a:r>
                  <a:rPr lang="es-CO" dirty="0"/>
                  <a:t> función exponencial</a:t>
                </a:r>
                <a:endParaRPr lang="es-419" dirty="0"/>
              </a:p>
            </p:txBody>
          </p:sp>
        </mc:Choice>
        <mc:Fallback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265" y="5010887"/>
                <a:ext cx="6271231" cy="1477328"/>
              </a:xfrm>
              <a:prstGeom prst="rect">
                <a:avLst/>
              </a:prstGeom>
              <a:blipFill>
                <a:blip r:embed="rId3"/>
                <a:stretch>
                  <a:fillRect l="-776" t="-2041" b="-4898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2939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015243" y="2893175"/>
            <a:ext cx="3755021" cy="80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617" dirty="0">
                <a:latin typeface="Bodoni MT Black" panose="02070A03080606020203" pitchFamily="18" charset="0"/>
              </a:rPr>
              <a:t>Ejemplo: </a:t>
            </a:r>
            <a:endParaRPr lang="es-419" sz="4617" dirty="0">
              <a:latin typeface="Bodoni MT Black" panose="02070A03080606020203" pitchFamily="18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2015243" y="4742233"/>
            <a:ext cx="10052050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71202" indent="-471202" algn="just">
              <a:buFont typeface="Wingdings" panose="05000000000000000000" pitchFamily="2" charset="2"/>
              <a:buChar char="q"/>
            </a:pPr>
            <a:r>
              <a:rPr lang="es-CO" dirty="0">
                <a:solidFill>
                  <a:srgbClr val="231F2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Complete la tabla de valores, redondeados a dos lugares decimales, y </a:t>
            </a:r>
            <a:r>
              <a:rPr lang="es-C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trace la gráfica de la función </a:t>
            </a:r>
            <a:r>
              <a:rPr lang="es-C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lang="es-C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algn="just"/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71202" indent="-471202" algn="just">
              <a:buFont typeface="Wingdings" panose="05000000000000000000" pitchFamily="2" charset="2"/>
              <a:buChar char="q"/>
            </a:pPr>
            <a:r>
              <a:rPr lang="es-C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Determine la intersección con el eje </a:t>
            </a:r>
            <a:r>
              <a:rPr lang="es-C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s-C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CO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s-C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asíntota horizontal de la gráfica. </a:t>
            </a:r>
          </a:p>
          <a:p>
            <a:pPr algn="just"/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71202" indent="-471202" algn="just">
              <a:buFont typeface="Wingdings" panose="05000000000000000000" pitchFamily="2" charset="2"/>
              <a:buChar char="q"/>
            </a:pPr>
            <a:r>
              <a:rPr lang="es-C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Indique si la función es creciente o decreciente.</a:t>
            </a:r>
            <a:endParaRPr lang="es-419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2801" y="3683265"/>
            <a:ext cx="5514384" cy="61561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7363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7311885-50AF-45CE-8131-2D5E08327ED6}"/>
              </a:ext>
            </a:extLst>
          </p:cNvPr>
          <p:cNvSpPr txBox="1"/>
          <p:nvPr/>
        </p:nvSpPr>
        <p:spPr>
          <a:xfrm>
            <a:off x="458142" y="2063619"/>
            <a:ext cx="18862091" cy="10057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ES" sz="5936" dirty="0"/>
              <a:t>INTERÉS COMPUESTO </a:t>
            </a:r>
            <a:endParaRPr lang="es-CO" sz="5936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319" y="3570563"/>
            <a:ext cx="14942717" cy="6792143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1465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032" y="2705464"/>
            <a:ext cx="13352242" cy="1570852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1839332" y="1842696"/>
            <a:ext cx="3755021" cy="80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617" dirty="0">
                <a:latin typeface="Bodoni MT Black" panose="02070A03080606020203" pitchFamily="18" charset="0"/>
              </a:rPr>
              <a:t>Ejemplo: </a:t>
            </a:r>
            <a:endParaRPr lang="es-419" sz="4617" dirty="0">
              <a:latin typeface="Bodoni MT Black" panose="02070A03080606020203" pitchFamily="18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059" y="4329713"/>
            <a:ext cx="11277144" cy="6141174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3913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7311885-50AF-45CE-8131-2D5E08327ED6}"/>
              </a:ext>
            </a:extLst>
          </p:cNvPr>
          <p:cNvSpPr txBox="1"/>
          <p:nvPr/>
        </p:nvSpPr>
        <p:spPr>
          <a:xfrm>
            <a:off x="405949" y="1994996"/>
            <a:ext cx="18862091" cy="10057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ES" sz="5936" dirty="0"/>
              <a:t>MODELOS DE CRECIMIENTOS LOGÍSTICOS </a:t>
            </a:r>
            <a:endParaRPr lang="es-CO" sz="5936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916" y="3294227"/>
            <a:ext cx="15812157" cy="4578666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302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462" y="2669319"/>
            <a:ext cx="13346479" cy="647941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7311885-50AF-45CE-8131-2D5E08327ED6}"/>
              </a:ext>
            </a:extLst>
          </p:cNvPr>
          <p:cNvSpPr txBox="1"/>
          <p:nvPr/>
        </p:nvSpPr>
        <p:spPr>
          <a:xfrm>
            <a:off x="362827" y="1603545"/>
            <a:ext cx="18862091" cy="11073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ES" sz="6596" dirty="0"/>
              <a:t>PARA LA DISCUSIÓN </a:t>
            </a:r>
            <a:endParaRPr lang="es-CO" sz="6596" dirty="0"/>
          </a:p>
        </p:txBody>
      </p:sp>
    </p:spTree>
    <p:extLst>
      <p:ext uri="{BB962C8B-B14F-4D97-AF65-F5344CB8AC3E}">
        <p14:creationId xmlns:p14="http://schemas.microsoft.com/office/powerpoint/2010/main" val="3975960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808648-60b0-4918-966f-b210d93cfb0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CDE58CE99D8342A8E0214B3B5575A9" ma:contentTypeVersion="11" ma:contentTypeDescription="Crear nuevo documento." ma:contentTypeScope="" ma:versionID="291568386eb012268d74aa0d43a45c1a">
  <xsd:schema xmlns:xsd="http://www.w3.org/2001/XMLSchema" xmlns:xs="http://www.w3.org/2001/XMLSchema" xmlns:p="http://schemas.microsoft.com/office/2006/metadata/properties" xmlns:ns3="8a808648-60b0-4918-966f-b210d93cfb0d" targetNamespace="http://schemas.microsoft.com/office/2006/metadata/properties" ma:root="true" ma:fieldsID="a2bfbbfb6545a576a46cf13cea747d5c" ns3:_="">
    <xsd:import namespace="8a808648-60b0-4918-966f-b210d93cfb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08648-60b0-4918-966f-b210d93c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8C8323-79AA-45A3-8FB6-9E2E0E00D0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327D51-DC68-401A-A781-7AE13751AD86}">
  <ds:schemaRefs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8a808648-60b0-4918-966f-b210d93cfb0d"/>
  </ds:schemaRefs>
</ds:datastoreItem>
</file>

<file path=customXml/itemProps3.xml><?xml version="1.0" encoding="utf-8"?>
<ds:datastoreItem xmlns:ds="http://schemas.openxmlformats.org/officeDocument/2006/customXml" ds:itemID="{0B3644BD-7B65-43D5-AA9A-9EE54A54B5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808648-60b0-4918-966f-b210d93cfb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3279</TotalTime>
  <Words>227</Words>
  <Application>Microsoft Office PowerPoint</Application>
  <PresentationFormat>Personalizado</PresentationFormat>
  <Paragraphs>38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Arial</vt:lpstr>
      <vt:lpstr>Arial Rounded MT Bold</vt:lpstr>
      <vt:lpstr>Bodoni MT Black</vt:lpstr>
      <vt:lpstr>Book Antiqua</vt:lpstr>
      <vt:lpstr>Cambria Math</vt:lpstr>
      <vt:lpstr>Sitka Text</vt:lpstr>
      <vt:lpstr>Tahoma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OTROS recursos pptx</dc:title>
  <dc:creator>Maira Alejandra Palacios Arce</dc:creator>
  <cp:lastModifiedBy>maira alejandra palacios arce</cp:lastModifiedBy>
  <cp:revision>192</cp:revision>
  <dcterms:created xsi:type="dcterms:W3CDTF">2024-11-07T16:52:39Z</dcterms:created>
  <dcterms:modified xsi:type="dcterms:W3CDTF">2025-10-25T20:44:30Z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2024-11-07T00:00:00Z</vt:filetime>
  </property>
  <property fmtid="{D5CDD505-2E9C-101B-9397-08002B2CF9AE}" pid="3" name="Creator">
    <vt:lpwstr>Adobe Illustrator 29.0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2024-11-07T00:00:00Z</vt:filetime>
  </property>
  <property fmtid="{D5CDD505-2E9C-101B-9397-08002B2CF9AE}" pid="6" name="Producer">
    <vt:lpwstr>Adobe PDF library 17.00</vt:lpwstr>
  </property>
  <property fmtid="{D5CDD505-2E9C-101B-9397-08002B2CF9AE}" pid="7" name="ContentTypeId">
    <vt:lpwstr>0x010100AFCDE58CE99D8342A8E0214B3B5575A9</vt:lpwstr>
  </property>
</Properties>
</file>